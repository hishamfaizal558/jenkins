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d1402abc6b4a32" /><Relationship Type="http://schemas.openxmlformats.org/officeDocument/2006/relationships/extended-properties" Target="/docProps/app.xml" Id="Re2757a2062704b44" /><Relationship Type="http://schemas.openxmlformats.org/officeDocument/2006/relationships/officeDocument" Target="/ppt/presentation.xml" Id="Rc623af07fbc845db" /></Relationships>
</file>

<file path=ppt/presentation.xml><?xml version="1.0" encoding="utf-8"?>
<p:presentation xmlns:p="http://schemas.openxmlformats.org/presentationml/2006/main">
  <p:sldMasterIdLst>
    <p:sldMasterId xmlns:r="http://schemas.openxmlformats.org/officeDocument/2006/relationships" id="2147483648" r:id="Rbfe4555915d849bf"/>
  </p:sldMasterIdLst>
  <p:notesMasterIdLst>
    <p:notesMasterId xmlns:r="http://schemas.openxmlformats.org/officeDocument/2006/relationships" r:id="R59033aca5b224cf3"/>
  </p:notesMasterIdLst>
  <p:sldIdLst>
    <p:sldId xmlns:r="http://schemas.openxmlformats.org/officeDocument/2006/relationships" id="256" r:id="R85454c29c26541de"/>
    <p:sldId xmlns:r="http://schemas.openxmlformats.org/officeDocument/2006/relationships" id="257" r:id="R39541d2a32f14cb6"/>
    <p:sldId xmlns:r="http://schemas.openxmlformats.org/officeDocument/2006/relationships" id="258" r:id="Rc287e8bab7224acb"/>
    <p:sldId xmlns:r="http://schemas.openxmlformats.org/officeDocument/2006/relationships" id="259" r:id="Rc7e92a4bb42e43ce"/>
    <p:sldId xmlns:r="http://schemas.openxmlformats.org/officeDocument/2006/relationships" id="260" r:id="Rcc08ea27eca44eae"/>
    <p:sldId xmlns:r="http://schemas.openxmlformats.org/officeDocument/2006/relationships" id="261" r:id="Re90b5bb7f5b34f7f"/>
    <p:sldId xmlns:r="http://schemas.openxmlformats.org/officeDocument/2006/relationships" id="262" r:id="Raa5cc742f3ac4c32"/>
    <p:sldId xmlns:r="http://schemas.openxmlformats.org/officeDocument/2006/relationships" id="263" r:id="R6cd3ae8526084c7b"/>
    <p:sldId xmlns:r="http://schemas.openxmlformats.org/officeDocument/2006/relationships" id="264" r:id="R2ef3655dab754448"/>
    <p:sldId xmlns:r="http://schemas.openxmlformats.org/officeDocument/2006/relationships" id="265" r:id="R75b3a062947f484a"/>
    <p:sldId xmlns:r="http://schemas.openxmlformats.org/officeDocument/2006/relationships" id="266" r:id="Rf17634d6000f4103"/>
    <p:sldId xmlns:r="http://schemas.openxmlformats.org/officeDocument/2006/relationships" id="267" r:id="R3c864bcd05ae491c"/>
    <p:sldId xmlns:r="http://schemas.openxmlformats.org/officeDocument/2006/relationships" id="268" r:id="R123c90d88ab64389"/>
    <p:sldId xmlns:r="http://schemas.openxmlformats.org/officeDocument/2006/relationships" id="269" r:id="R6a3f0e2e1f4a4ee6"/>
    <p:sldId xmlns:r="http://schemas.openxmlformats.org/officeDocument/2006/relationships" id="270" r:id="Rd681fcb067584ebc"/>
    <p:sldId xmlns:r="http://schemas.openxmlformats.org/officeDocument/2006/relationships" id="271" r:id="R486de9bb076a49ac"/>
    <p:sldId xmlns:r="http://schemas.openxmlformats.org/officeDocument/2006/relationships" id="272" r:id="Rac0151a141c7438a"/>
    <p:sldId xmlns:r="http://schemas.openxmlformats.org/officeDocument/2006/relationships" id="273" r:id="Rd75860a0b7384c3d"/>
    <p:sldId xmlns:r="http://schemas.openxmlformats.org/officeDocument/2006/relationships" id="274" r:id="R79c51acd624c4895"/>
    <p:sldId xmlns:r="http://schemas.openxmlformats.org/officeDocument/2006/relationships" id="275" r:id="R244cf24637fe4870"/>
    <p:sldId xmlns:r="http://schemas.openxmlformats.org/officeDocument/2006/relationships" id="276" r:id="R018c502facfc46d6"/>
    <p:sldId xmlns:r="http://schemas.openxmlformats.org/officeDocument/2006/relationships" id="277" r:id="R8b66b1606d904453"/>
    <p:sldId xmlns:r="http://schemas.openxmlformats.org/officeDocument/2006/relationships" id="278" r:id="R033f8a6169d742aa"/>
    <p:sldId xmlns:r="http://schemas.openxmlformats.org/officeDocument/2006/relationships" id="279" r:id="R2f95278533f74522"/>
    <p:sldId xmlns:r="http://schemas.openxmlformats.org/officeDocument/2006/relationships" id="280" r:id="R10eeab4c3ce24c92"/>
    <p:sldId xmlns:r="http://schemas.openxmlformats.org/officeDocument/2006/relationships" id="281" r:id="R408d3ebd2460475e"/>
    <p:sldId xmlns:r="http://schemas.openxmlformats.org/officeDocument/2006/relationships" id="282" r:id="R57bb32a8ab0a42ea"/>
    <p:sldId xmlns:r="http://schemas.openxmlformats.org/officeDocument/2006/relationships" id="283" r:id="R161fa535b2b14fc8"/>
    <p:sldId xmlns:r="http://schemas.openxmlformats.org/officeDocument/2006/relationships" id="284" r:id="Ra4bc61ab68ae4974"/>
    <p:sldId xmlns:r="http://schemas.openxmlformats.org/officeDocument/2006/relationships" id="285" r:id="R1f6198019dd24fbe"/>
    <p:sldId xmlns:r="http://schemas.openxmlformats.org/officeDocument/2006/relationships" id="286" r:id="R22613a54a76240c3"/>
    <p:sldId xmlns:r="http://schemas.openxmlformats.org/officeDocument/2006/relationships" id="287" r:id="R7eef22ca35974d39"/>
    <p:sldId xmlns:r="http://schemas.openxmlformats.org/officeDocument/2006/relationships" id="288" r:id="Rb6e9ae8816bc483f"/>
    <p:sldId xmlns:r="http://schemas.openxmlformats.org/officeDocument/2006/relationships" id="289" r:id="R218cabcc0eb44501"/>
    <p:sldId xmlns:r="http://schemas.openxmlformats.org/officeDocument/2006/relationships" id="290" r:id="Rf2d3521e4a164aca"/>
    <p:sldId xmlns:r="http://schemas.openxmlformats.org/officeDocument/2006/relationships" id="291" r:id="R7819b4a74c0a475f"/>
    <p:sldId xmlns:r="http://schemas.openxmlformats.org/officeDocument/2006/relationships" id="292" r:id="R8a181f4721824466"/>
    <p:sldId xmlns:r="http://schemas.openxmlformats.org/officeDocument/2006/relationships" id="293" r:id="R4ac42489ffe44219"/>
    <p:sldId xmlns:r="http://schemas.openxmlformats.org/officeDocument/2006/relationships" id="294" r:id="R1f1b7a5279ea4cdd"/>
    <p:sldId xmlns:r="http://schemas.openxmlformats.org/officeDocument/2006/relationships" id="295" r:id="R84662ad96c4540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7303efd742474f" /><Relationship Type="http://schemas.openxmlformats.org/officeDocument/2006/relationships/slideMaster" Target="/ppt/slideMasters/slideMaster1.xml" Id="Rbfe4555915d849bf" /><Relationship Type="http://schemas.openxmlformats.org/officeDocument/2006/relationships/notesMaster" Target="/ppt/notesMasters/notesMaster1.xml" Id="R59033aca5b224cf3" /><Relationship Type="http://schemas.openxmlformats.org/officeDocument/2006/relationships/presProps" Target="/ppt/presProps.xml" Id="R8d46adf6a8364c53" /><Relationship Type="http://schemas.openxmlformats.org/officeDocument/2006/relationships/tableStyles" Target="/ppt/tableStyles.xml" Id="Ra9c61202daf64cda" /><Relationship Type="http://schemas.openxmlformats.org/officeDocument/2006/relationships/slide" Target="/ppt/slides/slide1.xml" Id="R85454c29c26541de" /><Relationship Type="http://schemas.openxmlformats.org/officeDocument/2006/relationships/slide" Target="/ppt/slides/slide2.xml" Id="R39541d2a32f14cb6" /><Relationship Type="http://schemas.openxmlformats.org/officeDocument/2006/relationships/slide" Target="/ppt/slides/slide3.xml" Id="Rc287e8bab7224acb" /><Relationship Type="http://schemas.openxmlformats.org/officeDocument/2006/relationships/slide" Target="/ppt/slides/slide4.xml" Id="Rc7e92a4bb42e43ce" /><Relationship Type="http://schemas.openxmlformats.org/officeDocument/2006/relationships/slide" Target="/ppt/slides/slide5.xml" Id="Rcc08ea27eca44eae" /><Relationship Type="http://schemas.openxmlformats.org/officeDocument/2006/relationships/slide" Target="/ppt/slides/slide6.xml" Id="Re90b5bb7f5b34f7f" /><Relationship Type="http://schemas.openxmlformats.org/officeDocument/2006/relationships/slide" Target="/ppt/slides/slide7.xml" Id="Raa5cc742f3ac4c32" /><Relationship Type="http://schemas.openxmlformats.org/officeDocument/2006/relationships/slide" Target="/ppt/slides/slide8.xml" Id="R6cd3ae8526084c7b" /><Relationship Type="http://schemas.openxmlformats.org/officeDocument/2006/relationships/slide" Target="/ppt/slides/slide9.xml" Id="R2ef3655dab754448" /><Relationship Type="http://schemas.openxmlformats.org/officeDocument/2006/relationships/slide" Target="/ppt/slides/slide10.xml" Id="R75b3a062947f484a" /><Relationship Type="http://schemas.openxmlformats.org/officeDocument/2006/relationships/slide" Target="/ppt/slides/slide11.xml" Id="Rf17634d6000f4103" /><Relationship Type="http://schemas.openxmlformats.org/officeDocument/2006/relationships/slide" Target="/ppt/slides/slide12.xml" Id="R3c864bcd05ae491c" /><Relationship Type="http://schemas.openxmlformats.org/officeDocument/2006/relationships/slide" Target="/ppt/slides/slide13.xml" Id="R123c90d88ab64389" /><Relationship Type="http://schemas.openxmlformats.org/officeDocument/2006/relationships/slide" Target="/ppt/slides/slide14.xml" Id="R6a3f0e2e1f4a4ee6" /><Relationship Type="http://schemas.openxmlformats.org/officeDocument/2006/relationships/slide" Target="/ppt/slides/slide15.xml" Id="Rd681fcb067584ebc" /><Relationship Type="http://schemas.openxmlformats.org/officeDocument/2006/relationships/slide" Target="/ppt/slides/slide16.xml" Id="R486de9bb076a49ac" /><Relationship Type="http://schemas.openxmlformats.org/officeDocument/2006/relationships/slide" Target="/ppt/slides/slide17.xml" Id="Rac0151a141c7438a" /><Relationship Type="http://schemas.openxmlformats.org/officeDocument/2006/relationships/slide" Target="/ppt/slides/slide18.xml" Id="Rd75860a0b7384c3d" /><Relationship Type="http://schemas.openxmlformats.org/officeDocument/2006/relationships/slide" Target="/ppt/slides/slide19.xml" Id="R79c51acd624c4895" /><Relationship Type="http://schemas.openxmlformats.org/officeDocument/2006/relationships/slide" Target="/ppt/slides/slide20.xml" Id="R244cf24637fe4870" /><Relationship Type="http://schemas.openxmlformats.org/officeDocument/2006/relationships/slide" Target="/ppt/slides/slide21.xml" Id="R018c502facfc46d6" /><Relationship Type="http://schemas.openxmlformats.org/officeDocument/2006/relationships/slide" Target="/ppt/slides/slide22.xml" Id="R8b66b1606d904453" /><Relationship Type="http://schemas.openxmlformats.org/officeDocument/2006/relationships/slide" Target="/ppt/slides/slide23.xml" Id="R033f8a6169d742aa" /><Relationship Type="http://schemas.openxmlformats.org/officeDocument/2006/relationships/slide" Target="/ppt/slides/slide24.xml" Id="R2f95278533f74522" /><Relationship Type="http://schemas.openxmlformats.org/officeDocument/2006/relationships/slide" Target="/ppt/slides/slide25.xml" Id="R10eeab4c3ce24c92" /><Relationship Type="http://schemas.openxmlformats.org/officeDocument/2006/relationships/slide" Target="/ppt/slides/slide26.xml" Id="R408d3ebd2460475e" /><Relationship Type="http://schemas.openxmlformats.org/officeDocument/2006/relationships/slide" Target="/ppt/slides/slide27.xml" Id="R57bb32a8ab0a42ea" /><Relationship Type="http://schemas.openxmlformats.org/officeDocument/2006/relationships/slide" Target="/ppt/slides/slide28.xml" Id="R161fa535b2b14fc8" /><Relationship Type="http://schemas.openxmlformats.org/officeDocument/2006/relationships/slide" Target="/ppt/slides/slide29.xml" Id="Ra4bc61ab68ae4974" /><Relationship Type="http://schemas.openxmlformats.org/officeDocument/2006/relationships/slide" Target="/ppt/slides/slide30.xml" Id="R1f6198019dd24fbe" /><Relationship Type="http://schemas.openxmlformats.org/officeDocument/2006/relationships/slide" Target="/ppt/slides/slide31.xml" Id="R22613a54a76240c3" /><Relationship Type="http://schemas.openxmlformats.org/officeDocument/2006/relationships/slide" Target="/ppt/slides/slide32.xml" Id="R7eef22ca35974d39" /><Relationship Type="http://schemas.openxmlformats.org/officeDocument/2006/relationships/slide" Target="/ppt/slides/slide33.xml" Id="Rb6e9ae8816bc483f" /><Relationship Type="http://schemas.openxmlformats.org/officeDocument/2006/relationships/slide" Target="/ppt/slides/slide34.xml" Id="R218cabcc0eb44501" /><Relationship Type="http://schemas.openxmlformats.org/officeDocument/2006/relationships/slide" Target="/ppt/slides/slide35.xml" Id="Rf2d3521e4a164aca" /><Relationship Type="http://schemas.openxmlformats.org/officeDocument/2006/relationships/slide" Target="/ppt/slides/slide36.xml" Id="R7819b4a74c0a475f" /><Relationship Type="http://schemas.openxmlformats.org/officeDocument/2006/relationships/slide" Target="/ppt/slides/slide37.xml" Id="R8a181f4721824466" /><Relationship Type="http://schemas.openxmlformats.org/officeDocument/2006/relationships/slide" Target="/ppt/slides/slide38.xml" Id="R4ac42489ffe44219" /><Relationship Type="http://schemas.openxmlformats.org/officeDocument/2006/relationships/slide" Target="/ppt/slides/slide39.xml" Id="R1f1b7a5279ea4cdd" /><Relationship Type="http://schemas.openxmlformats.org/officeDocument/2006/relationships/slide" Target="/ppt/slides/slide40.xml" Id="R84662ad96c4540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c28069768640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089be523b341a8" /><Relationship Type="http://schemas.openxmlformats.org/officeDocument/2006/relationships/notesMaster" Target="/ppt/notesMasters/notesMaster1.xml" Id="Rcd204a2222f74e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dbe6429e4e4b6a" /><Relationship Type="http://schemas.openxmlformats.org/officeDocument/2006/relationships/notesMaster" Target="/ppt/notesMasters/notesMaster1.xml" Id="Rd5627bdc342147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88eb77bb804705" /><Relationship Type="http://schemas.openxmlformats.org/officeDocument/2006/relationships/notesMaster" Target="/ppt/notesMasters/notesMaster1.xml" Id="R19e81bb3fcf442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56a5c018f64f95" /><Relationship Type="http://schemas.openxmlformats.org/officeDocument/2006/relationships/notesMaster" Target="/ppt/notesMasters/notesMaster1.xml" Id="R14e89210059446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7327b286eb43ad" /><Relationship Type="http://schemas.openxmlformats.org/officeDocument/2006/relationships/notesMaster" Target="/ppt/notesMasters/notesMaster1.xml" Id="Re53c9a6c840645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d230f2aeb24093" /><Relationship Type="http://schemas.openxmlformats.org/officeDocument/2006/relationships/notesMaster" Target="/ppt/notesMasters/notesMaster1.xml" Id="R66a660c9c37947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d168ae23054dc7" /><Relationship Type="http://schemas.openxmlformats.org/officeDocument/2006/relationships/notesMaster" Target="/ppt/notesMasters/notesMaster1.xml" Id="R78499016c30943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f957e0e2204f20" /><Relationship Type="http://schemas.openxmlformats.org/officeDocument/2006/relationships/notesMaster" Target="/ppt/notesMasters/notesMaster1.xml" Id="R3ce59f2a13b140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6c0bb8cca44e79" /><Relationship Type="http://schemas.openxmlformats.org/officeDocument/2006/relationships/notesMaster" Target="/ppt/notesMasters/notesMaster1.xml" Id="R51317996394b41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284ad999de4139" /><Relationship Type="http://schemas.openxmlformats.org/officeDocument/2006/relationships/notesMaster" Target="/ppt/notesMasters/notesMaster1.xml" Id="R30650d62e96143b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d6cdc617754795" /><Relationship Type="http://schemas.openxmlformats.org/officeDocument/2006/relationships/notesMaster" Target="/ppt/notesMasters/notesMaster1.xml" Id="R158a4d9cadf04d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fe728710c745b3" /><Relationship Type="http://schemas.openxmlformats.org/officeDocument/2006/relationships/notesMaster" Target="/ppt/notesMasters/notesMaster1.xml" Id="R6a030bed3d6848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0331195e2c4798" /><Relationship Type="http://schemas.openxmlformats.org/officeDocument/2006/relationships/notesMaster" Target="/ppt/notesMasters/notesMaster1.xml" Id="Rf066a40c251549f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1a1eb999f54009" /><Relationship Type="http://schemas.openxmlformats.org/officeDocument/2006/relationships/notesMaster" Target="/ppt/notesMasters/notesMaster1.xml" Id="Rb35ef1c3ae8440e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779971f9afb4044" /><Relationship Type="http://schemas.openxmlformats.org/officeDocument/2006/relationships/notesMaster" Target="/ppt/notesMasters/notesMaster1.xml" Id="Rd7c6ec483a394f7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b6038a140dd44b8" /><Relationship Type="http://schemas.openxmlformats.org/officeDocument/2006/relationships/notesMaster" Target="/ppt/notesMasters/notesMaster1.xml" Id="R60179af093bd42e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b2bb0a4e09b4e5f" /><Relationship Type="http://schemas.openxmlformats.org/officeDocument/2006/relationships/notesMaster" Target="/ppt/notesMasters/notesMaster1.xml" Id="R2b25302c89cc4da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aed7391ae91440d" /><Relationship Type="http://schemas.openxmlformats.org/officeDocument/2006/relationships/notesMaster" Target="/ppt/notesMasters/notesMaster1.xml" Id="R371bd7722b1843f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87c87a8214146f3" /><Relationship Type="http://schemas.openxmlformats.org/officeDocument/2006/relationships/notesMaster" Target="/ppt/notesMasters/notesMaster1.xml" Id="R178225ce39894e6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6b839891d9c4d1d" /><Relationship Type="http://schemas.openxmlformats.org/officeDocument/2006/relationships/notesMaster" Target="/ppt/notesMasters/notesMaster1.xml" Id="Rb033c27033fc456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bdb0903606e4239" /><Relationship Type="http://schemas.openxmlformats.org/officeDocument/2006/relationships/notesMaster" Target="/ppt/notesMasters/notesMaster1.xml" Id="R5d39228d4943471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c593191d1924c28" /><Relationship Type="http://schemas.openxmlformats.org/officeDocument/2006/relationships/notesMaster" Target="/ppt/notesMasters/notesMaster1.xml" Id="R70f3e83d838a4f6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61889763c2043e2" /><Relationship Type="http://schemas.openxmlformats.org/officeDocument/2006/relationships/notesMaster" Target="/ppt/notesMasters/notesMaster1.xml" Id="Rcca08e00309e4dd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37881bf7f2d4a71" /><Relationship Type="http://schemas.openxmlformats.org/officeDocument/2006/relationships/notesMaster" Target="/ppt/notesMasters/notesMaster1.xml" Id="R8cf4c68e5672487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9df7da2cbef43ba" /><Relationship Type="http://schemas.openxmlformats.org/officeDocument/2006/relationships/notesMaster" Target="/ppt/notesMasters/notesMaster1.xml" Id="Ra101be2ab357494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e318ead452c47ab" /><Relationship Type="http://schemas.openxmlformats.org/officeDocument/2006/relationships/notesMaster" Target="/ppt/notesMasters/notesMaster1.xml" Id="Rc477c3352e0d4ac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19921595c634070" /><Relationship Type="http://schemas.openxmlformats.org/officeDocument/2006/relationships/notesMaster" Target="/ppt/notesMasters/notesMaster1.xml" Id="Rb4d30d80749246e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918c942243e45fe" /><Relationship Type="http://schemas.openxmlformats.org/officeDocument/2006/relationships/notesMaster" Target="/ppt/notesMasters/notesMaster1.xml" Id="R9eabb24fda30482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4cffa65e30941dd" /><Relationship Type="http://schemas.openxmlformats.org/officeDocument/2006/relationships/notesMaster" Target="/ppt/notesMasters/notesMaster1.xml" Id="R891428c373214e1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2dfdfe1930e4327" /><Relationship Type="http://schemas.openxmlformats.org/officeDocument/2006/relationships/notesMaster" Target="/ppt/notesMasters/notesMaster1.xml" Id="Rcfa77478f886479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fd4c1fc047d42bc" /><Relationship Type="http://schemas.openxmlformats.org/officeDocument/2006/relationships/notesMaster" Target="/ppt/notesMasters/notesMaster1.xml" Id="R707b297703084b6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8a52c919fb34659" /><Relationship Type="http://schemas.openxmlformats.org/officeDocument/2006/relationships/notesMaster" Target="/ppt/notesMasters/notesMaster1.xml" Id="R411a6db6c2b545c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92a2d64c7a34558" /><Relationship Type="http://schemas.openxmlformats.org/officeDocument/2006/relationships/notesMaster" Target="/ppt/notesMasters/notesMaster1.xml" Id="R9fdba5a7297c4dd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3007257ce1447af" /><Relationship Type="http://schemas.openxmlformats.org/officeDocument/2006/relationships/notesMaster" Target="/ppt/notesMasters/notesMaster1.xml" Id="R8ad82213cf7c448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551538541e14fc9" /><Relationship Type="http://schemas.openxmlformats.org/officeDocument/2006/relationships/notesMaster" Target="/ppt/notesMasters/notesMaster1.xml" Id="Rdfe840e2ea494ed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9c0637ce22b4edd" /><Relationship Type="http://schemas.openxmlformats.org/officeDocument/2006/relationships/notesMaster" Target="/ppt/notesMasters/notesMaster1.xml" Id="R39af9bb78f6f4a4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447f359166e4859" /><Relationship Type="http://schemas.openxmlformats.org/officeDocument/2006/relationships/notesMaster" Target="/ppt/notesMasters/notesMaster1.xml" Id="R9ce83204b00e43b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c6abe86d304432e" /><Relationship Type="http://schemas.openxmlformats.org/officeDocument/2006/relationships/notesMaster" Target="/ppt/notesMasters/notesMaster1.xml" Id="Rcab94f4cf505459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4bc34bc832c4ecd" /><Relationship Type="http://schemas.openxmlformats.org/officeDocument/2006/relationships/notesMaster" Target="/ppt/notesMasters/notesMaster1.xml" Id="R251063e729934e0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065c79a697d456a" /><Relationship Type="http://schemas.openxmlformats.org/officeDocument/2006/relationships/notesMaster" Target="/ppt/notesMasters/notesMaster1.xml" Id="R8122fe17cf6b4d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asking participants how many suspicious emails, messages or calls they encountered during the previous month. Explain that this session focuses on recognition, verification and reporting. Do not ask anyone to share real credentials or confidential incidents in the 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outcomes as the contract for the session. The goal is not to make every participant an email-forensics specialist. The goal is to establish a repeatable decision process that reduces risky clicks and improves early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four sections. Explain that the practical activity uses the same inspection method covered in the theory, so participants should note the warning signs as the session progresses.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phishing success does not mean the victim lacked intelligence. Attackers design messages for busy people who are working under pressure. Strong procedures should support people at the moment of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phishing by intent rather than by spelling mistakes. The message can arrive through email, SMS, a phone call, social media or a QR code. The common element is deceptive trust.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sequence using a payroll example. An attacker learns the finance manager's name, sends a salary document, requests a login and uses the captured password. Ask participants where controls could interrupt the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labels can overlap. A personalized QR code sent to a finance director could be spear phishing, whaling and QR phishing at the same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participants to identify the warning signs before revealing the list. Point out that mass phishing may still use correct grammar and professional branding.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spear phishing with general email phishing. Attackers invest more effort because the selected target has useful access or authority. Public websites and social media often provide enough information to build the pretext.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Whaling is a form of spear phishing. Explain that assistants, finance staff and HR staff can also become indirect targets because they act on executive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Smishing means SMS phishing. Messaging applications can carry the same attack. Ask participants to describe the safe alternative: open the official application or type the known website address manually.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this as a short role-play. One participant acts as the caller and another follows the response steps. Emphasize that caller ID can be spoofed.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authorized QR demonstration prepared for the class. Participants should use dummy credentials only. Show how the phone previews the destination domain. Close any public tunnel immediately after the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BEC may use a look-alike domain or a genuinely compromised mailbox. A message can pass technical authentication and still be fraudulent. Process controls provide the strongest defense against payment fraud.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prevent memorization without understanding. Participants should describe what they observe rather than arguing over a single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good-looking branding, a familiar sender name or correct grammar cannot independently prove legitimacy. The decision combines identity, context, request and independent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actual address on desktop and mobile. Explain that the display name is controlled by the sender. A different Reply-To address deserves attention, especially in payment requests.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Modern phishing messages can have perfect grammar, so do not teach spelling errors as the main detection method. Context and requested action usually provide stronger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without opening the link. Explain that visible link text can differ from the coded destination. On mobile, ask participants to press and hold only on an authorized training 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examples use reserved training domains and addresses. Explain that the registered domain controls the site. Words placed before an unrelated registered domain do not make the site belong to that brand.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classroom practical, use harmless files with suspicious names. Never use live malware on the organizational network. Explain that a familiar icon does not prove the file 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that no support employee should ask for an OTP or password. If a participant already entered credentials, early reporting allows the team to reset the password and revoke sessions quickly.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compromised legitimate account can send authenticated fraudulent instructions. Technical email checks and business-process verification solve different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fake page can perfectly copy the brand and may use HTTPS. The domain and context matter more than the visual design. Use only the authorized dummy login page during the practical.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a Gmail Original Message screen with PASS results. Explain why authenticated marketing email can still enter spam, and why a compromised mailbox can send an authenticated malicious message.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Mobile applications often expose less information than desktop clients. Demonstrate with a test message if internet access is available. Avoid asking participants to open real suspicious messages during the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participant answers. Expected indicators include unrelated domain, different Reply-To, urgency, threat, password and MFA request, deceptive subdomain, double extension and generic greeting.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participants which pressure point they see most often. Explain that training should reduce shame and encourage early reporting, because attackers deliberately exploit normal human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the difference: impersonation concerns identity, while pretexting concerns the invented situation. Most effective social-engineering attacks use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that authority never removes the need for security and privacy controls. A legitimate senior employee should accept proper verification, especially for payment or patient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participants to name the emotion before discussing the correct response. Labeling the emotion helps create distance from the pressure and improves decision-making.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Reinforce a blame-free reporting culture. Employees may hesitate after making a mistake, but a quick report can allow password reset, session revocation and blocking before the attack spreads.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Divide seven participants into two teams, with one observer or facilitator. Give each team the worksheet. Do not reveal the answer until both teams explain their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key: different Reply-To, bank-detail change, one-hour deadline, threat of cancellation and executable double extension. Contact the supplier using the established number or portal. Preserve the email, attachment, headers and timestamps.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message contains fewer phishing indicators, but the class should not treat any slide as proof of authenticity. Classification depends on whether the organization uses the shown domain and whether the meeting context is expected.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an attachment executed, include device isolation and endpoint investigation. If only credentials were entered, prioritize password reset, session revocation, MFA review and login-history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answers: expand the complete sender address; authentication proves domain authorization rather than safety or relevance; deny the MFA request, change the password if compromise is suspected, revoke sessions and report. Close with the response rule shown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effb9b4f0d41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d63fe891be4055" /><Relationship Type="http://schemas.openxmlformats.org/officeDocument/2006/relationships/slideLayout" Target="/ppt/slideLayouts/slideLayout1.xml" Id="R11a6ae24dc1443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a6ae24dc1443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faa120e04c4468" /><Relationship Type="http://schemas.openxmlformats.org/officeDocument/2006/relationships/notesSlide" Target="/ppt/notesSlides/notesSlide1.xml" Id="R23c65d75a1f14d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7d11efc95f4060" /><Relationship Type="http://schemas.openxmlformats.org/officeDocument/2006/relationships/notesSlide" Target="/ppt/notesSlides/notesSlide2.xml" Id="Rfdb1df9b3ffa42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ee7e2178e04c75" /><Relationship Type="http://schemas.openxmlformats.org/officeDocument/2006/relationships/notesSlide" Target="/ppt/notesSlides/notesSlide3.xml" Id="Rfe25ad26523049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2bdcc70a4f040a9" /><Relationship Type="http://schemas.openxmlformats.org/officeDocument/2006/relationships/notesSlide" Target="/ppt/notesSlides/notesSlide4.xml" Id="Reb26bedcecb04a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642bdface946db" /><Relationship Type="http://schemas.openxmlformats.org/officeDocument/2006/relationships/notesSlide" Target="/ppt/notesSlides/notesSlide5.xml" Id="Rb6854e0f4a184e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9758e1e54d048e1" /><Relationship Type="http://schemas.openxmlformats.org/officeDocument/2006/relationships/notesSlide" Target="/ppt/notesSlides/notesSlide6.xml" Id="Ra71ed47a77d748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737f25e7f6d4c02" /><Relationship Type="http://schemas.openxmlformats.org/officeDocument/2006/relationships/notesSlide" Target="/ppt/notesSlides/notesSlide7.xml" Id="Rc2960fefd0ba42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019b11f507d4355" /><Relationship Type="http://schemas.openxmlformats.org/officeDocument/2006/relationships/notesSlide" Target="/ppt/notesSlides/notesSlide8.xml" Id="Rc0b8c568d6bc4e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66d684228854fa3" /><Relationship Type="http://schemas.openxmlformats.org/officeDocument/2006/relationships/notesSlide" Target="/ppt/notesSlides/notesSlide9.xml" Id="R5416436b60e845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19d66db3c5244fa" /><Relationship Type="http://schemas.openxmlformats.org/officeDocument/2006/relationships/notesSlide" Target="/ppt/notesSlides/notesSlide10.xml" Id="R6822a9d456e744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15db02e19a4465b" /><Relationship Type="http://schemas.openxmlformats.org/officeDocument/2006/relationships/notesSlide" Target="/ppt/notesSlides/notesSlide11.xml" Id="R27bec6d5f39347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b1b083f994b42c5" /><Relationship Type="http://schemas.openxmlformats.org/officeDocument/2006/relationships/notesSlide" Target="/ppt/notesSlides/notesSlide12.xml" Id="R3c1dc003620d4d1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5c3732087064f0e" /><Relationship Type="http://schemas.openxmlformats.org/officeDocument/2006/relationships/notesSlide" Target="/ppt/notesSlides/notesSlide13.xml" Id="R026579ea4aea49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8d540e8fcd544cf" /><Relationship Type="http://schemas.openxmlformats.org/officeDocument/2006/relationships/notesSlide" Target="/ppt/notesSlides/notesSlide14.xml" Id="R04cea8187b0e448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7bd7c826671475f" /><Relationship Type="http://schemas.openxmlformats.org/officeDocument/2006/relationships/notesSlide" Target="/ppt/notesSlides/notesSlide15.xml" Id="R57346f4ac5d74bc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2f6ab2104cd4992" /><Relationship Type="http://schemas.openxmlformats.org/officeDocument/2006/relationships/notesSlide" Target="/ppt/notesSlides/notesSlide16.xml" Id="Rd19f6f1d752448f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9c98cea4edf4ad0" /><Relationship Type="http://schemas.openxmlformats.org/officeDocument/2006/relationships/notesSlide" Target="/ppt/notesSlides/notesSlide17.xml" Id="Re043069c8f174d7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b048d440b8241c9" /><Relationship Type="http://schemas.openxmlformats.org/officeDocument/2006/relationships/notesSlide" Target="/ppt/notesSlides/notesSlide18.xml" Id="R4fda823cc83b432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4d6ee15b28c4384" /><Relationship Type="http://schemas.openxmlformats.org/officeDocument/2006/relationships/notesSlide" Target="/ppt/notesSlides/notesSlide19.xml" Id="Rc1731026c37b4fb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d957c3bd11f425a" /><Relationship Type="http://schemas.openxmlformats.org/officeDocument/2006/relationships/notesSlide" Target="/ppt/notesSlides/notesSlide20.xml" Id="R79ea1b38c6ba436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800a79ae3124d50" /><Relationship Type="http://schemas.openxmlformats.org/officeDocument/2006/relationships/notesSlide" Target="/ppt/notesSlides/notesSlide21.xml" Id="Rc26b31c61b4342c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30fad6ff5ea4ef9" /><Relationship Type="http://schemas.openxmlformats.org/officeDocument/2006/relationships/notesSlide" Target="/ppt/notesSlides/notesSlide22.xml" Id="R74bb20981f2b48e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aa6028f7b1e409a" /><Relationship Type="http://schemas.openxmlformats.org/officeDocument/2006/relationships/notesSlide" Target="/ppt/notesSlides/notesSlide23.xml" Id="R5ddf30d1de9c44c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1ec3a5043f648b7" /><Relationship Type="http://schemas.openxmlformats.org/officeDocument/2006/relationships/notesSlide" Target="/ppt/notesSlides/notesSlide24.xml" Id="R5b8df8923e004b6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11c699b293c4c79" /><Relationship Type="http://schemas.openxmlformats.org/officeDocument/2006/relationships/notesSlide" Target="/ppt/notesSlides/notesSlide25.xml" Id="R675bca8ad094450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fbaf175dc9043fc" /><Relationship Type="http://schemas.openxmlformats.org/officeDocument/2006/relationships/notesSlide" Target="/ppt/notesSlides/notesSlide26.xml" Id="Ra32e10c3a8684c0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a7ea43535344d60" /><Relationship Type="http://schemas.openxmlformats.org/officeDocument/2006/relationships/notesSlide" Target="/ppt/notesSlides/notesSlide27.xml" Id="Rd44a34c025a8425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aa1b835051340ec" /><Relationship Type="http://schemas.openxmlformats.org/officeDocument/2006/relationships/notesSlide" Target="/ppt/notesSlides/notesSlide28.xml" Id="Rd1c7893a2ed8477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e4c292856b1472e" /><Relationship Type="http://schemas.openxmlformats.org/officeDocument/2006/relationships/notesSlide" Target="/ppt/notesSlides/notesSlide29.xml" Id="Rd2b6484c224e46d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c708e8061a24357" /><Relationship Type="http://schemas.openxmlformats.org/officeDocument/2006/relationships/notesSlide" Target="/ppt/notesSlides/notesSlide30.xml" Id="R372609674a42432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d1a8fef3a7c4f7a" /><Relationship Type="http://schemas.openxmlformats.org/officeDocument/2006/relationships/notesSlide" Target="/ppt/notesSlides/notesSlide31.xml" Id="R53e90f93f4d54f8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65749b865e4443c" /><Relationship Type="http://schemas.openxmlformats.org/officeDocument/2006/relationships/notesSlide" Target="/ppt/notesSlides/notesSlide32.xml" Id="Rcfba2626977c40e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8c3a22b169e47cd" /><Relationship Type="http://schemas.openxmlformats.org/officeDocument/2006/relationships/notesSlide" Target="/ppt/notesSlides/notesSlide33.xml" Id="R939dcfd2c77c43d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075d4af49594ed5" /><Relationship Type="http://schemas.openxmlformats.org/officeDocument/2006/relationships/notesSlide" Target="/ppt/notesSlides/notesSlide34.xml" Id="Rad186a86e9f7403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f9f0cb1430c4dad" /><Relationship Type="http://schemas.openxmlformats.org/officeDocument/2006/relationships/notesSlide" Target="/ppt/notesSlides/notesSlide35.xml" Id="Rcaa3761923d84f0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6e1bb0cfa304b8f" /><Relationship Type="http://schemas.openxmlformats.org/officeDocument/2006/relationships/notesSlide" Target="/ppt/notesSlides/notesSlide36.xml" Id="R794d72551bd8406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b90a197ac8d94ff1" /><Relationship Type="http://schemas.openxmlformats.org/officeDocument/2006/relationships/notesSlide" Target="/ppt/notesSlides/notesSlide37.xml" Id="Ra0f05763cd8e42b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21baf05e1c2409a" /><Relationship Type="http://schemas.openxmlformats.org/officeDocument/2006/relationships/notesSlide" Target="/ppt/notesSlides/notesSlide38.xml" Id="R6c1ab3251081447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94beec610ad4c22" /><Relationship Type="http://schemas.openxmlformats.org/officeDocument/2006/relationships/notesSlide" Target="/ppt/notesSlides/notesSlide39.xml" Id="R745596a4786f422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4003ef9f253b43d4" /><Relationship Type="http://schemas.openxmlformats.org/officeDocument/2006/relationships/notesSlide" Target="/ppt/notesSlides/notesSlide40.xml" Id="R9b6c9aa341584e43" /></Relationships>
</file>

<file path=ppt/slides/slide1.xml><?xml version="1.0" encoding="utf-8"?>
<p:sld xmlns:p="http://schemas.openxmlformats.org/presentationml/2006/main">
  <p:cSld>
    <p:bg>
      <p:bgPr>
        <a:solidFill xmlns:a="http://schemas.openxmlformats.org/drawingml/2006/main">
          <a:srgbClr val="081A2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C41A7A-D559-4F2E-A37C-EB02C548333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CC8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52137C-1BDF-4120-BCBD-ECFB5022E04C}"/>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B427E5F-90DA-45F8-B109-8610F67C10E6}"/>
              </a:ext>
            </a:extLst>
          </p:cNvPr>
          <p:cNvSpPr>
            <a:spLocks xmlns:a="http://schemas.openxmlformats.org/drawingml/2006/main" noGrp="1"/>
          </p:cNvSpPr>
          <p:nvPr/>
        </p:nvSpPr>
        <p:spPr>
          <a:xfrm xmlns:a="http://schemas.openxmlformats.org/drawingml/2006/main">
            <a:off x="609600" y="68580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1CC8C8"/>
                </a:solidFill>
                <a:latin typeface="DejaVu Sans"/>
                <a:ea typeface="DejaVu Sans"/>
                <a:cs typeface="DejaVu Sans"/>
              </a:defRPr>
            </a:pPr>
            <a:r>
              <a:rPr sz="1350" b="1">
                <a:solidFill>
                  <a:srgbClr val="1CC8C8"/>
                </a:solidFill>
                <a:latin typeface="DejaVu Sans"/>
                <a:ea typeface="DejaVu Sans"/>
                <a:cs typeface="DejaVu Sans"/>
              </a:rPr>
              <a:t>DAY 2</a:t>
            </a:r>
          </a:p>
        </p:txBody>
      </p:sp>
      <p:sp>
        <p:nvSpPr>
          <p:cNvPr id="4" name="">
            <a:extLst xmlns:a="http://schemas.openxmlformats.org/drawingml/2006/main">
              <a:ext uri="{FF2B5EF4-FFF2-40B4-BE49-F238E27FC236}">
                <a16:creationId xmlns:a16="http://schemas.microsoft.com/office/drawing/2014/main" id="{596AE91A-6AA3-4DC2-B8D3-7C00467F24BF}"/>
              </a:ext>
            </a:extLst>
          </p:cNvPr>
          <p:cNvSpPr>
            <a:spLocks xmlns:a="http://schemas.openxmlformats.org/drawingml/2006/main" noGrp="1"/>
          </p:cNvSpPr>
          <p:nvPr/>
        </p:nvSpPr>
        <p:spPr>
          <a:xfrm xmlns:a="http://schemas.openxmlformats.org/drawingml/2006/main">
            <a:off x="609600" y="1333500"/>
            <a:ext cx="6381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4050" b="1">
                <a:solidFill>
                  <a:srgbClr val="FFFFFF"/>
                </a:solidFill>
                <a:latin typeface="DejaVu Sans"/>
                <a:ea typeface="DejaVu Sans"/>
                <a:cs typeface="DejaVu Sans"/>
              </a:defRPr>
            </a:pPr>
            <a:r>
              <a:rPr sz="4050" b="1">
                <a:solidFill>
                  <a:srgbClr val="FFFFFF"/>
                </a:solidFill>
                <a:latin typeface="DejaVu Sans"/>
                <a:ea typeface="DejaVu Sans"/>
                <a:cs typeface="DejaVu Sans"/>
              </a:rPr>
              <a:t>Phishing, Social Engineering</a:t>
            </a:r>
          </a:p>
          <a:p xmlns:a="http://schemas.openxmlformats.org/drawingml/2006/main">
            <a:pPr algn="l">
              <a:defRPr sz="4050" b="1">
                <a:solidFill>
                  <a:srgbClr val="FFFFFF"/>
                </a:solidFill>
                <a:latin typeface="DejaVu Sans"/>
                <a:ea typeface="DejaVu Sans"/>
                <a:cs typeface="DejaVu Sans"/>
              </a:defRPr>
            </a:pPr>
            <a:r>
              <a:rPr sz="4050" b="1">
                <a:solidFill>
                  <a:srgbClr val="FFFFFF"/>
                </a:solidFill>
                <a:latin typeface="DejaVu Sans"/>
                <a:ea typeface="DejaVu Sans"/>
                <a:cs typeface="DejaVu Sans"/>
              </a:rPr>
              <a:t>and Email Security</a:t>
            </a:r>
          </a:p>
        </p:txBody>
      </p:sp>
      <p:sp>
        <p:nvSpPr>
          <p:cNvPr id="5" name="">
            <a:extLst xmlns:a="http://schemas.openxmlformats.org/drawingml/2006/main">
              <a:ext uri="{FF2B5EF4-FFF2-40B4-BE49-F238E27FC236}">
                <a16:creationId xmlns:a16="http://schemas.microsoft.com/office/drawing/2014/main" id="{FC74590C-9C0B-4B0C-9150-5E641A7AA335}"/>
              </a:ext>
            </a:extLst>
          </p:cNvPr>
          <p:cNvSpPr>
            <a:spLocks xmlns:a="http://schemas.openxmlformats.org/drawingml/2006/main" noGrp="1"/>
          </p:cNvSpPr>
          <p:nvPr/>
        </p:nvSpPr>
        <p:spPr>
          <a:xfrm xmlns:a="http://schemas.openxmlformats.org/drawingml/2006/main">
            <a:off x="647700" y="3571875"/>
            <a:ext cx="609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8979"/>
          </a:bodyPr>
          <a:lstStyle xmlns:a="http://schemas.openxmlformats.org/drawingml/2006/main"/>
          <a:p xmlns:a="http://schemas.openxmlformats.org/drawingml/2006/main">
            <a:pPr algn="l">
              <a:defRPr sz="1950" b="0">
                <a:solidFill>
                  <a:srgbClr val="A8F1EF"/>
                </a:solidFill>
                <a:latin typeface="DejaVu Sans"/>
                <a:ea typeface="DejaVu Sans"/>
                <a:cs typeface="DejaVu Sans"/>
              </a:defRPr>
            </a:pPr>
            <a:r>
              <a:rPr sz="1950" b="0">
                <a:solidFill>
                  <a:srgbClr val="A8F1EF"/>
                </a:solidFill>
                <a:latin typeface="DejaVu Sans"/>
                <a:ea typeface="DejaVu Sans"/>
                <a:cs typeface="DejaVu Sans"/>
              </a:rPr>
              <a:t>Specialized Cyber Security and Practical Training</a:t>
            </a:r>
          </a:p>
        </p:txBody>
      </p:sp>
      <p:sp>
        <p:nvSpPr>
          <p:cNvPr id="6" name="">
            <a:extLst xmlns:a="http://schemas.openxmlformats.org/drawingml/2006/main">
              <a:ext uri="{FF2B5EF4-FFF2-40B4-BE49-F238E27FC236}">
                <a16:creationId xmlns:a16="http://schemas.microsoft.com/office/drawing/2014/main" id="{AFF0411F-AF0A-401A-8E49-BD16C5E2D2CF}"/>
              </a:ext>
            </a:extLst>
          </p:cNvPr>
          <p:cNvSpPr>
            <a:spLocks xmlns:a="http://schemas.openxmlformats.org/drawingml/2006/main" noGrp="1"/>
          </p:cNvSpPr>
          <p:nvPr/>
        </p:nvSpPr>
        <p:spPr>
          <a:xfrm xmlns:a="http://schemas.openxmlformats.org/drawingml/2006/main">
            <a:off x="647700" y="4438650"/>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Vaidhyarathnam Oushadhasala Pvt. Ltd.</a:t>
            </a:r>
          </a:p>
        </p:txBody>
      </p:sp>
      <p:sp>
        <p:nvSpPr>
          <p:cNvPr id="7" name="">
            <a:extLst xmlns:a="http://schemas.openxmlformats.org/drawingml/2006/main">
              <a:ext uri="{FF2B5EF4-FFF2-40B4-BE49-F238E27FC236}">
                <a16:creationId xmlns:a16="http://schemas.microsoft.com/office/drawing/2014/main" id="{06CD893A-8CFB-424F-BD34-FCD5DEC76E8F}"/>
              </a:ext>
            </a:extLst>
          </p:cNvPr>
          <p:cNvSpPr>
            <a:spLocks xmlns:a="http://schemas.openxmlformats.org/drawingml/2006/main" noGrp="1"/>
          </p:cNvSpPr>
          <p:nvPr/>
        </p:nvSpPr>
        <p:spPr>
          <a:xfrm xmlns:a="http://schemas.openxmlformats.org/drawingml/2006/main">
            <a:off x="647700" y="4953000"/>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500" b="0">
                <a:solidFill>
                  <a:srgbClr val="DCE8ED"/>
                </a:solidFill>
                <a:latin typeface="DejaVu Sans"/>
                <a:ea typeface="DejaVu Sans"/>
                <a:cs typeface="DejaVu Sans"/>
              </a:defRPr>
            </a:pPr>
            <a:r>
              <a:rPr sz="1500" b="0">
                <a:solidFill>
                  <a:srgbClr val="DCE8ED"/>
                </a:solidFill>
                <a:latin typeface="DejaVu Sans"/>
                <a:ea typeface="DejaVu Sans"/>
                <a:cs typeface="DejaVu Sans"/>
              </a:rPr>
              <a:t>Avanzo Academy</a:t>
            </a:r>
          </a:p>
        </p:txBody>
      </p:sp>
      <p:sp>
        <p:nvSpPr>
          <p:cNvPr id="8" name="">
            <a:extLst xmlns:a="http://schemas.openxmlformats.org/drawingml/2006/main">
              <a:ext uri="{FF2B5EF4-FFF2-40B4-BE49-F238E27FC236}">
                <a16:creationId xmlns:a16="http://schemas.microsoft.com/office/drawing/2014/main" id="{EA70937D-F5E6-4CCF-B355-CAF156B54D36}"/>
              </a:ext>
            </a:extLst>
          </p:cNvPr>
          <p:cNvSpPr>
            <a:spLocks xmlns:a="http://schemas.openxmlformats.org/drawingml/2006/main" noGrp="1"/>
          </p:cNvSpPr>
          <p:nvPr/>
        </p:nvSpPr>
        <p:spPr>
          <a:xfrm xmlns:a="http://schemas.openxmlformats.org/drawingml/2006/main">
            <a:off x="7667625" y="1000125"/>
            <a:ext cx="3714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3500" b="1">
                <a:solidFill>
                  <a:srgbClr val="1CC8C8"/>
                </a:solidFill>
                <a:latin typeface="DejaVu Sans"/>
                <a:ea typeface="DejaVu Sans"/>
                <a:cs typeface="DejaVu Sans"/>
              </a:defRPr>
            </a:pPr>
            <a:r>
              <a:rPr sz="13500" b="1">
                <a:solidFill>
                  <a:srgbClr val="1CC8C8"/>
                </a:solidFill>
                <a:latin typeface="DejaVu Sans"/>
                <a:ea typeface="DejaVu Sans"/>
                <a:cs typeface="DejaVu Sans"/>
              </a:rPr>
              <a:t>@</a:t>
            </a:r>
          </a:p>
        </p:txBody>
      </p:sp>
      <p:sp>
        <p:nvSpPr>
          <p:cNvPr id="9" name="">
            <a:extLst xmlns:a="http://schemas.openxmlformats.org/drawingml/2006/main">
              <a:ext uri="{FF2B5EF4-FFF2-40B4-BE49-F238E27FC236}">
                <a16:creationId xmlns:a16="http://schemas.microsoft.com/office/drawing/2014/main" id="{8A200217-DE3A-4764-837E-9488EA93B5E8}"/>
              </a:ext>
            </a:extLst>
          </p:cNvPr>
          <p:cNvSpPr>
            <a:spLocks xmlns:a="http://schemas.openxmlformats.org/drawingml/2006/main" noGrp="1"/>
          </p:cNvSpPr>
          <p:nvPr/>
        </p:nvSpPr>
        <p:spPr>
          <a:xfrm xmlns:a="http://schemas.openxmlformats.org/drawingml/2006/main">
            <a:off x="7715250" y="4095750"/>
            <a:ext cx="3429000" cy="952500"/>
          </a:xfrm>
          <a:prstGeom xmlns:a="http://schemas.openxmlformats.org/drawingml/2006/main" prst="rect">
            <a:avLst/>
          </a:prstGeom>
          <a:solidFill xmlns:a="http://schemas.openxmlformats.org/drawingml/2006/main">
            <a:srgbClr val="FF8A3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5A4A8BB-0A42-4BCE-B4B7-6F2BBF8330BA}"/>
              </a:ext>
            </a:extLst>
          </p:cNvPr>
          <p:cNvSpPr>
            <a:spLocks xmlns:a="http://schemas.openxmlformats.org/drawingml/2006/main" noGrp="1"/>
          </p:cNvSpPr>
          <p:nvPr/>
        </p:nvSpPr>
        <p:spPr>
          <a:xfrm xmlns:a="http://schemas.openxmlformats.org/drawingml/2006/main">
            <a:off x="7886700" y="4191000"/>
            <a:ext cx="3086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2025" b="1">
                <a:solidFill>
                  <a:srgbClr val="081A2E"/>
                </a:solidFill>
                <a:latin typeface="DejaVu Sans"/>
                <a:ea typeface="DejaVu Sans"/>
                <a:cs typeface="DejaVu Sans"/>
              </a:defRPr>
            </a:pPr>
            <a:r>
              <a:rPr sz="2025" b="1">
                <a:solidFill>
                  <a:srgbClr val="081A2E"/>
                </a:solidFill>
                <a:latin typeface="DejaVu Sans"/>
                <a:ea typeface="DejaVu Sans"/>
                <a:cs typeface="DejaVu Sans"/>
              </a:rPr>
              <a:t>THINK BEFORE YOU CLICK</a:t>
            </a:r>
          </a:p>
        </p:txBody>
      </p:sp>
    </p:spTree>
    <p:extLst>
      <p:ext uri="{BB962C8B-B14F-4D97-AF65-F5344CB8AC3E}">
        <p14:creationId xmlns:p14="http://schemas.microsoft.com/office/powerpoint/2010/main" val="1655644687"/>
      </p:ext>
    </p:extLst>
  </p:cSld>
</p:sld>
</file>

<file path=ppt/slides/slide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D22C2CC-7F28-4FB5-9159-5FE6D4F84192}"/>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4AF1C7-6412-431A-B1DE-7A3782B17EE3}"/>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SESSION OVERVIEW</a:t>
            </a:r>
          </a:p>
        </p:txBody>
      </p:sp>
      <p:sp>
        <p:nvSpPr>
          <p:cNvPr id="3" name="">
            <a:extLst xmlns:a="http://schemas.openxmlformats.org/drawingml/2006/main">
              <a:ext uri="{FF2B5EF4-FFF2-40B4-BE49-F238E27FC236}">
                <a16:creationId xmlns:a16="http://schemas.microsoft.com/office/drawing/2014/main" id="{DEE44036-CA46-4BA2-88E7-41D9D0BCEC31}"/>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02</a:t>
            </a:r>
          </a:p>
        </p:txBody>
      </p:sp>
      <p:sp>
        <p:nvSpPr>
          <p:cNvPr id="4" name="">
            <a:extLst xmlns:a="http://schemas.openxmlformats.org/drawingml/2006/main">
              <a:ext uri="{FF2B5EF4-FFF2-40B4-BE49-F238E27FC236}">
                <a16:creationId xmlns:a16="http://schemas.microsoft.com/office/drawing/2014/main" id="{F71C244C-D0CC-4A55-908A-D41B6FF5ECAA}"/>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D78112-1A0F-4C3E-9120-7D00DFF5995B}"/>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Learning outcomes</a:t>
            </a:r>
          </a:p>
        </p:txBody>
      </p:sp>
      <p:sp>
        <p:nvSpPr>
          <p:cNvPr id="6" name="">
            <a:extLst xmlns:a="http://schemas.openxmlformats.org/drawingml/2006/main">
              <a:ext uri="{FF2B5EF4-FFF2-40B4-BE49-F238E27FC236}">
                <a16:creationId xmlns:a16="http://schemas.microsoft.com/office/drawing/2014/main" id="{FA2AA254-05DA-4D21-BA87-90E5817DF3F3}"/>
              </a:ext>
            </a:extLst>
          </p:cNvPr>
          <p:cNvSpPr>
            <a:spLocks xmlns:a="http://schemas.openxmlformats.org/drawingml/2006/main" noGrp="1"/>
          </p:cNvSpPr>
          <p:nvPr/>
        </p:nvSpPr>
        <p:spPr>
          <a:xfrm xmlns:a="http://schemas.openxmlformats.org/drawingml/2006/main">
            <a:off x="49530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661C3F1D-FB7F-4EC7-9F4E-1037EFEDA24C}"/>
              </a:ext>
            </a:extLst>
          </p:cNvPr>
          <p:cNvSpPr>
            <a:spLocks xmlns:a="http://schemas.openxmlformats.org/drawingml/2006/main" noGrp="1"/>
          </p:cNvSpPr>
          <p:nvPr/>
        </p:nvSpPr>
        <p:spPr>
          <a:xfrm xmlns:a="http://schemas.openxmlformats.org/drawingml/2006/main">
            <a:off x="596265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8" name="">
            <a:extLst xmlns:a="http://schemas.openxmlformats.org/drawingml/2006/main">
              <a:ext uri="{FF2B5EF4-FFF2-40B4-BE49-F238E27FC236}">
                <a16:creationId xmlns:a16="http://schemas.microsoft.com/office/drawing/2014/main" id="{59C807F6-E52D-4481-96EE-8DA23CDBF1CE}"/>
              </a:ext>
            </a:extLst>
          </p:cNvPr>
          <p:cNvSpPr>
            <a:spLocks xmlns:a="http://schemas.openxmlformats.org/drawingml/2006/main" noGrp="1"/>
          </p:cNvSpPr>
          <p:nvPr/>
        </p:nvSpPr>
        <p:spPr>
          <a:xfrm xmlns:a="http://schemas.openxmlformats.org/drawingml/2006/main">
            <a:off x="74295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2F80ED"/>
                </a:solidFill>
                <a:latin typeface="DejaVu Sans"/>
                <a:ea typeface="DejaVu Sans"/>
                <a:cs typeface="DejaVu Sans"/>
              </a:defRPr>
            </a:pPr>
            <a:r>
              <a:rPr sz="2025" b="1">
                <a:solidFill>
                  <a:srgbClr val="2F80ED"/>
                </a:solidFill>
                <a:latin typeface="DejaVu Sans"/>
                <a:ea typeface="DejaVu Sans"/>
                <a:cs typeface="DejaVu Sans"/>
              </a:rPr>
              <a:t>Participants will recognize</a:t>
            </a:r>
          </a:p>
        </p:txBody>
      </p:sp>
      <p:sp>
        <p:nvSpPr>
          <p:cNvPr id="9" name="">
            <a:extLst xmlns:a="http://schemas.openxmlformats.org/drawingml/2006/main">
              <a:ext uri="{FF2B5EF4-FFF2-40B4-BE49-F238E27FC236}">
                <a16:creationId xmlns:a16="http://schemas.microsoft.com/office/drawing/2014/main" id="{D2AB47DD-790C-4040-A999-73CA8F6596B1}"/>
              </a:ext>
            </a:extLst>
          </p:cNvPr>
          <p:cNvSpPr>
            <a:spLocks xmlns:a="http://schemas.openxmlformats.org/drawingml/2006/main" noGrp="1"/>
          </p:cNvSpPr>
          <p:nvPr/>
        </p:nvSpPr>
        <p:spPr>
          <a:xfrm xmlns:a="http://schemas.openxmlformats.org/drawingml/2006/main">
            <a:off x="621030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FF8A34"/>
                </a:solidFill>
                <a:latin typeface="DejaVu Sans"/>
                <a:ea typeface="DejaVu Sans"/>
                <a:cs typeface="DejaVu Sans"/>
              </a:defRPr>
            </a:pPr>
            <a:r>
              <a:rPr sz="2025" b="1">
                <a:solidFill>
                  <a:srgbClr val="FF8A34"/>
                </a:solidFill>
                <a:latin typeface="DejaVu Sans"/>
                <a:ea typeface="DejaVu Sans"/>
                <a:cs typeface="DejaVu Sans"/>
              </a:rPr>
              <a:t>Participants will practise</a:t>
            </a:r>
          </a:p>
        </p:txBody>
      </p:sp>
      <p:sp>
        <p:nvSpPr>
          <p:cNvPr id="10" name="">
            <a:extLst xmlns:a="http://schemas.openxmlformats.org/drawingml/2006/main">
              <a:ext uri="{FF2B5EF4-FFF2-40B4-BE49-F238E27FC236}">
                <a16:creationId xmlns:a16="http://schemas.microsoft.com/office/drawing/2014/main" id="{DB54C64B-76ED-47B8-922E-7E9D590CC9E4}"/>
              </a:ext>
            </a:extLst>
          </p:cNvPr>
          <p:cNvSpPr>
            <a:spLocks xmlns:a="http://schemas.openxmlformats.org/drawingml/2006/main" noGrp="1"/>
          </p:cNvSpPr>
          <p:nvPr/>
        </p:nvSpPr>
        <p:spPr>
          <a:xfrm xmlns:a="http://schemas.openxmlformats.org/drawingml/2006/main">
            <a:off x="714375"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Common phishing delivery methods and target profiles</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Warning signs in sender details, links and attachments</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Manipulation based on authority, urgency and emotion</a:t>
            </a:r>
          </a:p>
        </p:txBody>
      </p:sp>
      <p:sp>
        <p:nvSpPr>
          <p:cNvPr id="11" name="">
            <a:extLst xmlns:a="http://schemas.openxmlformats.org/drawingml/2006/main">
              <a:ext uri="{FF2B5EF4-FFF2-40B4-BE49-F238E27FC236}">
                <a16:creationId xmlns:a16="http://schemas.microsoft.com/office/drawing/2014/main" id="{AB19FDA1-5CDD-43B9-BAEB-EE301F57E651}"/>
              </a:ext>
            </a:extLst>
          </p:cNvPr>
          <p:cNvSpPr>
            <a:spLocks xmlns:a="http://schemas.openxmlformats.org/drawingml/2006/main" noGrp="1"/>
          </p:cNvSpPr>
          <p:nvPr/>
        </p:nvSpPr>
        <p:spPr>
          <a:xfrm xmlns:a="http://schemas.openxmlformats.org/drawingml/2006/main">
            <a:off x="6191250"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Inspecting email details before taking action</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Classifying messages as genuine, suspicious or malicious</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Reporting an incident while preserving useful evidence</a:t>
            </a:r>
          </a:p>
        </p:txBody>
      </p:sp>
    </p:spTree>
    <p:extLst>
      <p:ext uri="{BB962C8B-B14F-4D97-AF65-F5344CB8AC3E}">
        <p14:creationId xmlns:p14="http://schemas.microsoft.com/office/powerpoint/2010/main" val="21990253"/>
      </p:ext>
    </p:extLst>
  </p:cSld>
</p:sld>
</file>

<file path=ppt/slides/slide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E01B1DE-66D4-44D9-9DA8-7C07E0944F5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9065A7-4931-443D-82EE-BD9DF1E0A1FF}"/>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SESSION OVERVIEW</a:t>
            </a:r>
          </a:p>
        </p:txBody>
      </p:sp>
      <p:sp>
        <p:nvSpPr>
          <p:cNvPr id="3" name="">
            <a:extLst xmlns:a="http://schemas.openxmlformats.org/drawingml/2006/main">
              <a:ext uri="{FF2B5EF4-FFF2-40B4-BE49-F238E27FC236}">
                <a16:creationId xmlns:a16="http://schemas.microsoft.com/office/drawing/2014/main" id="{F2A3FC0C-F73F-4B36-A33B-69CB7D6BCD61}"/>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03</a:t>
            </a:r>
          </a:p>
        </p:txBody>
      </p:sp>
      <p:sp>
        <p:nvSpPr>
          <p:cNvPr id="4" name="">
            <a:extLst xmlns:a="http://schemas.openxmlformats.org/drawingml/2006/main">
              <a:ext uri="{FF2B5EF4-FFF2-40B4-BE49-F238E27FC236}">
                <a16:creationId xmlns:a16="http://schemas.microsoft.com/office/drawing/2014/main" id="{19C10949-EC52-4CEE-AAA8-3016FEB7B55C}"/>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F140C49-F997-4DFA-AC3D-4C51376F8C1C}"/>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Session structure</a:t>
            </a:r>
          </a:p>
        </p:txBody>
      </p:sp>
      <p:sp>
        <p:nvSpPr>
          <p:cNvPr id="6" name="">
            <a:extLst xmlns:a="http://schemas.openxmlformats.org/drawingml/2006/main">
              <a:ext uri="{FF2B5EF4-FFF2-40B4-BE49-F238E27FC236}">
                <a16:creationId xmlns:a16="http://schemas.microsoft.com/office/drawing/2014/main" id="{D5709DE5-4919-43EB-AD3C-1F4B78AE6A1A}"/>
              </a:ext>
            </a:extLst>
          </p:cNvPr>
          <p:cNvSpPr>
            <a:spLocks xmlns:a="http://schemas.openxmlformats.org/drawingml/2006/main" noGrp="1"/>
          </p:cNvSpPr>
          <p:nvPr/>
        </p:nvSpPr>
        <p:spPr>
          <a:xfrm xmlns:a="http://schemas.openxmlformats.org/drawingml/2006/main">
            <a:off x="552450" y="2238375"/>
            <a:ext cx="2538413"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6C296753-B573-4608-A5C0-FC20567EBD9F}"/>
              </a:ext>
            </a:extLst>
          </p:cNvPr>
          <p:cNvSpPr>
            <a:spLocks xmlns:a="http://schemas.openxmlformats.org/drawingml/2006/main" noGrp="1"/>
          </p:cNvSpPr>
          <p:nvPr/>
        </p:nvSpPr>
        <p:spPr>
          <a:xfrm xmlns:a="http://schemas.openxmlformats.org/drawingml/2006/main">
            <a:off x="723900" y="2390775"/>
            <a:ext cx="400050" cy="400050"/>
          </a:xfrm>
          <a:prstGeom xmlns:a="http://schemas.openxmlformats.org/drawingml/2006/main" prst="rect">
            <a:avLst/>
          </a:prstGeom>
          <a:solidFill xmlns:a="http://schemas.openxmlformats.org/drawingml/2006/main">
            <a:srgbClr val="2F80ED"/>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36362244-ED89-47E7-802F-91218DF4C9D7}"/>
              </a:ext>
            </a:extLst>
          </p:cNvPr>
          <p:cNvSpPr>
            <a:spLocks xmlns:a="http://schemas.openxmlformats.org/drawingml/2006/main" noGrp="1"/>
          </p:cNvSpPr>
          <p:nvPr/>
        </p:nvSpPr>
        <p:spPr>
          <a:xfrm xmlns:a="http://schemas.openxmlformats.org/drawingml/2006/main">
            <a:off x="723900" y="2905125"/>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425"/>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Phishing awareness</a:t>
            </a:r>
          </a:p>
        </p:txBody>
      </p:sp>
      <p:sp>
        <p:nvSpPr>
          <p:cNvPr id="9" name="">
            <a:extLst xmlns:a="http://schemas.openxmlformats.org/drawingml/2006/main">
              <a:ext uri="{FF2B5EF4-FFF2-40B4-BE49-F238E27FC236}">
                <a16:creationId xmlns:a16="http://schemas.microsoft.com/office/drawing/2014/main" id="{4A24652E-C53C-405F-A018-75ACBAC11D5D}"/>
              </a:ext>
            </a:extLst>
          </p:cNvPr>
          <p:cNvSpPr>
            <a:spLocks xmlns:a="http://schemas.openxmlformats.org/drawingml/2006/main" noGrp="1"/>
          </p:cNvSpPr>
          <p:nvPr/>
        </p:nvSpPr>
        <p:spPr>
          <a:xfrm xmlns:a="http://schemas.openxmlformats.org/drawingml/2006/main">
            <a:off x="723900" y="3305175"/>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607385"/>
                </a:solidFill>
                <a:latin typeface="DejaVu Sans"/>
                <a:ea typeface="DejaVu Sans"/>
                <a:cs typeface="DejaVu Sans"/>
              </a:defRPr>
            </a:pPr>
            <a:r>
              <a:rPr sz="1275" b="0">
                <a:solidFill>
                  <a:srgbClr val="607385"/>
                </a:solidFill>
                <a:latin typeface="DejaVu Sans"/>
                <a:ea typeface="DejaVu Sans"/>
                <a:cs typeface="DejaVu Sans"/>
              </a:rPr>
              <a:t>Delivery methods and targets</a:t>
            </a:r>
          </a:p>
        </p:txBody>
      </p:sp>
      <p:sp>
        <p:nvSpPr>
          <p:cNvPr id="10" name="">
            <a:extLst xmlns:a="http://schemas.openxmlformats.org/drawingml/2006/main">
              <a:ext uri="{FF2B5EF4-FFF2-40B4-BE49-F238E27FC236}">
                <a16:creationId xmlns:a16="http://schemas.microsoft.com/office/drawing/2014/main" id="{E9E430A7-AA71-4621-839A-735B987E81B6}"/>
              </a:ext>
            </a:extLst>
          </p:cNvPr>
          <p:cNvSpPr>
            <a:spLocks xmlns:a="http://schemas.openxmlformats.org/drawingml/2006/main" noGrp="1"/>
          </p:cNvSpPr>
          <p:nvPr/>
        </p:nvSpPr>
        <p:spPr>
          <a:xfrm xmlns:a="http://schemas.openxmlformats.org/drawingml/2006/main">
            <a:off x="3262313" y="2238375"/>
            <a:ext cx="2538413"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11" name="">
            <a:extLst xmlns:a="http://schemas.openxmlformats.org/drawingml/2006/main">
              <a:ext uri="{FF2B5EF4-FFF2-40B4-BE49-F238E27FC236}">
                <a16:creationId xmlns:a16="http://schemas.microsoft.com/office/drawing/2014/main" id="{1D21D710-5DDD-4A70-B206-07522C1D9C8D}"/>
              </a:ext>
            </a:extLst>
          </p:cNvPr>
          <p:cNvSpPr>
            <a:spLocks xmlns:a="http://schemas.openxmlformats.org/drawingml/2006/main" noGrp="1"/>
          </p:cNvSpPr>
          <p:nvPr/>
        </p:nvSpPr>
        <p:spPr>
          <a:xfrm xmlns:a="http://schemas.openxmlformats.org/drawingml/2006/main">
            <a:off x="3433763" y="2390775"/>
            <a:ext cx="400050" cy="400050"/>
          </a:xfrm>
          <a:prstGeom xmlns:a="http://schemas.openxmlformats.org/drawingml/2006/main" prst="rect">
            <a:avLst/>
          </a:prstGeom>
          <a:solidFill xmlns:a="http://schemas.openxmlformats.org/drawingml/2006/main">
            <a:srgbClr val="2F80ED"/>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2</a:t>
            </a:r>
          </a:p>
        </p:txBody>
      </p:sp>
      <p:sp>
        <p:nvSpPr>
          <p:cNvPr id="12" name="">
            <a:extLst xmlns:a="http://schemas.openxmlformats.org/drawingml/2006/main">
              <a:ext uri="{FF2B5EF4-FFF2-40B4-BE49-F238E27FC236}">
                <a16:creationId xmlns:a16="http://schemas.microsoft.com/office/drawing/2014/main" id="{000D27C8-8E4D-4679-A0C0-2E627870DDF6}"/>
              </a:ext>
            </a:extLst>
          </p:cNvPr>
          <p:cNvSpPr>
            <a:spLocks xmlns:a="http://schemas.openxmlformats.org/drawingml/2006/main" noGrp="1"/>
          </p:cNvSpPr>
          <p:nvPr/>
        </p:nvSpPr>
        <p:spPr>
          <a:xfrm xmlns:a="http://schemas.openxmlformats.org/drawingml/2006/main">
            <a:off x="3433763" y="2905125"/>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Email inspection</a:t>
            </a:r>
          </a:p>
        </p:txBody>
      </p:sp>
      <p:sp>
        <p:nvSpPr>
          <p:cNvPr id="13" name="">
            <a:extLst xmlns:a="http://schemas.openxmlformats.org/drawingml/2006/main">
              <a:ext uri="{FF2B5EF4-FFF2-40B4-BE49-F238E27FC236}">
                <a16:creationId xmlns:a16="http://schemas.microsoft.com/office/drawing/2014/main" id="{61F0DA19-5EC7-43AE-AC95-BB7AFEA16FD0}"/>
              </a:ext>
            </a:extLst>
          </p:cNvPr>
          <p:cNvSpPr>
            <a:spLocks xmlns:a="http://schemas.openxmlformats.org/drawingml/2006/main" noGrp="1"/>
          </p:cNvSpPr>
          <p:nvPr/>
        </p:nvSpPr>
        <p:spPr>
          <a:xfrm xmlns:a="http://schemas.openxmlformats.org/drawingml/2006/main">
            <a:off x="3433763" y="3305175"/>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607385"/>
                </a:solidFill>
                <a:latin typeface="DejaVu Sans"/>
                <a:ea typeface="DejaVu Sans"/>
                <a:cs typeface="DejaVu Sans"/>
              </a:defRPr>
            </a:pPr>
            <a:r>
              <a:rPr sz="1275" b="0">
                <a:solidFill>
                  <a:srgbClr val="607385"/>
                </a:solidFill>
                <a:latin typeface="DejaVu Sans"/>
                <a:ea typeface="DejaVu Sans"/>
                <a:cs typeface="DejaVu Sans"/>
              </a:rPr>
              <a:t>Sender, links, files and requests</a:t>
            </a:r>
          </a:p>
        </p:txBody>
      </p:sp>
      <p:sp>
        <p:nvSpPr>
          <p:cNvPr id="14" name="">
            <a:extLst xmlns:a="http://schemas.openxmlformats.org/drawingml/2006/main">
              <a:ext uri="{FF2B5EF4-FFF2-40B4-BE49-F238E27FC236}">
                <a16:creationId xmlns:a16="http://schemas.microsoft.com/office/drawing/2014/main" id="{4DE4D897-3D9D-4C92-811D-90C4AA9BE263}"/>
              </a:ext>
            </a:extLst>
          </p:cNvPr>
          <p:cNvSpPr>
            <a:spLocks xmlns:a="http://schemas.openxmlformats.org/drawingml/2006/main" noGrp="1"/>
          </p:cNvSpPr>
          <p:nvPr/>
        </p:nvSpPr>
        <p:spPr>
          <a:xfrm xmlns:a="http://schemas.openxmlformats.org/drawingml/2006/main">
            <a:off x="5972175" y="2238375"/>
            <a:ext cx="2538413"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15" name="">
            <a:extLst xmlns:a="http://schemas.openxmlformats.org/drawingml/2006/main">
              <a:ext uri="{FF2B5EF4-FFF2-40B4-BE49-F238E27FC236}">
                <a16:creationId xmlns:a16="http://schemas.microsoft.com/office/drawing/2014/main" id="{195BFD58-AE75-40FA-B4F2-01787C1D9844}"/>
              </a:ext>
            </a:extLst>
          </p:cNvPr>
          <p:cNvSpPr>
            <a:spLocks xmlns:a="http://schemas.openxmlformats.org/drawingml/2006/main" noGrp="1"/>
          </p:cNvSpPr>
          <p:nvPr/>
        </p:nvSpPr>
        <p:spPr>
          <a:xfrm xmlns:a="http://schemas.openxmlformats.org/drawingml/2006/main">
            <a:off x="6143625" y="2390775"/>
            <a:ext cx="400050" cy="400050"/>
          </a:xfrm>
          <a:prstGeom xmlns:a="http://schemas.openxmlformats.org/drawingml/2006/main" prst="rect">
            <a:avLst/>
          </a:prstGeom>
          <a:solidFill xmlns:a="http://schemas.openxmlformats.org/drawingml/2006/main">
            <a:srgbClr val="2F80ED"/>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3</a:t>
            </a:r>
          </a:p>
        </p:txBody>
      </p:sp>
      <p:sp>
        <p:nvSpPr>
          <p:cNvPr id="16" name="">
            <a:extLst xmlns:a="http://schemas.openxmlformats.org/drawingml/2006/main">
              <a:ext uri="{FF2B5EF4-FFF2-40B4-BE49-F238E27FC236}">
                <a16:creationId xmlns:a16="http://schemas.microsoft.com/office/drawing/2014/main" id="{ED9AFCC2-BEDB-4BB6-94CD-D535CF0B8734}"/>
              </a:ext>
            </a:extLst>
          </p:cNvPr>
          <p:cNvSpPr>
            <a:spLocks xmlns:a="http://schemas.openxmlformats.org/drawingml/2006/main" noGrp="1"/>
          </p:cNvSpPr>
          <p:nvPr/>
        </p:nvSpPr>
        <p:spPr>
          <a:xfrm xmlns:a="http://schemas.openxmlformats.org/drawingml/2006/main">
            <a:off x="6143625" y="2905125"/>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4602"/>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Social engineering</a:t>
            </a:r>
          </a:p>
        </p:txBody>
      </p:sp>
      <p:sp>
        <p:nvSpPr>
          <p:cNvPr id="17" name="">
            <a:extLst xmlns:a="http://schemas.openxmlformats.org/drawingml/2006/main">
              <a:ext uri="{FF2B5EF4-FFF2-40B4-BE49-F238E27FC236}">
                <a16:creationId xmlns:a16="http://schemas.microsoft.com/office/drawing/2014/main" id="{E2340750-D506-48B9-9EA2-4301C3156E3A}"/>
              </a:ext>
            </a:extLst>
          </p:cNvPr>
          <p:cNvSpPr>
            <a:spLocks xmlns:a="http://schemas.openxmlformats.org/drawingml/2006/main" noGrp="1"/>
          </p:cNvSpPr>
          <p:nvPr/>
        </p:nvSpPr>
        <p:spPr>
          <a:xfrm xmlns:a="http://schemas.openxmlformats.org/drawingml/2006/main">
            <a:off x="6143625" y="3305175"/>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607385"/>
                </a:solidFill>
                <a:latin typeface="DejaVu Sans"/>
                <a:ea typeface="DejaVu Sans"/>
                <a:cs typeface="DejaVu Sans"/>
              </a:defRPr>
            </a:pPr>
            <a:r>
              <a:rPr sz="1275" b="0">
                <a:solidFill>
                  <a:srgbClr val="607385"/>
                </a:solidFill>
                <a:latin typeface="DejaVu Sans"/>
                <a:ea typeface="DejaVu Sans"/>
                <a:cs typeface="DejaVu Sans"/>
              </a:rPr>
              <a:t>Manipulation and impersonation</a:t>
            </a:r>
          </a:p>
        </p:txBody>
      </p:sp>
      <p:sp>
        <p:nvSpPr>
          <p:cNvPr id="18" name="">
            <a:extLst xmlns:a="http://schemas.openxmlformats.org/drawingml/2006/main">
              <a:ext uri="{FF2B5EF4-FFF2-40B4-BE49-F238E27FC236}">
                <a16:creationId xmlns:a16="http://schemas.microsoft.com/office/drawing/2014/main" id="{60A4163E-1D82-4037-B25D-85070D80CE8D}"/>
              </a:ext>
            </a:extLst>
          </p:cNvPr>
          <p:cNvSpPr>
            <a:spLocks xmlns:a="http://schemas.openxmlformats.org/drawingml/2006/main" noGrp="1"/>
          </p:cNvSpPr>
          <p:nvPr/>
        </p:nvSpPr>
        <p:spPr>
          <a:xfrm xmlns:a="http://schemas.openxmlformats.org/drawingml/2006/main">
            <a:off x="8682038" y="2238375"/>
            <a:ext cx="2538413" cy="1714500"/>
          </a:xfrm>
          <a:prstGeom xmlns:a="http://schemas.openxmlformats.org/drawingml/2006/main" prst="rect">
            <a:avLst/>
          </a:prstGeom>
          <a:solidFill xmlns:a="http://schemas.openxmlformats.org/drawingml/2006/main">
            <a:srgbClr val="2F80ED"/>
          </a:solidFill>
          <a:ln xmlns:a="http://schemas.openxmlformats.org/drawingml/2006/main" w="9525">
            <a:solidFill>
              <a:srgbClr val="2F80ED"/>
            </a:solidFill>
          </a:ln>
        </p:spPr>
      </p:sp>
      <p:sp>
        <p:nvSpPr>
          <p:cNvPr id="19" name="">
            <a:extLst xmlns:a="http://schemas.openxmlformats.org/drawingml/2006/main">
              <a:ext uri="{FF2B5EF4-FFF2-40B4-BE49-F238E27FC236}">
                <a16:creationId xmlns:a16="http://schemas.microsoft.com/office/drawing/2014/main" id="{AA4001CD-2079-487A-99F3-190E7D77111E}"/>
              </a:ext>
            </a:extLst>
          </p:cNvPr>
          <p:cNvSpPr>
            <a:spLocks xmlns:a="http://schemas.openxmlformats.org/drawingml/2006/main" noGrp="1"/>
          </p:cNvSpPr>
          <p:nvPr/>
        </p:nvSpPr>
        <p:spPr>
          <a:xfrm xmlns:a="http://schemas.openxmlformats.org/drawingml/2006/main">
            <a:off x="8853488" y="2390775"/>
            <a:ext cx="400050" cy="400050"/>
          </a:xfrm>
          <a:prstGeom xmlns:a="http://schemas.openxmlformats.org/drawingml/2006/main" prst="rect">
            <a:avLst/>
          </a:prstGeom>
          <a:solidFill xmlns:a="http://schemas.openxmlformats.org/drawingml/2006/main">
            <a:srgbClr val="A8F1E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4</a:t>
            </a:r>
          </a:p>
        </p:txBody>
      </p:sp>
      <p:sp>
        <p:nvSpPr>
          <p:cNvPr id="20" name="">
            <a:extLst xmlns:a="http://schemas.openxmlformats.org/drawingml/2006/main">
              <a:ext uri="{FF2B5EF4-FFF2-40B4-BE49-F238E27FC236}">
                <a16:creationId xmlns:a16="http://schemas.microsoft.com/office/drawing/2014/main" id="{1A36AF51-5D53-45D0-888E-368820C9011A}"/>
              </a:ext>
            </a:extLst>
          </p:cNvPr>
          <p:cNvSpPr>
            <a:spLocks xmlns:a="http://schemas.openxmlformats.org/drawingml/2006/main" noGrp="1"/>
          </p:cNvSpPr>
          <p:nvPr/>
        </p:nvSpPr>
        <p:spPr>
          <a:xfrm xmlns:a="http://schemas.openxmlformats.org/drawingml/2006/main">
            <a:off x="8853488" y="2905125"/>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9361"/>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Practical exercise</a:t>
            </a:r>
          </a:p>
        </p:txBody>
      </p:sp>
      <p:sp>
        <p:nvSpPr>
          <p:cNvPr id="21" name="">
            <a:extLst xmlns:a="http://schemas.openxmlformats.org/drawingml/2006/main">
              <a:ext uri="{FF2B5EF4-FFF2-40B4-BE49-F238E27FC236}">
                <a16:creationId xmlns:a16="http://schemas.microsoft.com/office/drawing/2014/main" id="{53D08CA0-A71F-48D2-B5E5-D3EA0F12BC3D}"/>
              </a:ext>
            </a:extLst>
          </p:cNvPr>
          <p:cNvSpPr>
            <a:spLocks xmlns:a="http://schemas.openxmlformats.org/drawingml/2006/main" noGrp="1"/>
          </p:cNvSpPr>
          <p:nvPr/>
        </p:nvSpPr>
        <p:spPr>
          <a:xfrm xmlns:a="http://schemas.openxmlformats.org/drawingml/2006/main">
            <a:off x="8853488" y="3305175"/>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FFFFFF"/>
                </a:solidFill>
                <a:latin typeface="DejaVu Sans"/>
                <a:ea typeface="DejaVu Sans"/>
                <a:cs typeface="DejaVu Sans"/>
              </a:defRPr>
            </a:pPr>
            <a:r>
              <a:rPr sz="1275" b="0">
                <a:solidFill>
                  <a:srgbClr val="FFFFFF"/>
                </a:solidFill>
                <a:latin typeface="DejaVu Sans"/>
                <a:ea typeface="DejaVu Sans"/>
                <a:cs typeface="DejaVu Sans"/>
              </a:rPr>
              <a:t>Analyze, decide and report</a:t>
            </a:r>
          </a:p>
        </p:txBody>
      </p:sp>
      <p:sp>
        <p:nvSpPr>
          <p:cNvPr id="22" name="">
            <a:extLst xmlns:a="http://schemas.openxmlformats.org/drawingml/2006/main">
              <a:ext uri="{FF2B5EF4-FFF2-40B4-BE49-F238E27FC236}">
                <a16:creationId xmlns:a16="http://schemas.microsoft.com/office/drawing/2014/main" id="{EF56C82D-A774-4858-828E-100EFEC18FDC}"/>
              </a:ext>
            </a:extLst>
          </p:cNvPr>
          <p:cNvSpPr>
            <a:spLocks xmlns:a="http://schemas.openxmlformats.org/drawingml/2006/main" noGrp="1"/>
          </p:cNvSpPr>
          <p:nvPr/>
        </p:nvSpPr>
        <p:spPr>
          <a:xfrm xmlns:a="http://schemas.openxmlformats.org/drawingml/2006/main">
            <a:off x="1428750" y="4762500"/>
            <a:ext cx="9334500" cy="8382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51AFEB0-E83F-4342-A3D0-CEE2DB171A98}"/>
              </a:ext>
            </a:extLst>
          </p:cNvPr>
          <p:cNvSpPr>
            <a:spLocks xmlns:a="http://schemas.openxmlformats.org/drawingml/2006/main" noGrp="1"/>
          </p:cNvSpPr>
          <p:nvPr/>
        </p:nvSpPr>
        <p:spPr>
          <a:xfrm xmlns:a="http://schemas.openxmlformats.org/drawingml/2006/main">
            <a:off x="1600200" y="4857750"/>
            <a:ext cx="8991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3333"/>
          </a:bodyPr>
          <a:lstStyle xmlns:a="http://schemas.openxmlformats.org/drawingml/2006/main"/>
          <a:p xmlns:a="http://schemas.openxmlformats.org/drawingml/2006/main">
            <a:pPr algn="ct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One decision rule throughout the session: pause, verify independently and report</a:t>
            </a:r>
          </a:p>
        </p:txBody>
      </p:sp>
    </p:spTree>
    <p:extLst>
      <p:ext uri="{BB962C8B-B14F-4D97-AF65-F5344CB8AC3E}">
        <p14:creationId xmlns:p14="http://schemas.microsoft.com/office/powerpoint/2010/main" val="388918761"/>
      </p:ext>
    </p:extLst>
  </p:cSld>
</p:sld>
</file>

<file path=ppt/slides/slide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3799F6-CA6A-496E-B319-1ACB2B6D249A}"/>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20796C-8B45-4870-85A1-5DF6F449FAF1}"/>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CONTEXT</a:t>
            </a:r>
          </a:p>
        </p:txBody>
      </p:sp>
      <p:sp>
        <p:nvSpPr>
          <p:cNvPr id="3" name="">
            <a:extLst xmlns:a="http://schemas.openxmlformats.org/drawingml/2006/main">
              <a:ext uri="{FF2B5EF4-FFF2-40B4-BE49-F238E27FC236}">
                <a16:creationId xmlns:a16="http://schemas.microsoft.com/office/drawing/2014/main" id="{35E05197-FD3F-4FEC-96BB-E75355D80FF4}"/>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04</a:t>
            </a:r>
          </a:p>
        </p:txBody>
      </p:sp>
      <p:sp>
        <p:nvSpPr>
          <p:cNvPr id="4" name="">
            <a:extLst xmlns:a="http://schemas.openxmlformats.org/drawingml/2006/main">
              <a:ext uri="{FF2B5EF4-FFF2-40B4-BE49-F238E27FC236}">
                <a16:creationId xmlns:a16="http://schemas.microsoft.com/office/drawing/2014/main" id="{346B8988-59CD-4945-943C-22DC1BD43CD0}"/>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AE5FEE2-F178-471F-96B9-E690703E4C86}"/>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Why phishing succeeds</a:t>
            </a:r>
          </a:p>
        </p:txBody>
      </p:sp>
      <p:sp>
        <p:nvSpPr>
          <p:cNvPr id="6" name="">
            <a:extLst xmlns:a="http://schemas.openxmlformats.org/drawingml/2006/main">
              <a:ext uri="{FF2B5EF4-FFF2-40B4-BE49-F238E27FC236}">
                <a16:creationId xmlns:a16="http://schemas.microsoft.com/office/drawing/2014/main" id="{5FD4491E-780B-4CD5-907D-6ECF7986BEA5}"/>
              </a:ext>
            </a:extLst>
          </p:cNvPr>
          <p:cNvSpPr>
            <a:spLocks xmlns:a="http://schemas.openxmlformats.org/drawingml/2006/main" noGrp="1"/>
          </p:cNvSpPr>
          <p:nvPr/>
        </p:nvSpPr>
        <p:spPr>
          <a:xfrm xmlns:a="http://schemas.openxmlformats.org/drawingml/2006/main">
            <a:off x="49530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9757402A-8A27-478C-9787-B2788D5B6995}"/>
              </a:ext>
            </a:extLst>
          </p:cNvPr>
          <p:cNvSpPr>
            <a:spLocks xmlns:a="http://schemas.openxmlformats.org/drawingml/2006/main" noGrp="1"/>
          </p:cNvSpPr>
          <p:nvPr/>
        </p:nvSpPr>
        <p:spPr>
          <a:xfrm xmlns:a="http://schemas.openxmlformats.org/drawingml/2006/main">
            <a:off x="596265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8" name="">
            <a:extLst xmlns:a="http://schemas.openxmlformats.org/drawingml/2006/main">
              <a:ext uri="{FF2B5EF4-FFF2-40B4-BE49-F238E27FC236}">
                <a16:creationId xmlns:a16="http://schemas.microsoft.com/office/drawing/2014/main" id="{85122035-68B8-489B-B6A7-524F53AB16C3}"/>
              </a:ext>
            </a:extLst>
          </p:cNvPr>
          <p:cNvSpPr>
            <a:spLocks xmlns:a="http://schemas.openxmlformats.org/drawingml/2006/main" noGrp="1"/>
          </p:cNvSpPr>
          <p:nvPr/>
        </p:nvSpPr>
        <p:spPr>
          <a:xfrm xmlns:a="http://schemas.openxmlformats.org/drawingml/2006/main">
            <a:off x="74295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2F80ED"/>
                </a:solidFill>
                <a:latin typeface="DejaVu Sans"/>
                <a:ea typeface="DejaVu Sans"/>
                <a:cs typeface="DejaVu Sans"/>
              </a:defRPr>
            </a:pPr>
            <a:r>
              <a:rPr sz="2025" b="1">
                <a:solidFill>
                  <a:srgbClr val="2F80ED"/>
                </a:solidFill>
                <a:latin typeface="DejaVu Sans"/>
                <a:ea typeface="DejaVu Sans"/>
                <a:cs typeface="DejaVu Sans"/>
              </a:rPr>
              <a:t>Attacker advantage</a:t>
            </a:r>
          </a:p>
        </p:txBody>
      </p:sp>
      <p:sp>
        <p:nvSpPr>
          <p:cNvPr id="9" name="">
            <a:extLst xmlns:a="http://schemas.openxmlformats.org/drawingml/2006/main">
              <a:ext uri="{FF2B5EF4-FFF2-40B4-BE49-F238E27FC236}">
                <a16:creationId xmlns:a16="http://schemas.microsoft.com/office/drawing/2014/main" id="{D2506CDB-2FD0-48C1-B330-C36EDD921ED4}"/>
              </a:ext>
            </a:extLst>
          </p:cNvPr>
          <p:cNvSpPr>
            <a:spLocks xmlns:a="http://schemas.openxmlformats.org/drawingml/2006/main" noGrp="1"/>
          </p:cNvSpPr>
          <p:nvPr/>
        </p:nvSpPr>
        <p:spPr>
          <a:xfrm xmlns:a="http://schemas.openxmlformats.org/drawingml/2006/main">
            <a:off x="621030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FF8A34"/>
                </a:solidFill>
                <a:latin typeface="DejaVu Sans"/>
                <a:ea typeface="DejaVu Sans"/>
                <a:cs typeface="DejaVu Sans"/>
              </a:defRPr>
            </a:pPr>
            <a:r>
              <a:rPr sz="2025" b="1">
                <a:solidFill>
                  <a:srgbClr val="FF8A34"/>
                </a:solidFill>
                <a:latin typeface="DejaVu Sans"/>
                <a:ea typeface="DejaVu Sans"/>
                <a:cs typeface="DejaVu Sans"/>
              </a:rPr>
              <a:t>Human pressure points</a:t>
            </a:r>
          </a:p>
        </p:txBody>
      </p:sp>
      <p:sp>
        <p:nvSpPr>
          <p:cNvPr id="10" name="">
            <a:extLst xmlns:a="http://schemas.openxmlformats.org/drawingml/2006/main">
              <a:ext uri="{FF2B5EF4-FFF2-40B4-BE49-F238E27FC236}">
                <a16:creationId xmlns:a16="http://schemas.microsoft.com/office/drawing/2014/main" id="{B85D1D40-6E3C-4F93-A90C-8C0EC21495ED}"/>
              </a:ext>
            </a:extLst>
          </p:cNvPr>
          <p:cNvSpPr>
            <a:spLocks xmlns:a="http://schemas.openxmlformats.org/drawingml/2006/main" noGrp="1"/>
          </p:cNvSpPr>
          <p:nvPr/>
        </p:nvSpPr>
        <p:spPr>
          <a:xfrm xmlns:a="http://schemas.openxmlformats.org/drawingml/2006/main">
            <a:off x="714375"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A believable message costs very little to send</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Public information helps attackers personalize the story</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Mobile screens hide complete addresses and long URLs</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A compromised real account can make the message look normal</a:t>
            </a:r>
          </a:p>
        </p:txBody>
      </p:sp>
      <p:sp>
        <p:nvSpPr>
          <p:cNvPr id="11" name="">
            <a:extLst xmlns:a="http://schemas.openxmlformats.org/drawingml/2006/main">
              <a:ext uri="{FF2B5EF4-FFF2-40B4-BE49-F238E27FC236}">
                <a16:creationId xmlns:a16="http://schemas.microsoft.com/office/drawing/2014/main" id="{77583635-4AF5-4B33-BEB3-FE40F06F8355}"/>
              </a:ext>
            </a:extLst>
          </p:cNvPr>
          <p:cNvSpPr>
            <a:spLocks xmlns:a="http://schemas.openxmlformats.org/drawingml/2006/main" noGrp="1"/>
          </p:cNvSpPr>
          <p:nvPr/>
        </p:nvSpPr>
        <p:spPr>
          <a:xfrm xmlns:a="http://schemas.openxmlformats.org/drawingml/2006/main">
            <a:off x="6191250"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People respond quickly when work appears urgent</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Employees often trust familiar names and logos</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Fear and curiosity reduce careful checking</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Authority can pressure staff to bypass normal procedure</a:t>
            </a:r>
          </a:p>
        </p:txBody>
      </p:sp>
    </p:spTree>
    <p:extLst>
      <p:ext uri="{BB962C8B-B14F-4D97-AF65-F5344CB8AC3E}">
        <p14:creationId xmlns:p14="http://schemas.microsoft.com/office/powerpoint/2010/main" val="1839638262"/>
      </p:ext>
    </p:extLst>
  </p:cSld>
</p:sld>
</file>

<file path=ppt/slides/slide5.xml><?xml version="1.0" encoding="utf-8"?>
<p:sld xmlns:p="http://schemas.openxmlformats.org/presentationml/2006/main">
  <p:cSld>
    <p:bg>
      <p:bgPr>
        <a:solidFill xmlns:a="http://schemas.openxmlformats.org/drawingml/2006/main">
          <a:srgbClr val="081A2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19703DE-D7A0-473C-A198-DD289F2373D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CC8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30116A-36C7-40F7-9975-3CF4D891C224}"/>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A8F1EF"/>
                </a:solidFill>
                <a:latin typeface="DejaVu Sans"/>
                <a:ea typeface="DejaVu Sans"/>
                <a:cs typeface="DejaVu Sans"/>
              </a:defRPr>
            </a:pPr>
            <a:r>
              <a:rPr sz="1125" b="1">
                <a:solidFill>
                  <a:srgbClr val="A8F1EF"/>
                </a:solidFill>
                <a:latin typeface="DejaVu Sans"/>
                <a:ea typeface="DejaVu Sans"/>
                <a:cs typeface="DejaVu Sans"/>
              </a:rPr>
              <a:t>MODULE 1</a:t>
            </a:r>
          </a:p>
        </p:txBody>
      </p:sp>
      <p:sp>
        <p:nvSpPr>
          <p:cNvPr id="3" name="">
            <a:extLst xmlns:a="http://schemas.openxmlformats.org/drawingml/2006/main">
              <a:ext uri="{FF2B5EF4-FFF2-40B4-BE49-F238E27FC236}">
                <a16:creationId xmlns:a16="http://schemas.microsoft.com/office/drawing/2014/main" id="{84AD0434-56B8-4E8E-BCA5-05307702A184}"/>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A8F1EF"/>
                </a:solidFill>
                <a:latin typeface="DejaVu Sans"/>
                <a:ea typeface="DejaVu Sans"/>
                <a:cs typeface="DejaVu Sans"/>
              </a:defRPr>
            </a:pPr>
            <a:r>
              <a:rPr sz="1050" b="1">
                <a:solidFill>
                  <a:srgbClr val="A8F1EF"/>
                </a:solidFill>
                <a:latin typeface="DejaVu Sans"/>
                <a:ea typeface="DejaVu Sans"/>
                <a:cs typeface="DejaVu Sans"/>
              </a:rPr>
              <a:t>05</a:t>
            </a:r>
          </a:p>
        </p:txBody>
      </p:sp>
      <p:sp>
        <p:nvSpPr>
          <p:cNvPr id="4" name="">
            <a:extLst xmlns:a="http://schemas.openxmlformats.org/drawingml/2006/main">
              <a:ext uri="{FF2B5EF4-FFF2-40B4-BE49-F238E27FC236}">
                <a16:creationId xmlns:a16="http://schemas.microsoft.com/office/drawing/2014/main" id="{FBB6B860-6382-476A-AEDB-C21C01020CF7}"/>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1AB7AC6-E3C5-4FE5-90F5-A91A01B616B3}"/>
              </a:ext>
            </a:extLst>
          </p:cNvPr>
          <p:cNvSpPr>
            <a:spLocks xmlns:a="http://schemas.openxmlformats.org/drawingml/2006/main" noGrp="1"/>
          </p:cNvSpPr>
          <p:nvPr/>
        </p:nvSpPr>
        <p:spPr>
          <a:xfrm xmlns:a="http://schemas.openxmlformats.org/drawingml/2006/main">
            <a:off x="495300" y="1047750"/>
            <a:ext cx="1238250" cy="76200"/>
          </a:xfrm>
          <a:prstGeom xmlns:a="http://schemas.openxmlformats.org/drawingml/2006/main" prst="rect">
            <a:avLst/>
          </a:prstGeom>
          <a:solidFill xmlns:a="http://schemas.openxmlformats.org/drawingml/2006/main">
            <a:srgbClr val="1CC8C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44A2E87-0FE4-4DD2-90C0-97F0FEEEEAA7}"/>
              </a:ext>
            </a:extLst>
          </p:cNvPr>
          <p:cNvSpPr>
            <a:spLocks xmlns:a="http://schemas.openxmlformats.org/drawingml/2006/main" noGrp="1"/>
          </p:cNvSpPr>
          <p:nvPr/>
        </p:nvSpPr>
        <p:spPr>
          <a:xfrm xmlns:a="http://schemas.openxmlformats.org/drawingml/2006/main">
            <a:off x="495300" y="1428750"/>
            <a:ext cx="1028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Phishing awareness</a:t>
            </a:r>
          </a:p>
        </p:txBody>
      </p:sp>
      <p:sp>
        <p:nvSpPr>
          <p:cNvPr id="7" name="">
            <a:extLst xmlns:a="http://schemas.openxmlformats.org/drawingml/2006/main">
              <a:ext uri="{FF2B5EF4-FFF2-40B4-BE49-F238E27FC236}">
                <a16:creationId xmlns:a16="http://schemas.microsoft.com/office/drawing/2014/main" id="{3841413A-940B-460C-B168-D829A206F577}"/>
              </a:ext>
            </a:extLst>
          </p:cNvPr>
          <p:cNvSpPr>
            <a:spLocks xmlns:a="http://schemas.openxmlformats.org/drawingml/2006/main" noGrp="1"/>
          </p:cNvSpPr>
          <p:nvPr/>
        </p:nvSpPr>
        <p:spPr>
          <a:xfrm xmlns:a="http://schemas.openxmlformats.org/drawingml/2006/main">
            <a:off x="514350" y="3190875"/>
            <a:ext cx="9334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100" b="0">
                <a:solidFill>
                  <a:srgbClr val="A8F1EF"/>
                </a:solidFill>
                <a:latin typeface="DejaVu Sans"/>
                <a:ea typeface="DejaVu Sans"/>
                <a:cs typeface="DejaVu Sans"/>
              </a:defRPr>
            </a:pPr>
            <a:r>
              <a:rPr sz="2100" b="0">
                <a:solidFill>
                  <a:srgbClr val="A8F1EF"/>
                </a:solidFill>
                <a:latin typeface="DejaVu Sans"/>
                <a:ea typeface="DejaVu Sans"/>
                <a:cs typeface="DejaVu Sans"/>
              </a:rPr>
              <a:t>How attackers deliver messages, choose targets and convert attention into unsafe action</a:t>
            </a:r>
          </a:p>
        </p:txBody>
      </p:sp>
      <p:sp>
        <p:nvSpPr>
          <p:cNvPr id="8" name="">
            <a:extLst xmlns:a="http://schemas.openxmlformats.org/drawingml/2006/main">
              <a:ext uri="{FF2B5EF4-FFF2-40B4-BE49-F238E27FC236}">
                <a16:creationId xmlns:a16="http://schemas.microsoft.com/office/drawing/2014/main" id="{4244167F-45E3-4BBF-BEF2-24CD079BACCE}"/>
              </a:ext>
            </a:extLst>
          </p:cNvPr>
          <p:cNvSpPr>
            <a:spLocks xmlns:a="http://schemas.openxmlformats.org/drawingml/2006/main" noGrp="1"/>
          </p:cNvSpPr>
          <p:nvPr/>
        </p:nvSpPr>
        <p:spPr>
          <a:xfrm xmlns:a="http://schemas.openxmlformats.org/drawingml/2006/main">
            <a:off x="10001250" y="1428750"/>
            <a:ext cx="1143000" cy="1143000"/>
          </a:xfrm>
          <a:prstGeom xmlns:a="http://schemas.openxmlformats.org/drawingml/2006/main" prst="ellipse">
            <a:avLst/>
          </a:prstGeom>
          <a:noFill xmlns:a="http://schemas.openxmlformats.org/drawingml/2006/main"/>
          <a:ln xmlns:a="http://schemas.openxmlformats.org/drawingml/2006/main" w="9525">
            <a:solidFill>
              <a:srgbClr val="1CC8C8"/>
            </a:solidFill>
          </a:ln>
        </p:spPr>
      </p:sp>
      <p:sp>
        <p:nvSpPr>
          <p:cNvPr id="9" name="">
            <a:extLst xmlns:a="http://schemas.openxmlformats.org/drawingml/2006/main">
              <a:ext uri="{FF2B5EF4-FFF2-40B4-BE49-F238E27FC236}">
                <a16:creationId xmlns:a16="http://schemas.microsoft.com/office/drawing/2014/main" id="{A59AA2C7-9F82-4631-81D1-277903E507ED}"/>
              </a:ext>
            </a:extLst>
          </p:cNvPr>
          <p:cNvSpPr>
            <a:spLocks xmlns:a="http://schemas.openxmlformats.org/drawingml/2006/main" noGrp="1"/>
          </p:cNvSpPr>
          <p:nvPr/>
        </p:nvSpPr>
        <p:spPr>
          <a:xfrm xmlns:a="http://schemas.openxmlformats.org/drawingml/2006/main">
            <a:off x="10001250" y="1428750"/>
            <a:ext cx="114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3300" b="1">
                <a:solidFill>
                  <a:srgbClr val="1CC8C8"/>
                </a:solidFill>
                <a:latin typeface="DejaVu Sans"/>
                <a:ea typeface="DejaVu Sans"/>
                <a:cs typeface="DejaVu Sans"/>
              </a:defRPr>
            </a:pPr>
            <a:r>
              <a:rPr sz="3300" b="1">
                <a:solidFill>
                  <a:srgbClr val="1CC8C8"/>
                </a:solidFill>
                <a:latin typeface="DejaVu Sans"/>
                <a:ea typeface="DejaVu Sans"/>
                <a:cs typeface="DejaVu Sans"/>
              </a:rPr>
              <a:t>5</a:t>
            </a:r>
          </a:p>
        </p:txBody>
      </p:sp>
    </p:spTree>
    <p:extLst>
      <p:ext uri="{BB962C8B-B14F-4D97-AF65-F5344CB8AC3E}">
        <p14:creationId xmlns:p14="http://schemas.microsoft.com/office/powerpoint/2010/main" val="71240957"/>
      </p:ext>
    </p:extLst>
  </p:cSld>
</p:sld>
</file>

<file path=ppt/slides/slide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07FFE17-5F93-4513-8AEE-C59E5BF87C6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0F8BB8-AB89-4CB3-926D-580EBBCF7E37}"/>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PHISHING AWARENESS</a:t>
            </a:r>
          </a:p>
        </p:txBody>
      </p:sp>
      <p:sp>
        <p:nvSpPr>
          <p:cNvPr id="3" name="">
            <a:extLst xmlns:a="http://schemas.openxmlformats.org/drawingml/2006/main">
              <a:ext uri="{FF2B5EF4-FFF2-40B4-BE49-F238E27FC236}">
                <a16:creationId xmlns:a16="http://schemas.microsoft.com/office/drawing/2014/main" id="{462314E8-A7E3-4A55-B8F2-F960251E8E03}"/>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06</a:t>
            </a:r>
          </a:p>
        </p:txBody>
      </p:sp>
      <p:sp>
        <p:nvSpPr>
          <p:cNvPr id="4" name="">
            <a:extLst xmlns:a="http://schemas.openxmlformats.org/drawingml/2006/main">
              <a:ext uri="{FF2B5EF4-FFF2-40B4-BE49-F238E27FC236}">
                <a16:creationId xmlns:a16="http://schemas.microsoft.com/office/drawing/2014/main" id="{C782A67C-05C3-416D-B6BB-9C927DF6C635}"/>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A1CEADC-EAD8-4568-AA99-54156C424F2B}"/>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What is phishing?</a:t>
            </a:r>
          </a:p>
        </p:txBody>
      </p:sp>
      <p:sp>
        <p:nvSpPr>
          <p:cNvPr id="6" name="">
            <a:extLst xmlns:a="http://schemas.openxmlformats.org/drawingml/2006/main">
              <a:ext uri="{FF2B5EF4-FFF2-40B4-BE49-F238E27FC236}">
                <a16:creationId xmlns:a16="http://schemas.microsoft.com/office/drawing/2014/main" id="{DD05338E-8D1D-4021-97FD-84C12BE514BE}"/>
              </a:ext>
            </a:extLst>
          </p:cNvPr>
          <p:cNvSpPr>
            <a:spLocks xmlns:a="http://schemas.openxmlformats.org/drawingml/2006/main" noGrp="1"/>
          </p:cNvSpPr>
          <p:nvPr/>
        </p:nvSpPr>
        <p:spPr>
          <a:xfrm xmlns:a="http://schemas.openxmlformats.org/drawingml/2006/main">
            <a:off x="857250" y="1619250"/>
            <a:ext cx="10477500" cy="9144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16661D8-533B-4352-8B05-4A63448BEF8E}"/>
              </a:ext>
            </a:extLst>
          </p:cNvPr>
          <p:cNvSpPr>
            <a:spLocks xmlns:a="http://schemas.openxmlformats.org/drawingml/2006/main" noGrp="1"/>
          </p:cNvSpPr>
          <p:nvPr/>
        </p:nvSpPr>
        <p:spPr>
          <a:xfrm xmlns:a="http://schemas.openxmlformats.org/drawingml/2006/main">
            <a:off x="1028700" y="1714500"/>
            <a:ext cx="1013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5238"/>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A fraudulent message that impersonates a trusted source and requests an unsafe action</a:t>
            </a:r>
          </a:p>
        </p:txBody>
      </p:sp>
      <p:sp>
        <p:nvSpPr>
          <p:cNvPr id="8" name="">
            <a:extLst xmlns:a="http://schemas.openxmlformats.org/drawingml/2006/main">
              <a:ext uri="{FF2B5EF4-FFF2-40B4-BE49-F238E27FC236}">
                <a16:creationId xmlns:a16="http://schemas.microsoft.com/office/drawing/2014/main" id="{817A2BC7-D8B6-46D6-9E22-8FD73077D1E4}"/>
              </a:ext>
            </a:extLst>
          </p:cNvPr>
          <p:cNvSpPr>
            <a:spLocks xmlns:a="http://schemas.openxmlformats.org/drawingml/2006/main" noGrp="1"/>
          </p:cNvSpPr>
          <p:nvPr/>
        </p:nvSpPr>
        <p:spPr>
          <a:xfrm xmlns:a="http://schemas.openxmlformats.org/drawingml/2006/main">
            <a:off x="495300" y="2876550"/>
            <a:ext cx="5238750" cy="2857500"/>
          </a:xfrm>
          <a:prstGeom xmlns:a="http://schemas.openxmlformats.org/drawingml/2006/main" prst="rect">
            <a:avLst/>
          </a:prstGeom>
          <a:solidFill xmlns:a="http://schemas.openxmlformats.org/drawingml/2006/main">
            <a:srgbClr val="EAF2F5"/>
          </a:solidFill>
          <a:ln xmlns:a="http://schemas.openxmlformats.org/drawingml/2006/main" w="9525">
            <a:solidFill>
              <a:srgbClr val="DCE8ED"/>
            </a:solidFill>
          </a:ln>
        </p:spPr>
      </p:sp>
      <p:sp>
        <p:nvSpPr>
          <p:cNvPr id="9" name="">
            <a:extLst xmlns:a="http://schemas.openxmlformats.org/drawingml/2006/main">
              <a:ext uri="{FF2B5EF4-FFF2-40B4-BE49-F238E27FC236}">
                <a16:creationId xmlns:a16="http://schemas.microsoft.com/office/drawing/2014/main" id="{2EB1D19A-2849-4513-9890-14BE35A3D305}"/>
              </a:ext>
            </a:extLst>
          </p:cNvPr>
          <p:cNvSpPr>
            <a:spLocks xmlns:a="http://schemas.openxmlformats.org/drawingml/2006/main" noGrp="1"/>
          </p:cNvSpPr>
          <p:nvPr/>
        </p:nvSpPr>
        <p:spPr>
          <a:xfrm xmlns:a="http://schemas.openxmlformats.org/drawingml/2006/main">
            <a:off x="5962650" y="2876550"/>
            <a:ext cx="5238750" cy="2857500"/>
          </a:xfrm>
          <a:prstGeom xmlns:a="http://schemas.openxmlformats.org/drawingml/2006/main" prst="rect">
            <a:avLst/>
          </a:prstGeom>
          <a:solidFill xmlns:a="http://schemas.openxmlformats.org/drawingml/2006/main">
            <a:srgbClr val="EAF2F5"/>
          </a:solidFill>
          <a:ln xmlns:a="http://schemas.openxmlformats.org/drawingml/2006/main" w="9525">
            <a:solidFill>
              <a:srgbClr val="DCE8ED"/>
            </a:solidFill>
          </a:ln>
        </p:spPr>
      </p:sp>
      <p:sp>
        <p:nvSpPr>
          <p:cNvPr id="10" name="">
            <a:extLst xmlns:a="http://schemas.openxmlformats.org/drawingml/2006/main">
              <a:ext uri="{FF2B5EF4-FFF2-40B4-BE49-F238E27FC236}">
                <a16:creationId xmlns:a16="http://schemas.microsoft.com/office/drawing/2014/main" id="{64560B93-03D8-44AC-88D7-252CB305CA8A}"/>
              </a:ext>
            </a:extLst>
          </p:cNvPr>
          <p:cNvSpPr>
            <a:spLocks xmlns:a="http://schemas.openxmlformats.org/drawingml/2006/main" noGrp="1"/>
          </p:cNvSpPr>
          <p:nvPr/>
        </p:nvSpPr>
        <p:spPr>
          <a:xfrm xmlns:a="http://schemas.openxmlformats.org/drawingml/2006/main">
            <a:off x="742950" y="30670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2F80ED"/>
                </a:solidFill>
                <a:latin typeface="DejaVu Sans"/>
                <a:ea typeface="DejaVu Sans"/>
                <a:cs typeface="DejaVu Sans"/>
              </a:defRPr>
            </a:pPr>
            <a:r>
              <a:rPr sz="2025" b="1">
                <a:solidFill>
                  <a:srgbClr val="2F80ED"/>
                </a:solidFill>
                <a:latin typeface="DejaVu Sans"/>
                <a:ea typeface="DejaVu Sans"/>
                <a:cs typeface="DejaVu Sans"/>
              </a:rPr>
              <a:t>Attacker requests</a:t>
            </a:r>
          </a:p>
        </p:txBody>
      </p:sp>
      <p:sp>
        <p:nvSpPr>
          <p:cNvPr id="11" name="">
            <a:extLst xmlns:a="http://schemas.openxmlformats.org/drawingml/2006/main">
              <a:ext uri="{FF2B5EF4-FFF2-40B4-BE49-F238E27FC236}">
                <a16:creationId xmlns:a16="http://schemas.microsoft.com/office/drawing/2014/main" id="{D74DCA4D-79E8-43A0-B63E-7B08529AE6F6}"/>
              </a:ext>
            </a:extLst>
          </p:cNvPr>
          <p:cNvSpPr>
            <a:spLocks xmlns:a="http://schemas.openxmlformats.org/drawingml/2006/main" noGrp="1"/>
          </p:cNvSpPr>
          <p:nvPr/>
        </p:nvSpPr>
        <p:spPr>
          <a:xfrm xmlns:a="http://schemas.openxmlformats.org/drawingml/2006/main">
            <a:off x="6210300" y="30670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FF8A34"/>
                </a:solidFill>
                <a:latin typeface="DejaVu Sans"/>
                <a:ea typeface="DejaVu Sans"/>
                <a:cs typeface="DejaVu Sans"/>
              </a:defRPr>
            </a:pPr>
            <a:r>
              <a:rPr sz="2025" b="1">
                <a:solidFill>
                  <a:srgbClr val="FF8A34"/>
                </a:solidFill>
                <a:latin typeface="DejaVu Sans"/>
                <a:ea typeface="DejaVu Sans"/>
                <a:cs typeface="DejaVu Sans"/>
              </a:rPr>
              <a:t>Attacker objectives</a:t>
            </a:r>
          </a:p>
        </p:txBody>
      </p:sp>
      <p:sp>
        <p:nvSpPr>
          <p:cNvPr id="12" name="">
            <a:extLst xmlns:a="http://schemas.openxmlformats.org/drawingml/2006/main">
              <a:ext uri="{FF2B5EF4-FFF2-40B4-BE49-F238E27FC236}">
                <a16:creationId xmlns:a16="http://schemas.microsoft.com/office/drawing/2014/main" id="{3276E200-E939-4D0D-BFA9-6669FF9B49A2}"/>
              </a:ext>
            </a:extLst>
          </p:cNvPr>
          <p:cNvSpPr>
            <a:spLocks xmlns:a="http://schemas.openxmlformats.org/drawingml/2006/main" noGrp="1"/>
          </p:cNvSpPr>
          <p:nvPr/>
        </p:nvSpPr>
        <p:spPr>
          <a:xfrm xmlns:a="http://schemas.openxmlformats.org/drawingml/2006/main">
            <a:off x="714375" y="363855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Open a link</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Reveal a password or OTP</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Open an attachment</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Approve a payment</a:t>
            </a:r>
          </a:p>
        </p:txBody>
      </p:sp>
      <p:sp>
        <p:nvSpPr>
          <p:cNvPr id="13" name="">
            <a:extLst xmlns:a="http://schemas.openxmlformats.org/drawingml/2006/main">
              <a:ext uri="{FF2B5EF4-FFF2-40B4-BE49-F238E27FC236}">
                <a16:creationId xmlns:a16="http://schemas.microsoft.com/office/drawing/2014/main" id="{79E34A26-4FE8-4ED7-B307-6F4A4F80D383}"/>
              </a:ext>
            </a:extLst>
          </p:cNvPr>
          <p:cNvSpPr>
            <a:spLocks xmlns:a="http://schemas.openxmlformats.org/drawingml/2006/main" noGrp="1"/>
          </p:cNvSpPr>
          <p:nvPr/>
        </p:nvSpPr>
        <p:spPr>
          <a:xfrm xmlns:a="http://schemas.openxmlformats.org/drawingml/2006/main">
            <a:off x="6191250" y="363855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Credential theft</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Malware delivery</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Financial fraud</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Unauthorized access</a:t>
            </a:r>
          </a:p>
        </p:txBody>
      </p:sp>
    </p:spTree>
    <p:extLst>
      <p:ext uri="{BB962C8B-B14F-4D97-AF65-F5344CB8AC3E}">
        <p14:creationId xmlns:p14="http://schemas.microsoft.com/office/powerpoint/2010/main" val="1560002410"/>
      </p:ext>
    </p:extLst>
  </p:cSld>
</p:sld>
</file>

<file path=ppt/slides/slide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07CEFFF-0832-4A1D-A9CD-FC39CA143E09}"/>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65E68B-9303-4E2E-91A1-4CF4C6AB48B8}"/>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PHISHING AWARENESS</a:t>
            </a:r>
          </a:p>
        </p:txBody>
      </p:sp>
      <p:sp>
        <p:nvSpPr>
          <p:cNvPr id="3" name="">
            <a:extLst xmlns:a="http://schemas.openxmlformats.org/drawingml/2006/main">
              <a:ext uri="{FF2B5EF4-FFF2-40B4-BE49-F238E27FC236}">
                <a16:creationId xmlns:a16="http://schemas.microsoft.com/office/drawing/2014/main" id="{3FDDD928-92E3-488C-8222-51AFFE80D9D0}"/>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07</a:t>
            </a:r>
          </a:p>
        </p:txBody>
      </p:sp>
      <p:sp>
        <p:nvSpPr>
          <p:cNvPr id="4" name="">
            <a:extLst xmlns:a="http://schemas.openxmlformats.org/drawingml/2006/main">
              <a:ext uri="{FF2B5EF4-FFF2-40B4-BE49-F238E27FC236}">
                <a16:creationId xmlns:a16="http://schemas.microsoft.com/office/drawing/2014/main" id="{8C246274-1410-48B8-9E06-16EF82B7F93C}"/>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40DB42-0F9D-4CE7-B5AD-C3BCABC27B51}"/>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The phishing attack sequence</a:t>
            </a:r>
          </a:p>
        </p:txBody>
      </p:sp>
      <p:sp>
        <p:nvSpPr>
          <p:cNvPr id="6" name="">
            <a:extLst xmlns:a="http://schemas.openxmlformats.org/drawingml/2006/main">
              <a:ext uri="{FF2B5EF4-FFF2-40B4-BE49-F238E27FC236}">
                <a16:creationId xmlns:a16="http://schemas.microsoft.com/office/drawing/2014/main" id="{509D904F-27C7-48BD-932A-1172EE2CE6DA}"/>
              </a:ext>
            </a:extLst>
          </p:cNvPr>
          <p:cNvSpPr>
            <a:spLocks xmlns:a="http://schemas.openxmlformats.org/drawingml/2006/main" noGrp="1"/>
          </p:cNvSpPr>
          <p:nvPr/>
        </p:nvSpPr>
        <p:spPr>
          <a:xfrm xmlns:a="http://schemas.openxmlformats.org/drawingml/2006/main">
            <a:off x="552450" y="2143125"/>
            <a:ext cx="2538413"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FEC9D058-E2F5-41C4-A27D-30400FA8EB36}"/>
              </a:ext>
            </a:extLst>
          </p:cNvPr>
          <p:cNvSpPr>
            <a:spLocks xmlns:a="http://schemas.openxmlformats.org/drawingml/2006/main" noGrp="1"/>
          </p:cNvSpPr>
          <p:nvPr/>
        </p:nvSpPr>
        <p:spPr>
          <a:xfrm xmlns:a="http://schemas.openxmlformats.org/drawingml/2006/main">
            <a:off x="723900" y="2295525"/>
            <a:ext cx="400050" cy="400050"/>
          </a:xfrm>
          <a:prstGeom xmlns:a="http://schemas.openxmlformats.org/drawingml/2006/main" prst="rect">
            <a:avLst/>
          </a:prstGeom>
          <a:solidFill xmlns:a="http://schemas.openxmlformats.org/drawingml/2006/main">
            <a:srgbClr val="FF8A34"/>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F0E12049-065A-44B9-8F33-45722BDF94FB}"/>
              </a:ext>
            </a:extLst>
          </p:cNvPr>
          <p:cNvSpPr>
            <a:spLocks xmlns:a="http://schemas.openxmlformats.org/drawingml/2006/main" noGrp="1"/>
          </p:cNvSpPr>
          <p:nvPr/>
        </p:nvSpPr>
        <p:spPr>
          <a:xfrm xmlns:a="http://schemas.openxmlformats.org/drawingml/2006/main">
            <a:off x="723900" y="2809875"/>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Research</a:t>
            </a:r>
          </a:p>
        </p:txBody>
      </p:sp>
      <p:sp>
        <p:nvSpPr>
          <p:cNvPr id="9" name="">
            <a:extLst xmlns:a="http://schemas.openxmlformats.org/drawingml/2006/main">
              <a:ext uri="{FF2B5EF4-FFF2-40B4-BE49-F238E27FC236}">
                <a16:creationId xmlns:a16="http://schemas.microsoft.com/office/drawing/2014/main" id="{50480601-CD39-47B4-B081-C5C9A886F20E}"/>
              </a:ext>
            </a:extLst>
          </p:cNvPr>
          <p:cNvSpPr>
            <a:spLocks xmlns:a="http://schemas.openxmlformats.org/drawingml/2006/main" noGrp="1"/>
          </p:cNvSpPr>
          <p:nvPr/>
        </p:nvSpPr>
        <p:spPr>
          <a:xfrm xmlns:a="http://schemas.openxmlformats.org/drawingml/2006/main">
            <a:off x="723900" y="3209925"/>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607385"/>
                </a:solidFill>
                <a:latin typeface="DejaVu Sans"/>
                <a:ea typeface="DejaVu Sans"/>
                <a:cs typeface="DejaVu Sans"/>
              </a:defRPr>
            </a:pPr>
            <a:r>
              <a:rPr sz="1275" b="0">
                <a:solidFill>
                  <a:srgbClr val="607385"/>
                </a:solidFill>
                <a:latin typeface="DejaVu Sans"/>
                <a:ea typeface="DejaVu Sans"/>
                <a:cs typeface="DejaVu Sans"/>
              </a:rPr>
              <a:t>Names, roles and current activity</a:t>
            </a:r>
          </a:p>
        </p:txBody>
      </p:sp>
      <p:sp>
        <p:nvSpPr>
          <p:cNvPr id="10" name="">
            <a:extLst xmlns:a="http://schemas.openxmlformats.org/drawingml/2006/main">
              <a:ext uri="{FF2B5EF4-FFF2-40B4-BE49-F238E27FC236}">
                <a16:creationId xmlns:a16="http://schemas.microsoft.com/office/drawing/2014/main" id="{0CE17A85-7E8D-4A67-B6D7-84515C6B7440}"/>
              </a:ext>
            </a:extLst>
          </p:cNvPr>
          <p:cNvSpPr>
            <a:spLocks xmlns:a="http://schemas.openxmlformats.org/drawingml/2006/main" noGrp="1"/>
          </p:cNvSpPr>
          <p:nvPr/>
        </p:nvSpPr>
        <p:spPr>
          <a:xfrm xmlns:a="http://schemas.openxmlformats.org/drawingml/2006/main">
            <a:off x="3262313" y="2143125"/>
            <a:ext cx="2538413"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11" name="">
            <a:extLst xmlns:a="http://schemas.openxmlformats.org/drawingml/2006/main">
              <a:ext uri="{FF2B5EF4-FFF2-40B4-BE49-F238E27FC236}">
                <a16:creationId xmlns:a16="http://schemas.microsoft.com/office/drawing/2014/main" id="{26C75E47-B79B-47DA-AFAC-2F98C1852FD6}"/>
              </a:ext>
            </a:extLst>
          </p:cNvPr>
          <p:cNvSpPr>
            <a:spLocks xmlns:a="http://schemas.openxmlformats.org/drawingml/2006/main" noGrp="1"/>
          </p:cNvSpPr>
          <p:nvPr/>
        </p:nvSpPr>
        <p:spPr>
          <a:xfrm xmlns:a="http://schemas.openxmlformats.org/drawingml/2006/main">
            <a:off x="3433763" y="2295525"/>
            <a:ext cx="400050" cy="400050"/>
          </a:xfrm>
          <a:prstGeom xmlns:a="http://schemas.openxmlformats.org/drawingml/2006/main" prst="rect">
            <a:avLst/>
          </a:prstGeom>
          <a:solidFill xmlns:a="http://schemas.openxmlformats.org/drawingml/2006/main">
            <a:srgbClr val="FF8A34"/>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2</a:t>
            </a:r>
          </a:p>
        </p:txBody>
      </p:sp>
      <p:sp>
        <p:nvSpPr>
          <p:cNvPr id="12" name="">
            <a:extLst xmlns:a="http://schemas.openxmlformats.org/drawingml/2006/main">
              <a:ext uri="{FF2B5EF4-FFF2-40B4-BE49-F238E27FC236}">
                <a16:creationId xmlns:a16="http://schemas.microsoft.com/office/drawing/2014/main" id="{5A0AFF2A-156F-4EA1-AC03-1D4EF6984015}"/>
              </a:ext>
            </a:extLst>
          </p:cNvPr>
          <p:cNvSpPr>
            <a:spLocks xmlns:a="http://schemas.openxmlformats.org/drawingml/2006/main" noGrp="1"/>
          </p:cNvSpPr>
          <p:nvPr/>
        </p:nvSpPr>
        <p:spPr>
          <a:xfrm xmlns:a="http://schemas.openxmlformats.org/drawingml/2006/main">
            <a:off x="3433763" y="2809875"/>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Lure</a:t>
            </a:r>
          </a:p>
        </p:txBody>
      </p:sp>
      <p:sp>
        <p:nvSpPr>
          <p:cNvPr id="13" name="">
            <a:extLst xmlns:a="http://schemas.openxmlformats.org/drawingml/2006/main">
              <a:ext uri="{FF2B5EF4-FFF2-40B4-BE49-F238E27FC236}">
                <a16:creationId xmlns:a16="http://schemas.microsoft.com/office/drawing/2014/main" id="{86DB75C5-EB2E-4653-AE38-CDD7FDB53A5F}"/>
              </a:ext>
            </a:extLst>
          </p:cNvPr>
          <p:cNvSpPr>
            <a:spLocks xmlns:a="http://schemas.openxmlformats.org/drawingml/2006/main" noGrp="1"/>
          </p:cNvSpPr>
          <p:nvPr/>
        </p:nvSpPr>
        <p:spPr>
          <a:xfrm xmlns:a="http://schemas.openxmlformats.org/drawingml/2006/main">
            <a:off x="3433763" y="3209925"/>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607385"/>
                </a:solidFill>
                <a:latin typeface="DejaVu Sans"/>
                <a:ea typeface="DejaVu Sans"/>
                <a:cs typeface="DejaVu Sans"/>
              </a:defRPr>
            </a:pPr>
            <a:r>
              <a:rPr sz="1275" b="0">
                <a:solidFill>
                  <a:srgbClr val="607385"/>
                </a:solidFill>
                <a:latin typeface="DejaVu Sans"/>
                <a:ea typeface="DejaVu Sans"/>
                <a:cs typeface="DejaVu Sans"/>
              </a:rPr>
              <a:t>A believable message or request</a:t>
            </a:r>
          </a:p>
        </p:txBody>
      </p:sp>
      <p:sp>
        <p:nvSpPr>
          <p:cNvPr id="14" name="">
            <a:extLst xmlns:a="http://schemas.openxmlformats.org/drawingml/2006/main">
              <a:ext uri="{FF2B5EF4-FFF2-40B4-BE49-F238E27FC236}">
                <a16:creationId xmlns:a16="http://schemas.microsoft.com/office/drawing/2014/main" id="{D813ED30-AD18-4A9F-ACB4-01A7647574D9}"/>
              </a:ext>
            </a:extLst>
          </p:cNvPr>
          <p:cNvSpPr>
            <a:spLocks xmlns:a="http://schemas.openxmlformats.org/drawingml/2006/main" noGrp="1"/>
          </p:cNvSpPr>
          <p:nvPr/>
        </p:nvSpPr>
        <p:spPr>
          <a:xfrm xmlns:a="http://schemas.openxmlformats.org/drawingml/2006/main">
            <a:off x="5972175" y="2143125"/>
            <a:ext cx="2538413"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15" name="">
            <a:extLst xmlns:a="http://schemas.openxmlformats.org/drawingml/2006/main">
              <a:ext uri="{FF2B5EF4-FFF2-40B4-BE49-F238E27FC236}">
                <a16:creationId xmlns:a16="http://schemas.microsoft.com/office/drawing/2014/main" id="{23081901-B489-462F-BD8B-90EDFD2F80F3}"/>
              </a:ext>
            </a:extLst>
          </p:cNvPr>
          <p:cNvSpPr>
            <a:spLocks xmlns:a="http://schemas.openxmlformats.org/drawingml/2006/main" noGrp="1"/>
          </p:cNvSpPr>
          <p:nvPr/>
        </p:nvSpPr>
        <p:spPr>
          <a:xfrm xmlns:a="http://schemas.openxmlformats.org/drawingml/2006/main">
            <a:off x="6143625" y="2295525"/>
            <a:ext cx="400050" cy="400050"/>
          </a:xfrm>
          <a:prstGeom xmlns:a="http://schemas.openxmlformats.org/drawingml/2006/main" prst="rect">
            <a:avLst/>
          </a:prstGeom>
          <a:solidFill xmlns:a="http://schemas.openxmlformats.org/drawingml/2006/main">
            <a:srgbClr val="FF8A34"/>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3</a:t>
            </a:r>
          </a:p>
        </p:txBody>
      </p:sp>
      <p:sp>
        <p:nvSpPr>
          <p:cNvPr id="16" name="">
            <a:extLst xmlns:a="http://schemas.openxmlformats.org/drawingml/2006/main">
              <a:ext uri="{FF2B5EF4-FFF2-40B4-BE49-F238E27FC236}">
                <a16:creationId xmlns:a16="http://schemas.microsoft.com/office/drawing/2014/main" id="{3145F49A-A6B1-4853-A3C4-234984CBC5EA}"/>
              </a:ext>
            </a:extLst>
          </p:cNvPr>
          <p:cNvSpPr>
            <a:spLocks xmlns:a="http://schemas.openxmlformats.org/drawingml/2006/main" noGrp="1"/>
          </p:cNvSpPr>
          <p:nvPr/>
        </p:nvSpPr>
        <p:spPr>
          <a:xfrm xmlns:a="http://schemas.openxmlformats.org/drawingml/2006/main">
            <a:off x="6143625" y="2809875"/>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Action</a:t>
            </a:r>
          </a:p>
        </p:txBody>
      </p:sp>
      <p:sp>
        <p:nvSpPr>
          <p:cNvPr id="17" name="">
            <a:extLst xmlns:a="http://schemas.openxmlformats.org/drawingml/2006/main">
              <a:ext uri="{FF2B5EF4-FFF2-40B4-BE49-F238E27FC236}">
                <a16:creationId xmlns:a16="http://schemas.microsoft.com/office/drawing/2014/main" id="{47B044FE-F8CD-4F81-A8D7-CB5F73AEE4F1}"/>
              </a:ext>
            </a:extLst>
          </p:cNvPr>
          <p:cNvSpPr>
            <a:spLocks xmlns:a="http://schemas.openxmlformats.org/drawingml/2006/main" noGrp="1"/>
          </p:cNvSpPr>
          <p:nvPr/>
        </p:nvSpPr>
        <p:spPr>
          <a:xfrm xmlns:a="http://schemas.openxmlformats.org/drawingml/2006/main">
            <a:off x="6143625" y="3209925"/>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607385"/>
                </a:solidFill>
                <a:latin typeface="DejaVu Sans"/>
                <a:ea typeface="DejaVu Sans"/>
                <a:cs typeface="DejaVu Sans"/>
              </a:defRPr>
            </a:pPr>
            <a:r>
              <a:rPr sz="1275" b="0">
                <a:solidFill>
                  <a:srgbClr val="607385"/>
                </a:solidFill>
                <a:latin typeface="DejaVu Sans"/>
                <a:ea typeface="DejaVu Sans"/>
                <a:cs typeface="DejaVu Sans"/>
              </a:rPr>
              <a:t>Click, download, reply or payment</a:t>
            </a:r>
          </a:p>
        </p:txBody>
      </p:sp>
      <p:sp>
        <p:nvSpPr>
          <p:cNvPr id="18" name="">
            <a:extLst xmlns:a="http://schemas.openxmlformats.org/drawingml/2006/main">
              <a:ext uri="{FF2B5EF4-FFF2-40B4-BE49-F238E27FC236}">
                <a16:creationId xmlns:a16="http://schemas.microsoft.com/office/drawing/2014/main" id="{C4DC84CD-DC1C-4383-B1C1-3538E2964A91}"/>
              </a:ext>
            </a:extLst>
          </p:cNvPr>
          <p:cNvSpPr>
            <a:spLocks xmlns:a="http://schemas.openxmlformats.org/drawingml/2006/main" noGrp="1"/>
          </p:cNvSpPr>
          <p:nvPr/>
        </p:nvSpPr>
        <p:spPr>
          <a:xfrm xmlns:a="http://schemas.openxmlformats.org/drawingml/2006/main">
            <a:off x="8682038" y="2143125"/>
            <a:ext cx="2538413" cy="1714500"/>
          </a:xfrm>
          <a:prstGeom xmlns:a="http://schemas.openxmlformats.org/drawingml/2006/main" prst="rect">
            <a:avLst/>
          </a:prstGeom>
          <a:solidFill xmlns:a="http://schemas.openxmlformats.org/drawingml/2006/main">
            <a:srgbClr val="FF8A34"/>
          </a:solidFill>
          <a:ln xmlns:a="http://schemas.openxmlformats.org/drawingml/2006/main" w="9525">
            <a:solidFill>
              <a:srgbClr val="FF8A34"/>
            </a:solidFill>
          </a:ln>
        </p:spPr>
      </p:sp>
      <p:sp>
        <p:nvSpPr>
          <p:cNvPr id="19" name="">
            <a:extLst xmlns:a="http://schemas.openxmlformats.org/drawingml/2006/main">
              <a:ext uri="{FF2B5EF4-FFF2-40B4-BE49-F238E27FC236}">
                <a16:creationId xmlns:a16="http://schemas.microsoft.com/office/drawing/2014/main" id="{5EE5D607-4EDA-4B9B-8274-90FC92F35812}"/>
              </a:ext>
            </a:extLst>
          </p:cNvPr>
          <p:cNvSpPr>
            <a:spLocks xmlns:a="http://schemas.openxmlformats.org/drawingml/2006/main" noGrp="1"/>
          </p:cNvSpPr>
          <p:nvPr/>
        </p:nvSpPr>
        <p:spPr>
          <a:xfrm xmlns:a="http://schemas.openxmlformats.org/drawingml/2006/main">
            <a:off x="8853488" y="2295525"/>
            <a:ext cx="400050" cy="400050"/>
          </a:xfrm>
          <a:prstGeom xmlns:a="http://schemas.openxmlformats.org/drawingml/2006/main" prst="rect">
            <a:avLst/>
          </a:prstGeom>
          <a:solidFill xmlns:a="http://schemas.openxmlformats.org/drawingml/2006/main">
            <a:srgbClr val="A8F1E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4</a:t>
            </a:r>
          </a:p>
        </p:txBody>
      </p:sp>
      <p:sp>
        <p:nvSpPr>
          <p:cNvPr id="20" name="">
            <a:extLst xmlns:a="http://schemas.openxmlformats.org/drawingml/2006/main">
              <a:ext uri="{FF2B5EF4-FFF2-40B4-BE49-F238E27FC236}">
                <a16:creationId xmlns:a16="http://schemas.microsoft.com/office/drawing/2014/main" id="{E7A9500E-F637-46F9-993A-F9B15E58C838}"/>
              </a:ext>
            </a:extLst>
          </p:cNvPr>
          <p:cNvSpPr>
            <a:spLocks xmlns:a="http://schemas.openxmlformats.org/drawingml/2006/main" noGrp="1"/>
          </p:cNvSpPr>
          <p:nvPr/>
        </p:nvSpPr>
        <p:spPr>
          <a:xfrm xmlns:a="http://schemas.openxmlformats.org/drawingml/2006/main">
            <a:off x="8853488" y="2809875"/>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Impact</a:t>
            </a:r>
          </a:p>
        </p:txBody>
      </p:sp>
      <p:sp>
        <p:nvSpPr>
          <p:cNvPr id="21" name="">
            <a:extLst xmlns:a="http://schemas.openxmlformats.org/drawingml/2006/main">
              <a:ext uri="{FF2B5EF4-FFF2-40B4-BE49-F238E27FC236}">
                <a16:creationId xmlns:a16="http://schemas.microsoft.com/office/drawing/2014/main" id="{CE5E1E89-CE22-4081-83CE-239E19C317F5}"/>
              </a:ext>
            </a:extLst>
          </p:cNvPr>
          <p:cNvSpPr>
            <a:spLocks xmlns:a="http://schemas.openxmlformats.org/drawingml/2006/main" noGrp="1"/>
          </p:cNvSpPr>
          <p:nvPr/>
        </p:nvSpPr>
        <p:spPr>
          <a:xfrm xmlns:a="http://schemas.openxmlformats.org/drawingml/2006/main">
            <a:off x="8853488" y="3209925"/>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FFFFFF"/>
                </a:solidFill>
                <a:latin typeface="DejaVu Sans"/>
                <a:ea typeface="DejaVu Sans"/>
                <a:cs typeface="DejaVu Sans"/>
              </a:defRPr>
            </a:pPr>
            <a:r>
              <a:rPr sz="1275" b="0">
                <a:solidFill>
                  <a:srgbClr val="FFFFFF"/>
                </a:solidFill>
                <a:latin typeface="DejaVu Sans"/>
                <a:ea typeface="DejaVu Sans"/>
                <a:cs typeface="DejaVu Sans"/>
              </a:rPr>
              <a:t>Account, device, data or money</a:t>
            </a:r>
          </a:p>
        </p:txBody>
      </p:sp>
      <p:sp>
        <p:nvSpPr>
          <p:cNvPr id="22" name="">
            <a:extLst xmlns:a="http://schemas.openxmlformats.org/drawingml/2006/main">
              <a:ext uri="{FF2B5EF4-FFF2-40B4-BE49-F238E27FC236}">
                <a16:creationId xmlns:a16="http://schemas.microsoft.com/office/drawing/2014/main" id="{511137FA-841E-43F8-ADBE-516ACD8A7621}"/>
              </a:ext>
            </a:extLst>
          </p:cNvPr>
          <p:cNvSpPr>
            <a:spLocks xmlns:a="http://schemas.openxmlformats.org/drawingml/2006/main" noGrp="1"/>
          </p:cNvSpPr>
          <p:nvPr/>
        </p:nvSpPr>
        <p:spPr>
          <a:xfrm xmlns:a="http://schemas.openxmlformats.org/drawingml/2006/main">
            <a:off x="1381125" y="4762500"/>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650" b="0">
                <a:solidFill>
                  <a:srgbClr val="2AA876"/>
                </a:solidFill>
                <a:latin typeface="DejaVu Sans"/>
                <a:ea typeface="DejaVu Sans"/>
                <a:cs typeface="DejaVu Sans"/>
              </a:defRPr>
            </a:pPr>
            <a:r>
              <a:rPr sz="1650" b="0">
                <a:solidFill>
                  <a:srgbClr val="2AA876"/>
                </a:solidFill>
                <a:latin typeface="DejaVu Sans"/>
                <a:ea typeface="DejaVu Sans"/>
                <a:cs typeface="DejaVu Sans"/>
              </a:rPr>
              <a:t>Breaking the sequence at any point can prevent the incident</a:t>
            </a:r>
          </a:p>
        </p:txBody>
      </p:sp>
    </p:spTree>
    <p:extLst>
      <p:ext uri="{BB962C8B-B14F-4D97-AF65-F5344CB8AC3E}">
        <p14:creationId xmlns:p14="http://schemas.microsoft.com/office/powerpoint/2010/main" val="211110824"/>
      </p:ext>
    </p:extLst>
  </p:cSld>
</p:sld>
</file>

<file path=ppt/slides/slide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5D822E8-F3EE-4D0B-9FEC-6A00B584453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1FE6D4-B011-4D6F-893A-A5EAEF0BFF3D}"/>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PHISHING AWARENESS</a:t>
            </a:r>
          </a:p>
        </p:txBody>
      </p:sp>
      <p:sp>
        <p:nvSpPr>
          <p:cNvPr id="3" name="">
            <a:extLst xmlns:a="http://schemas.openxmlformats.org/drawingml/2006/main">
              <a:ext uri="{FF2B5EF4-FFF2-40B4-BE49-F238E27FC236}">
                <a16:creationId xmlns:a16="http://schemas.microsoft.com/office/drawing/2014/main" id="{81D0FF39-70FE-4021-8070-D7A33124DDF4}"/>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08</a:t>
            </a:r>
          </a:p>
        </p:txBody>
      </p:sp>
      <p:sp>
        <p:nvSpPr>
          <p:cNvPr id="4" name="">
            <a:extLst xmlns:a="http://schemas.openxmlformats.org/drawingml/2006/main">
              <a:ext uri="{FF2B5EF4-FFF2-40B4-BE49-F238E27FC236}">
                <a16:creationId xmlns:a16="http://schemas.microsoft.com/office/drawing/2014/main" id="{71FEFE2D-EAEA-4F97-93C2-55079D5164AF}"/>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92538CE-4C43-4169-94A4-7C472E18FDBB}"/>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Phishing types at a glance</a:t>
            </a:r>
          </a:p>
        </p:txBody>
      </p:sp>
      <p:sp>
        <p:nvSpPr>
          <p:cNvPr id="6" name="">
            <a:extLst xmlns:a="http://schemas.openxmlformats.org/drawingml/2006/main">
              <a:ext uri="{FF2B5EF4-FFF2-40B4-BE49-F238E27FC236}">
                <a16:creationId xmlns:a16="http://schemas.microsoft.com/office/drawing/2014/main" id="{50FA25CA-B37A-423D-9669-D990B5BC4A3A}"/>
              </a:ext>
            </a:extLst>
          </p:cNvPr>
          <p:cNvSpPr>
            <a:spLocks xmlns:a="http://schemas.openxmlformats.org/drawingml/2006/main" noGrp="1"/>
          </p:cNvSpPr>
          <p:nvPr/>
        </p:nvSpPr>
        <p:spPr>
          <a:xfrm xmlns:a="http://schemas.openxmlformats.org/drawingml/2006/main">
            <a:off x="514350" y="1695450"/>
            <a:ext cx="2000250" cy="400050"/>
          </a:xfrm>
          <a:prstGeom xmlns:a="http://schemas.openxmlformats.org/drawingml/2006/main" prst="rect">
            <a:avLst/>
          </a:prstGeom>
          <a:solidFill xmlns:a="http://schemas.openxmlformats.org/drawingml/2006/main">
            <a:srgbClr val="081A2E"/>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TYPE</a:t>
            </a:r>
          </a:p>
        </p:txBody>
      </p:sp>
      <p:sp>
        <p:nvSpPr>
          <p:cNvPr id="7" name="">
            <a:extLst xmlns:a="http://schemas.openxmlformats.org/drawingml/2006/main">
              <a:ext uri="{FF2B5EF4-FFF2-40B4-BE49-F238E27FC236}">
                <a16:creationId xmlns:a16="http://schemas.microsoft.com/office/drawing/2014/main" id="{EC11CF04-95BA-4D6F-9AE6-4CAB3ADA6508}"/>
              </a:ext>
            </a:extLst>
          </p:cNvPr>
          <p:cNvSpPr>
            <a:spLocks xmlns:a="http://schemas.openxmlformats.org/drawingml/2006/main" noGrp="1"/>
          </p:cNvSpPr>
          <p:nvPr/>
        </p:nvSpPr>
        <p:spPr>
          <a:xfrm xmlns:a="http://schemas.openxmlformats.org/drawingml/2006/main">
            <a:off x="2667000" y="1695450"/>
            <a:ext cx="3333750" cy="400050"/>
          </a:xfrm>
          <a:prstGeom xmlns:a="http://schemas.openxmlformats.org/drawingml/2006/main" prst="rect">
            <a:avLst/>
          </a:prstGeom>
          <a:solidFill xmlns:a="http://schemas.openxmlformats.org/drawingml/2006/main">
            <a:srgbClr val="081A2E"/>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DELIVERY OR TARGET</a:t>
            </a:r>
          </a:p>
        </p:txBody>
      </p:sp>
      <p:sp>
        <p:nvSpPr>
          <p:cNvPr id="8" name="">
            <a:extLst xmlns:a="http://schemas.openxmlformats.org/drawingml/2006/main">
              <a:ext uri="{FF2B5EF4-FFF2-40B4-BE49-F238E27FC236}">
                <a16:creationId xmlns:a16="http://schemas.microsoft.com/office/drawing/2014/main" id="{CC30EADC-11CC-4476-89A3-BBE2D70E2D09}"/>
              </a:ext>
            </a:extLst>
          </p:cNvPr>
          <p:cNvSpPr>
            <a:spLocks xmlns:a="http://schemas.openxmlformats.org/drawingml/2006/main" noGrp="1"/>
          </p:cNvSpPr>
          <p:nvPr/>
        </p:nvSpPr>
        <p:spPr>
          <a:xfrm xmlns:a="http://schemas.openxmlformats.org/drawingml/2006/main">
            <a:off x="6191250" y="1695450"/>
            <a:ext cx="5048250" cy="400050"/>
          </a:xfrm>
          <a:prstGeom xmlns:a="http://schemas.openxmlformats.org/drawingml/2006/main" prst="rect">
            <a:avLst/>
          </a:prstGeom>
          <a:solidFill xmlns:a="http://schemas.openxmlformats.org/drawingml/2006/main">
            <a:srgbClr val="081A2E"/>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PRIMARY OBJECTIVE</a:t>
            </a:r>
          </a:p>
        </p:txBody>
      </p:sp>
      <p:sp>
        <p:nvSpPr>
          <p:cNvPr id="9" name="">
            <a:extLst xmlns:a="http://schemas.openxmlformats.org/drawingml/2006/main">
              <a:ext uri="{FF2B5EF4-FFF2-40B4-BE49-F238E27FC236}">
                <a16:creationId xmlns:a16="http://schemas.microsoft.com/office/drawing/2014/main" id="{2C71B08E-BF0A-4A06-B5D1-84B05CD1ABD1}"/>
              </a:ext>
            </a:extLst>
          </p:cNvPr>
          <p:cNvSpPr>
            <a:spLocks xmlns:a="http://schemas.openxmlformats.org/drawingml/2006/main" noGrp="1"/>
          </p:cNvSpPr>
          <p:nvPr/>
        </p:nvSpPr>
        <p:spPr>
          <a:xfrm xmlns:a="http://schemas.openxmlformats.org/drawingml/2006/main">
            <a:off x="514350" y="2133600"/>
            <a:ext cx="2000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Email phishing</a:t>
            </a:r>
          </a:p>
        </p:txBody>
      </p:sp>
      <p:sp>
        <p:nvSpPr>
          <p:cNvPr id="10" name="">
            <a:extLst xmlns:a="http://schemas.openxmlformats.org/drawingml/2006/main">
              <a:ext uri="{FF2B5EF4-FFF2-40B4-BE49-F238E27FC236}">
                <a16:creationId xmlns:a16="http://schemas.microsoft.com/office/drawing/2014/main" id="{15BC7C4E-0E4B-4348-BB02-8C346A14BC8D}"/>
              </a:ext>
            </a:extLst>
          </p:cNvPr>
          <p:cNvSpPr>
            <a:spLocks xmlns:a="http://schemas.openxmlformats.org/drawingml/2006/main" noGrp="1"/>
          </p:cNvSpPr>
          <p:nvPr/>
        </p:nvSpPr>
        <p:spPr>
          <a:xfrm xmlns:a="http://schemas.openxmlformats.org/drawingml/2006/main">
            <a:off x="2667000" y="2133600"/>
            <a:ext cx="33337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Large audience</a:t>
            </a:r>
          </a:p>
        </p:txBody>
      </p:sp>
      <p:sp>
        <p:nvSpPr>
          <p:cNvPr id="11" name="">
            <a:extLst xmlns:a="http://schemas.openxmlformats.org/drawingml/2006/main">
              <a:ext uri="{FF2B5EF4-FFF2-40B4-BE49-F238E27FC236}">
                <a16:creationId xmlns:a16="http://schemas.microsoft.com/office/drawing/2014/main" id="{14337633-E4CC-439B-BA7B-EEA8206F95C7}"/>
              </a:ext>
            </a:extLst>
          </p:cNvPr>
          <p:cNvSpPr>
            <a:spLocks xmlns:a="http://schemas.openxmlformats.org/drawingml/2006/main" noGrp="1"/>
          </p:cNvSpPr>
          <p:nvPr/>
        </p:nvSpPr>
        <p:spPr>
          <a:xfrm xmlns:a="http://schemas.openxmlformats.org/drawingml/2006/main">
            <a:off x="6191250" y="2133600"/>
            <a:ext cx="5048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Clicks, credentials or malware</a:t>
            </a:r>
          </a:p>
        </p:txBody>
      </p:sp>
      <p:sp>
        <p:nvSpPr>
          <p:cNvPr id="12" name="">
            <a:extLst xmlns:a="http://schemas.openxmlformats.org/drawingml/2006/main">
              <a:ext uri="{FF2B5EF4-FFF2-40B4-BE49-F238E27FC236}">
                <a16:creationId xmlns:a16="http://schemas.microsoft.com/office/drawing/2014/main" id="{F64C8428-0E36-4CAF-AC85-C6425D77FC4E}"/>
              </a:ext>
            </a:extLst>
          </p:cNvPr>
          <p:cNvSpPr>
            <a:spLocks xmlns:a="http://schemas.openxmlformats.org/drawingml/2006/main" noGrp="1"/>
          </p:cNvSpPr>
          <p:nvPr/>
        </p:nvSpPr>
        <p:spPr>
          <a:xfrm xmlns:a="http://schemas.openxmlformats.org/drawingml/2006/main">
            <a:off x="514350" y="2686050"/>
            <a:ext cx="2000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Spear phishing</a:t>
            </a:r>
          </a:p>
        </p:txBody>
      </p:sp>
      <p:sp>
        <p:nvSpPr>
          <p:cNvPr id="13" name="">
            <a:extLst xmlns:a="http://schemas.openxmlformats.org/drawingml/2006/main">
              <a:ext uri="{FF2B5EF4-FFF2-40B4-BE49-F238E27FC236}">
                <a16:creationId xmlns:a16="http://schemas.microsoft.com/office/drawing/2014/main" id="{55FCD80C-5B7D-426F-BA69-90071A5E7210}"/>
              </a:ext>
            </a:extLst>
          </p:cNvPr>
          <p:cNvSpPr>
            <a:spLocks xmlns:a="http://schemas.openxmlformats.org/drawingml/2006/main" noGrp="1"/>
          </p:cNvSpPr>
          <p:nvPr/>
        </p:nvSpPr>
        <p:spPr>
          <a:xfrm xmlns:a="http://schemas.openxmlformats.org/drawingml/2006/main">
            <a:off x="2667000" y="2686050"/>
            <a:ext cx="33337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Selected person or team</a:t>
            </a:r>
          </a:p>
        </p:txBody>
      </p:sp>
      <p:sp>
        <p:nvSpPr>
          <p:cNvPr id="14" name="">
            <a:extLst xmlns:a="http://schemas.openxmlformats.org/drawingml/2006/main">
              <a:ext uri="{FF2B5EF4-FFF2-40B4-BE49-F238E27FC236}">
                <a16:creationId xmlns:a16="http://schemas.microsoft.com/office/drawing/2014/main" id="{C246057E-5509-4709-8BD0-55858F711891}"/>
              </a:ext>
            </a:extLst>
          </p:cNvPr>
          <p:cNvSpPr>
            <a:spLocks xmlns:a="http://schemas.openxmlformats.org/drawingml/2006/main" noGrp="1"/>
          </p:cNvSpPr>
          <p:nvPr/>
        </p:nvSpPr>
        <p:spPr>
          <a:xfrm xmlns:a="http://schemas.openxmlformats.org/drawingml/2006/main">
            <a:off x="6191250" y="2686050"/>
            <a:ext cx="5048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Access through personalization</a:t>
            </a:r>
          </a:p>
        </p:txBody>
      </p:sp>
      <p:sp>
        <p:nvSpPr>
          <p:cNvPr id="15" name="">
            <a:extLst xmlns:a="http://schemas.openxmlformats.org/drawingml/2006/main">
              <a:ext uri="{FF2B5EF4-FFF2-40B4-BE49-F238E27FC236}">
                <a16:creationId xmlns:a16="http://schemas.microsoft.com/office/drawing/2014/main" id="{33C4EADB-7960-4AE9-B179-ED9C7F3C48F3}"/>
              </a:ext>
            </a:extLst>
          </p:cNvPr>
          <p:cNvSpPr>
            <a:spLocks xmlns:a="http://schemas.openxmlformats.org/drawingml/2006/main" noGrp="1"/>
          </p:cNvSpPr>
          <p:nvPr/>
        </p:nvSpPr>
        <p:spPr>
          <a:xfrm xmlns:a="http://schemas.openxmlformats.org/drawingml/2006/main">
            <a:off x="514350" y="3238500"/>
            <a:ext cx="2000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Whaling</a:t>
            </a:r>
          </a:p>
        </p:txBody>
      </p:sp>
      <p:sp>
        <p:nvSpPr>
          <p:cNvPr id="16" name="">
            <a:extLst xmlns:a="http://schemas.openxmlformats.org/drawingml/2006/main">
              <a:ext uri="{FF2B5EF4-FFF2-40B4-BE49-F238E27FC236}">
                <a16:creationId xmlns:a16="http://schemas.microsoft.com/office/drawing/2014/main" id="{84D09284-E927-409D-9F9A-D0E09902D55C}"/>
              </a:ext>
            </a:extLst>
          </p:cNvPr>
          <p:cNvSpPr>
            <a:spLocks xmlns:a="http://schemas.openxmlformats.org/drawingml/2006/main" noGrp="1"/>
          </p:cNvSpPr>
          <p:nvPr/>
        </p:nvSpPr>
        <p:spPr>
          <a:xfrm xmlns:a="http://schemas.openxmlformats.org/drawingml/2006/main">
            <a:off x="2667000" y="3238500"/>
            <a:ext cx="33337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Executives and decision-makers</a:t>
            </a:r>
          </a:p>
        </p:txBody>
      </p:sp>
      <p:sp>
        <p:nvSpPr>
          <p:cNvPr id="17" name="">
            <a:extLst xmlns:a="http://schemas.openxmlformats.org/drawingml/2006/main">
              <a:ext uri="{FF2B5EF4-FFF2-40B4-BE49-F238E27FC236}">
                <a16:creationId xmlns:a16="http://schemas.microsoft.com/office/drawing/2014/main" id="{941FDC11-1AF1-4A40-A384-455769881BB2}"/>
              </a:ext>
            </a:extLst>
          </p:cNvPr>
          <p:cNvSpPr>
            <a:spLocks xmlns:a="http://schemas.openxmlformats.org/drawingml/2006/main" noGrp="1"/>
          </p:cNvSpPr>
          <p:nvPr/>
        </p:nvSpPr>
        <p:spPr>
          <a:xfrm xmlns:a="http://schemas.openxmlformats.org/drawingml/2006/main">
            <a:off x="6191250" y="3238500"/>
            <a:ext cx="5048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High-value access or payments</a:t>
            </a:r>
          </a:p>
        </p:txBody>
      </p:sp>
      <p:sp>
        <p:nvSpPr>
          <p:cNvPr id="18" name="">
            <a:extLst xmlns:a="http://schemas.openxmlformats.org/drawingml/2006/main">
              <a:ext uri="{FF2B5EF4-FFF2-40B4-BE49-F238E27FC236}">
                <a16:creationId xmlns:a16="http://schemas.microsoft.com/office/drawing/2014/main" id="{176B429E-CDE5-4560-9771-8379726ABEA8}"/>
              </a:ext>
            </a:extLst>
          </p:cNvPr>
          <p:cNvSpPr>
            <a:spLocks xmlns:a="http://schemas.openxmlformats.org/drawingml/2006/main" noGrp="1"/>
          </p:cNvSpPr>
          <p:nvPr/>
        </p:nvSpPr>
        <p:spPr>
          <a:xfrm xmlns:a="http://schemas.openxmlformats.org/drawingml/2006/main">
            <a:off x="514350" y="3790950"/>
            <a:ext cx="2000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Smishing</a:t>
            </a:r>
          </a:p>
        </p:txBody>
      </p:sp>
      <p:sp>
        <p:nvSpPr>
          <p:cNvPr id="19" name="">
            <a:extLst xmlns:a="http://schemas.openxmlformats.org/drawingml/2006/main">
              <a:ext uri="{FF2B5EF4-FFF2-40B4-BE49-F238E27FC236}">
                <a16:creationId xmlns:a16="http://schemas.microsoft.com/office/drawing/2014/main" id="{600A8966-912A-4318-89F9-3C2132EDC75B}"/>
              </a:ext>
            </a:extLst>
          </p:cNvPr>
          <p:cNvSpPr>
            <a:spLocks xmlns:a="http://schemas.openxmlformats.org/drawingml/2006/main" noGrp="1"/>
          </p:cNvSpPr>
          <p:nvPr/>
        </p:nvSpPr>
        <p:spPr>
          <a:xfrm xmlns:a="http://schemas.openxmlformats.org/drawingml/2006/main">
            <a:off x="2667000" y="3790950"/>
            <a:ext cx="33337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SMS and messaging apps</a:t>
            </a:r>
          </a:p>
        </p:txBody>
      </p:sp>
      <p:sp>
        <p:nvSpPr>
          <p:cNvPr id="20" name="">
            <a:extLst xmlns:a="http://schemas.openxmlformats.org/drawingml/2006/main">
              <a:ext uri="{FF2B5EF4-FFF2-40B4-BE49-F238E27FC236}">
                <a16:creationId xmlns:a16="http://schemas.microsoft.com/office/drawing/2014/main" id="{584AB7D6-EBA8-4F2E-BD04-EF3521DAB26B}"/>
              </a:ext>
            </a:extLst>
          </p:cNvPr>
          <p:cNvSpPr>
            <a:spLocks xmlns:a="http://schemas.openxmlformats.org/drawingml/2006/main" noGrp="1"/>
          </p:cNvSpPr>
          <p:nvPr/>
        </p:nvSpPr>
        <p:spPr>
          <a:xfrm xmlns:a="http://schemas.openxmlformats.org/drawingml/2006/main">
            <a:off x="6191250" y="3790950"/>
            <a:ext cx="5048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Mobile clicks and app installation</a:t>
            </a:r>
          </a:p>
        </p:txBody>
      </p:sp>
      <p:sp>
        <p:nvSpPr>
          <p:cNvPr id="21" name="">
            <a:extLst xmlns:a="http://schemas.openxmlformats.org/drawingml/2006/main">
              <a:ext uri="{FF2B5EF4-FFF2-40B4-BE49-F238E27FC236}">
                <a16:creationId xmlns:a16="http://schemas.microsoft.com/office/drawing/2014/main" id="{47BF2DAE-E9A3-4E52-A6DC-280DE1FD1023}"/>
              </a:ext>
            </a:extLst>
          </p:cNvPr>
          <p:cNvSpPr>
            <a:spLocks xmlns:a="http://schemas.openxmlformats.org/drawingml/2006/main" noGrp="1"/>
          </p:cNvSpPr>
          <p:nvPr/>
        </p:nvSpPr>
        <p:spPr>
          <a:xfrm xmlns:a="http://schemas.openxmlformats.org/drawingml/2006/main">
            <a:off x="514350" y="4343400"/>
            <a:ext cx="2000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Vishing</a:t>
            </a:r>
          </a:p>
        </p:txBody>
      </p:sp>
      <p:sp>
        <p:nvSpPr>
          <p:cNvPr id="22" name="">
            <a:extLst xmlns:a="http://schemas.openxmlformats.org/drawingml/2006/main">
              <a:ext uri="{FF2B5EF4-FFF2-40B4-BE49-F238E27FC236}">
                <a16:creationId xmlns:a16="http://schemas.microsoft.com/office/drawing/2014/main" id="{9FE0895D-47B2-407C-A249-7277470844EE}"/>
              </a:ext>
            </a:extLst>
          </p:cNvPr>
          <p:cNvSpPr>
            <a:spLocks xmlns:a="http://schemas.openxmlformats.org/drawingml/2006/main" noGrp="1"/>
          </p:cNvSpPr>
          <p:nvPr/>
        </p:nvSpPr>
        <p:spPr>
          <a:xfrm xmlns:a="http://schemas.openxmlformats.org/drawingml/2006/main">
            <a:off x="2667000" y="4343400"/>
            <a:ext cx="33337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Telephone or voice call</a:t>
            </a:r>
          </a:p>
        </p:txBody>
      </p:sp>
      <p:sp>
        <p:nvSpPr>
          <p:cNvPr id="23" name="">
            <a:extLst xmlns:a="http://schemas.openxmlformats.org/drawingml/2006/main">
              <a:ext uri="{FF2B5EF4-FFF2-40B4-BE49-F238E27FC236}">
                <a16:creationId xmlns:a16="http://schemas.microsoft.com/office/drawing/2014/main" id="{94B3E98A-C08C-4B10-BB62-75199726FE33}"/>
              </a:ext>
            </a:extLst>
          </p:cNvPr>
          <p:cNvSpPr>
            <a:spLocks xmlns:a="http://schemas.openxmlformats.org/drawingml/2006/main" noGrp="1"/>
          </p:cNvSpPr>
          <p:nvPr/>
        </p:nvSpPr>
        <p:spPr>
          <a:xfrm xmlns:a="http://schemas.openxmlformats.org/drawingml/2006/main">
            <a:off x="6191250" y="4343400"/>
            <a:ext cx="5048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OTP, information or remote access</a:t>
            </a:r>
          </a:p>
        </p:txBody>
      </p:sp>
      <p:sp>
        <p:nvSpPr>
          <p:cNvPr id="24" name="">
            <a:extLst xmlns:a="http://schemas.openxmlformats.org/drawingml/2006/main">
              <a:ext uri="{FF2B5EF4-FFF2-40B4-BE49-F238E27FC236}">
                <a16:creationId xmlns:a16="http://schemas.microsoft.com/office/drawing/2014/main" id="{444CA044-D380-4827-ABB5-F5FED1D2C478}"/>
              </a:ext>
            </a:extLst>
          </p:cNvPr>
          <p:cNvSpPr>
            <a:spLocks xmlns:a="http://schemas.openxmlformats.org/drawingml/2006/main" noGrp="1"/>
          </p:cNvSpPr>
          <p:nvPr/>
        </p:nvSpPr>
        <p:spPr>
          <a:xfrm xmlns:a="http://schemas.openxmlformats.org/drawingml/2006/main">
            <a:off x="514350" y="4895850"/>
            <a:ext cx="2000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QR phishing</a:t>
            </a:r>
          </a:p>
        </p:txBody>
      </p:sp>
      <p:sp>
        <p:nvSpPr>
          <p:cNvPr id="25" name="">
            <a:extLst xmlns:a="http://schemas.openxmlformats.org/drawingml/2006/main">
              <a:ext uri="{FF2B5EF4-FFF2-40B4-BE49-F238E27FC236}">
                <a16:creationId xmlns:a16="http://schemas.microsoft.com/office/drawing/2014/main" id="{002CD395-9979-4974-8C1E-70E6B869C8FA}"/>
              </a:ext>
            </a:extLst>
          </p:cNvPr>
          <p:cNvSpPr>
            <a:spLocks xmlns:a="http://schemas.openxmlformats.org/drawingml/2006/main" noGrp="1"/>
          </p:cNvSpPr>
          <p:nvPr/>
        </p:nvSpPr>
        <p:spPr>
          <a:xfrm xmlns:a="http://schemas.openxmlformats.org/drawingml/2006/main">
            <a:off x="2667000" y="4895850"/>
            <a:ext cx="33337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QR code</a:t>
            </a:r>
          </a:p>
        </p:txBody>
      </p:sp>
      <p:sp>
        <p:nvSpPr>
          <p:cNvPr id="26" name="">
            <a:extLst xmlns:a="http://schemas.openxmlformats.org/drawingml/2006/main">
              <a:ext uri="{FF2B5EF4-FFF2-40B4-BE49-F238E27FC236}">
                <a16:creationId xmlns:a16="http://schemas.microsoft.com/office/drawing/2014/main" id="{1B0221CD-B459-4E48-AE6F-AAA627241D45}"/>
              </a:ext>
            </a:extLst>
          </p:cNvPr>
          <p:cNvSpPr>
            <a:spLocks xmlns:a="http://schemas.openxmlformats.org/drawingml/2006/main" noGrp="1"/>
          </p:cNvSpPr>
          <p:nvPr/>
        </p:nvSpPr>
        <p:spPr>
          <a:xfrm xmlns:a="http://schemas.openxmlformats.org/drawingml/2006/main">
            <a:off x="6191250" y="4895850"/>
            <a:ext cx="5048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Hidden redirect to a fake page</a:t>
            </a:r>
          </a:p>
        </p:txBody>
      </p:sp>
    </p:spTree>
    <p:extLst>
      <p:ext uri="{BB962C8B-B14F-4D97-AF65-F5344CB8AC3E}">
        <p14:creationId xmlns:p14="http://schemas.microsoft.com/office/powerpoint/2010/main" val="665099759"/>
      </p:ext>
    </p:extLst>
  </p:cSld>
</p:sld>
</file>

<file path=ppt/slides/slide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288D235-546D-4D6D-9E9A-E8CDF494C3F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2D3E1E-F882-458A-83E7-9F8F0C6E317C}"/>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PHISHING AWARENESS</a:t>
            </a:r>
          </a:p>
        </p:txBody>
      </p:sp>
      <p:sp>
        <p:nvSpPr>
          <p:cNvPr id="3" name="">
            <a:extLst xmlns:a="http://schemas.openxmlformats.org/drawingml/2006/main">
              <a:ext uri="{FF2B5EF4-FFF2-40B4-BE49-F238E27FC236}">
                <a16:creationId xmlns:a16="http://schemas.microsoft.com/office/drawing/2014/main" id="{67A209FF-5352-4456-8702-3A03365AA08E}"/>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09</a:t>
            </a:r>
          </a:p>
        </p:txBody>
      </p:sp>
      <p:sp>
        <p:nvSpPr>
          <p:cNvPr id="4" name="">
            <a:extLst xmlns:a="http://schemas.openxmlformats.org/drawingml/2006/main">
              <a:ext uri="{FF2B5EF4-FFF2-40B4-BE49-F238E27FC236}">
                <a16:creationId xmlns:a16="http://schemas.microsoft.com/office/drawing/2014/main" id="{F4B1BCF0-4454-4AAE-A791-2DE6E7E1164C}"/>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7497A9A-7C18-4074-BE84-599FD135F138}"/>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Email phishing</a:t>
            </a:r>
          </a:p>
        </p:txBody>
      </p:sp>
      <p:sp>
        <p:nvSpPr>
          <p:cNvPr id="6" name="">
            <a:extLst xmlns:a="http://schemas.openxmlformats.org/drawingml/2006/main">
              <a:ext uri="{FF2B5EF4-FFF2-40B4-BE49-F238E27FC236}">
                <a16:creationId xmlns:a16="http://schemas.microsoft.com/office/drawing/2014/main" id="{40AFC02C-63BF-4819-ACC8-1BDB633E5CC6}"/>
              </a:ext>
            </a:extLst>
          </p:cNvPr>
          <p:cNvSpPr>
            <a:spLocks xmlns:a="http://schemas.openxmlformats.org/drawingml/2006/main" noGrp="1"/>
          </p:cNvSpPr>
          <p:nvPr/>
        </p:nvSpPr>
        <p:spPr>
          <a:xfrm xmlns:a="http://schemas.openxmlformats.org/drawingml/2006/main">
            <a:off x="571500" y="1619250"/>
            <a:ext cx="72390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79175B49-7000-4FBC-BA9C-487D9D8DD1C7}"/>
              </a:ext>
            </a:extLst>
          </p:cNvPr>
          <p:cNvSpPr>
            <a:spLocks xmlns:a="http://schemas.openxmlformats.org/drawingml/2006/main" noGrp="1"/>
          </p:cNvSpPr>
          <p:nvPr/>
        </p:nvSpPr>
        <p:spPr>
          <a:xfrm xmlns:a="http://schemas.openxmlformats.org/drawingml/2006/main">
            <a:off x="571500" y="1619250"/>
            <a:ext cx="7239000" cy="4572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B769C96-C3E0-4E0C-B98D-196227A929E1}"/>
              </a:ext>
            </a:extLst>
          </p:cNvPr>
          <p:cNvSpPr>
            <a:spLocks xmlns:a="http://schemas.openxmlformats.org/drawingml/2006/main" noGrp="1"/>
          </p:cNvSpPr>
          <p:nvPr/>
        </p:nvSpPr>
        <p:spPr>
          <a:xfrm xmlns:a="http://schemas.openxmlformats.org/drawingml/2006/main">
            <a:off x="742950" y="1695450"/>
            <a:ext cx="6896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2593"/>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Message preview</a:t>
            </a:r>
          </a:p>
        </p:txBody>
      </p:sp>
      <p:sp>
        <p:nvSpPr>
          <p:cNvPr id="9" name="">
            <a:extLst xmlns:a="http://schemas.openxmlformats.org/drawingml/2006/main">
              <a:ext uri="{FF2B5EF4-FFF2-40B4-BE49-F238E27FC236}">
                <a16:creationId xmlns:a16="http://schemas.microsoft.com/office/drawing/2014/main" id="{18F0D828-CFB7-4078-9209-F62803D3FB8B}"/>
              </a:ext>
            </a:extLst>
          </p:cNvPr>
          <p:cNvSpPr>
            <a:spLocks xmlns:a="http://schemas.openxmlformats.org/drawingml/2006/main" noGrp="1"/>
          </p:cNvSpPr>
          <p:nvPr/>
        </p:nvSpPr>
        <p:spPr>
          <a:xfrm xmlns:a="http://schemas.openxmlformats.org/drawingml/2006/main">
            <a:off x="742950" y="220980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275" b="1">
                <a:solidFill>
                  <a:srgbClr val="607385"/>
                </a:solidFill>
                <a:latin typeface="DejaVu Sans"/>
                <a:ea typeface="DejaVu Sans"/>
                <a:cs typeface="DejaVu Sans"/>
              </a:defRPr>
            </a:pPr>
            <a:r>
              <a:rPr sz="1275" b="1">
                <a:solidFill>
                  <a:srgbClr val="607385"/>
                </a:solidFill>
                <a:latin typeface="DejaVu Sans"/>
                <a:ea typeface="DejaVu Sans"/>
                <a:cs typeface="DejaVu Sans"/>
              </a:rPr>
              <a:t>From</a:t>
            </a:r>
          </a:p>
        </p:txBody>
      </p:sp>
      <p:sp>
        <p:nvSpPr>
          <p:cNvPr id="10" name="">
            <a:extLst xmlns:a="http://schemas.openxmlformats.org/drawingml/2006/main">
              <a:ext uri="{FF2B5EF4-FFF2-40B4-BE49-F238E27FC236}">
                <a16:creationId xmlns:a16="http://schemas.microsoft.com/office/drawing/2014/main" id="{DB1A86FC-860A-4333-8639-E22758458D6F}"/>
              </a:ext>
            </a:extLst>
          </p:cNvPr>
          <p:cNvSpPr>
            <a:spLocks xmlns:a="http://schemas.openxmlformats.org/drawingml/2006/main" noGrp="1"/>
          </p:cNvSpPr>
          <p:nvPr/>
        </p:nvSpPr>
        <p:spPr>
          <a:xfrm xmlns:a="http://schemas.openxmlformats.org/drawingml/2006/main">
            <a:off x="1695450" y="2209800"/>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0">
                <a:solidFill>
                  <a:srgbClr val="183247"/>
                </a:solidFill>
                <a:latin typeface="DejaVu Sans"/>
                <a:ea typeface="DejaVu Sans"/>
                <a:cs typeface="DejaVu Sans"/>
              </a:defRPr>
            </a:pPr>
            <a:r>
              <a:rPr sz="1350" b="0">
                <a:solidFill>
                  <a:srgbClr val="183247"/>
                </a:solidFill>
                <a:latin typeface="DejaVu Sans"/>
                <a:ea typeface="DejaVu Sans"/>
                <a:cs typeface="DejaVu Sans"/>
              </a:rPr>
              <a:t>Microsoft Security &lt;security-alert@gmail.com&gt;</a:t>
            </a:r>
          </a:p>
        </p:txBody>
      </p:sp>
      <p:sp>
        <p:nvSpPr>
          <p:cNvPr id="11" name="">
            <a:extLst xmlns:a="http://schemas.openxmlformats.org/drawingml/2006/main">
              <a:ext uri="{FF2B5EF4-FFF2-40B4-BE49-F238E27FC236}">
                <a16:creationId xmlns:a16="http://schemas.microsoft.com/office/drawing/2014/main" id="{347408EE-10DF-44D2-9C77-F4D1D4DD9435}"/>
              </a:ext>
            </a:extLst>
          </p:cNvPr>
          <p:cNvSpPr>
            <a:spLocks xmlns:a="http://schemas.openxmlformats.org/drawingml/2006/main" noGrp="1"/>
          </p:cNvSpPr>
          <p:nvPr/>
        </p:nvSpPr>
        <p:spPr>
          <a:xfrm xmlns:a="http://schemas.openxmlformats.org/drawingml/2006/main">
            <a:off x="742950" y="266700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275" b="1">
                <a:solidFill>
                  <a:srgbClr val="607385"/>
                </a:solidFill>
                <a:latin typeface="DejaVu Sans"/>
                <a:ea typeface="DejaVu Sans"/>
                <a:cs typeface="DejaVu Sans"/>
              </a:defRPr>
            </a:pPr>
            <a:r>
              <a:rPr sz="1275" b="1">
                <a:solidFill>
                  <a:srgbClr val="607385"/>
                </a:solidFill>
                <a:latin typeface="DejaVu Sans"/>
                <a:ea typeface="DejaVu Sans"/>
                <a:cs typeface="DejaVu Sans"/>
              </a:rPr>
              <a:t>Reply-To</a:t>
            </a:r>
          </a:p>
        </p:txBody>
      </p:sp>
      <p:sp>
        <p:nvSpPr>
          <p:cNvPr id="12" name="">
            <a:extLst xmlns:a="http://schemas.openxmlformats.org/drawingml/2006/main">
              <a:ext uri="{FF2B5EF4-FFF2-40B4-BE49-F238E27FC236}">
                <a16:creationId xmlns:a16="http://schemas.microsoft.com/office/drawing/2014/main" id="{51FE42AE-B2C6-4DD3-AC63-0844139F2409}"/>
              </a:ext>
            </a:extLst>
          </p:cNvPr>
          <p:cNvSpPr>
            <a:spLocks xmlns:a="http://schemas.openxmlformats.org/drawingml/2006/main" noGrp="1"/>
          </p:cNvSpPr>
          <p:nvPr/>
        </p:nvSpPr>
        <p:spPr>
          <a:xfrm xmlns:a="http://schemas.openxmlformats.org/drawingml/2006/main">
            <a:off x="1695450" y="2667000"/>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0">
                <a:solidFill>
                  <a:srgbClr val="E54B4B"/>
                </a:solidFill>
                <a:latin typeface="DejaVu Sans"/>
                <a:ea typeface="DejaVu Sans"/>
                <a:cs typeface="DejaVu Sans"/>
              </a:defRPr>
            </a:pPr>
            <a:r>
              <a:rPr sz="1350" b="0">
                <a:solidFill>
                  <a:srgbClr val="E54B4B"/>
                </a:solidFill>
                <a:latin typeface="DejaVu Sans"/>
                <a:ea typeface="DejaVu Sans"/>
                <a:cs typeface="DejaVu Sans"/>
              </a:rPr>
              <a:t>Microsoft Security &lt;security-alert@gmail.com&gt;</a:t>
            </a:r>
          </a:p>
        </p:txBody>
      </p:sp>
      <p:sp>
        <p:nvSpPr>
          <p:cNvPr id="13" name="">
            <a:extLst xmlns:a="http://schemas.openxmlformats.org/drawingml/2006/main">
              <a:ext uri="{FF2B5EF4-FFF2-40B4-BE49-F238E27FC236}">
                <a16:creationId xmlns:a16="http://schemas.microsoft.com/office/drawing/2014/main" id="{0C20A5BC-927F-4A55-BBAE-B5B7261792B5}"/>
              </a:ext>
            </a:extLst>
          </p:cNvPr>
          <p:cNvSpPr>
            <a:spLocks xmlns:a="http://schemas.openxmlformats.org/drawingml/2006/main" noGrp="1"/>
          </p:cNvSpPr>
          <p:nvPr/>
        </p:nvSpPr>
        <p:spPr>
          <a:xfrm xmlns:a="http://schemas.openxmlformats.org/drawingml/2006/main">
            <a:off x="742950" y="312420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275" b="1">
                <a:solidFill>
                  <a:srgbClr val="607385"/>
                </a:solidFill>
                <a:latin typeface="DejaVu Sans"/>
                <a:ea typeface="DejaVu Sans"/>
                <a:cs typeface="DejaVu Sans"/>
              </a:defRPr>
            </a:pPr>
            <a:r>
              <a:rPr sz="1275" b="1">
                <a:solidFill>
                  <a:srgbClr val="607385"/>
                </a:solidFill>
                <a:latin typeface="DejaVu Sans"/>
                <a:ea typeface="DejaVu Sans"/>
                <a:cs typeface="DejaVu Sans"/>
              </a:rPr>
              <a:t>Subject</a:t>
            </a:r>
          </a:p>
        </p:txBody>
      </p:sp>
      <p:sp>
        <p:nvSpPr>
          <p:cNvPr id="14" name="">
            <a:extLst xmlns:a="http://schemas.openxmlformats.org/drawingml/2006/main">
              <a:ext uri="{FF2B5EF4-FFF2-40B4-BE49-F238E27FC236}">
                <a16:creationId xmlns:a16="http://schemas.microsoft.com/office/drawing/2014/main" id="{A4DA3421-AA1B-478F-B653-4A26BE51A1FD}"/>
              </a:ext>
            </a:extLst>
          </p:cNvPr>
          <p:cNvSpPr>
            <a:spLocks xmlns:a="http://schemas.openxmlformats.org/drawingml/2006/main" noGrp="1"/>
          </p:cNvSpPr>
          <p:nvPr/>
        </p:nvSpPr>
        <p:spPr>
          <a:xfrm xmlns:a="http://schemas.openxmlformats.org/drawingml/2006/main">
            <a:off x="1695450" y="3124200"/>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0">
                <a:solidFill>
                  <a:srgbClr val="183247"/>
                </a:solidFill>
                <a:latin typeface="DejaVu Sans"/>
                <a:ea typeface="DejaVu Sans"/>
                <a:cs typeface="DejaVu Sans"/>
              </a:defRPr>
            </a:pPr>
            <a:r>
              <a:rPr sz="1350" b="0">
                <a:solidFill>
                  <a:srgbClr val="183247"/>
                </a:solidFill>
                <a:latin typeface="DejaVu Sans"/>
                <a:ea typeface="DejaVu Sans"/>
                <a:cs typeface="DejaVu Sans"/>
              </a:rPr>
              <a:t>Password expires today</a:t>
            </a:r>
          </a:p>
        </p:txBody>
      </p:sp>
      <p:sp>
        <p:nvSpPr>
          <p:cNvPr id="15" name="">
            <a:extLst xmlns:a="http://schemas.openxmlformats.org/drawingml/2006/main">
              <a:ext uri="{FF2B5EF4-FFF2-40B4-BE49-F238E27FC236}">
                <a16:creationId xmlns:a16="http://schemas.microsoft.com/office/drawing/2014/main" id="{3C22E8B3-E084-42F3-BCE8-F78A058F22B5}"/>
              </a:ext>
            </a:extLst>
          </p:cNvPr>
          <p:cNvSpPr>
            <a:spLocks xmlns:a="http://schemas.openxmlformats.org/drawingml/2006/main" noGrp="1"/>
          </p:cNvSpPr>
          <p:nvPr/>
        </p:nvSpPr>
        <p:spPr>
          <a:xfrm xmlns:a="http://schemas.openxmlformats.org/drawingml/2006/main">
            <a:off x="742950" y="3619500"/>
            <a:ext cx="689610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9168DD8-5744-4DE3-8DC5-572F4EB119A3}"/>
              </a:ext>
            </a:extLst>
          </p:cNvPr>
          <p:cNvSpPr>
            <a:spLocks xmlns:a="http://schemas.openxmlformats.org/drawingml/2006/main" noGrp="1"/>
          </p:cNvSpPr>
          <p:nvPr/>
        </p:nvSpPr>
        <p:spPr>
          <a:xfrm xmlns:a="http://schemas.openxmlformats.org/drawingml/2006/main">
            <a:off x="800100" y="3771900"/>
            <a:ext cx="678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Dear user, your mailbox password expires today. Verify immediately to prevent account suspension.</a:t>
            </a:r>
          </a:p>
        </p:txBody>
      </p:sp>
      <p:sp>
        <p:nvSpPr>
          <p:cNvPr id="17" name="">
            <a:extLst xmlns:a="http://schemas.openxmlformats.org/drawingml/2006/main">
              <a:ext uri="{FF2B5EF4-FFF2-40B4-BE49-F238E27FC236}">
                <a16:creationId xmlns:a16="http://schemas.microsoft.com/office/drawing/2014/main" id="{FDB440A1-D61D-4F2F-AAF8-34DA00AEA73F}"/>
              </a:ext>
            </a:extLst>
          </p:cNvPr>
          <p:cNvSpPr>
            <a:spLocks xmlns:a="http://schemas.openxmlformats.org/drawingml/2006/main" noGrp="1"/>
          </p:cNvSpPr>
          <p:nvPr/>
        </p:nvSpPr>
        <p:spPr>
          <a:xfrm xmlns:a="http://schemas.openxmlformats.org/drawingml/2006/main">
            <a:off x="800100" y="4953000"/>
            <a:ext cx="6781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2F80ED"/>
                </a:solidFill>
                <a:latin typeface="DejaVu Sans"/>
                <a:ea typeface="DejaVu Sans"/>
                <a:cs typeface="DejaVu Sans"/>
              </a:defRPr>
            </a:pPr>
            <a:r>
              <a:rPr sz="1350" b="1">
                <a:solidFill>
                  <a:srgbClr val="2F80ED"/>
                </a:solidFill>
                <a:latin typeface="DejaVu Sans"/>
                <a:ea typeface="DejaVu Sans"/>
                <a:cs typeface="DejaVu Sans"/>
              </a:rPr>
              <a:t>Verify account: https://microsoft-login.example</a:t>
            </a:r>
          </a:p>
        </p:txBody>
      </p:sp>
      <p:sp>
        <p:nvSpPr>
          <p:cNvPr id="18" name="">
            <a:extLst xmlns:a="http://schemas.openxmlformats.org/drawingml/2006/main">
              <a:ext uri="{FF2B5EF4-FFF2-40B4-BE49-F238E27FC236}">
                <a16:creationId xmlns:a16="http://schemas.microsoft.com/office/drawing/2014/main" id="{B64A094F-8C05-4C59-87FE-B17503DC8195}"/>
              </a:ext>
            </a:extLst>
          </p:cNvPr>
          <p:cNvSpPr>
            <a:spLocks xmlns:a="http://schemas.openxmlformats.org/drawingml/2006/main" noGrp="1"/>
          </p:cNvSpPr>
          <p:nvPr/>
        </p:nvSpPr>
        <p:spPr>
          <a:xfrm xmlns:a="http://schemas.openxmlformats.org/drawingml/2006/main">
            <a:off x="8096250" y="17145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950" b="1">
                <a:solidFill>
                  <a:srgbClr val="E54B4B"/>
                </a:solidFill>
                <a:latin typeface="DejaVu Sans"/>
                <a:ea typeface="DejaVu Sans"/>
                <a:cs typeface="DejaVu Sans"/>
              </a:defRPr>
            </a:pPr>
            <a:r>
              <a:rPr sz="1950" b="1">
                <a:solidFill>
                  <a:srgbClr val="E54B4B"/>
                </a:solidFill>
                <a:latin typeface="DejaVu Sans"/>
                <a:ea typeface="DejaVu Sans"/>
                <a:cs typeface="DejaVu Sans"/>
              </a:rPr>
              <a:t>Typical warning signs</a:t>
            </a:r>
          </a:p>
        </p:txBody>
      </p:sp>
      <p:sp>
        <p:nvSpPr>
          <p:cNvPr id="19" name="">
            <a:extLst xmlns:a="http://schemas.openxmlformats.org/drawingml/2006/main">
              <a:ext uri="{FF2B5EF4-FFF2-40B4-BE49-F238E27FC236}">
                <a16:creationId xmlns:a16="http://schemas.microsoft.com/office/drawing/2014/main" id="{AC4EA435-F2D2-49CC-8829-597A26B2E583}"/>
              </a:ext>
            </a:extLst>
          </p:cNvPr>
          <p:cNvSpPr>
            <a:spLocks xmlns:a="http://schemas.openxmlformats.org/drawingml/2006/main" noGrp="1"/>
          </p:cNvSpPr>
          <p:nvPr/>
        </p:nvSpPr>
        <p:spPr>
          <a:xfrm xmlns:a="http://schemas.openxmlformats.org/drawingml/2006/main">
            <a:off x="8020050" y="2286000"/>
            <a:ext cx="3333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Unrelated sender domain</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Generic greeting</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Account threat</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Credential link</a:t>
            </a:r>
          </a:p>
        </p:txBody>
      </p:sp>
      <p:sp>
        <p:nvSpPr>
          <p:cNvPr id="20" name="">
            <a:extLst xmlns:a="http://schemas.openxmlformats.org/drawingml/2006/main">
              <a:ext uri="{FF2B5EF4-FFF2-40B4-BE49-F238E27FC236}">
                <a16:creationId xmlns:a16="http://schemas.microsoft.com/office/drawing/2014/main" id="{E8490982-612F-403D-8D12-45650DF4DE52}"/>
              </a:ext>
            </a:extLst>
          </p:cNvPr>
          <p:cNvSpPr>
            <a:spLocks xmlns:a="http://schemas.openxmlformats.org/drawingml/2006/main" noGrp="1"/>
          </p:cNvSpPr>
          <p:nvPr/>
        </p:nvSpPr>
        <p:spPr>
          <a:xfrm xmlns:a="http://schemas.openxmlformats.org/drawingml/2006/main">
            <a:off x="8143875" y="4953000"/>
            <a:ext cx="2952750" cy="590550"/>
          </a:xfrm>
          <a:prstGeom xmlns:a="http://schemas.openxmlformats.org/drawingml/2006/main" prst="rect">
            <a:avLst/>
          </a:prstGeom>
          <a:solidFill xmlns:a="http://schemas.openxmlformats.org/drawingml/2006/main">
            <a:srgbClr val="2F80ED"/>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D12C2E8-046E-403E-8453-9749F9D8DBCF}"/>
              </a:ext>
            </a:extLst>
          </p:cNvPr>
          <p:cNvSpPr>
            <a:spLocks xmlns:a="http://schemas.openxmlformats.org/drawingml/2006/main" noGrp="1"/>
          </p:cNvSpPr>
          <p:nvPr/>
        </p:nvSpPr>
        <p:spPr>
          <a:xfrm xmlns:a="http://schemas.openxmlformats.org/drawingml/2006/main">
            <a:off x="8315325" y="5048250"/>
            <a:ext cx="2609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Mass distribution</a:t>
            </a:r>
          </a:p>
        </p:txBody>
      </p:sp>
    </p:spTree>
    <p:extLst>
      <p:ext uri="{BB962C8B-B14F-4D97-AF65-F5344CB8AC3E}">
        <p14:creationId xmlns:p14="http://schemas.microsoft.com/office/powerpoint/2010/main" val="1892356279"/>
      </p:ext>
    </p:extLst>
  </p:cSld>
</p:sld>
</file>

<file path=ppt/slides/slide1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509E3C1-843E-416B-8F35-707FED87B2E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491E1E-973E-48C1-9D16-21A6023E963D}"/>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PHISHING AWARENESS</a:t>
            </a:r>
          </a:p>
        </p:txBody>
      </p:sp>
      <p:sp>
        <p:nvSpPr>
          <p:cNvPr id="3" name="">
            <a:extLst xmlns:a="http://schemas.openxmlformats.org/drawingml/2006/main">
              <a:ext uri="{FF2B5EF4-FFF2-40B4-BE49-F238E27FC236}">
                <a16:creationId xmlns:a16="http://schemas.microsoft.com/office/drawing/2014/main" id="{ADECE422-7DB1-4562-BF5B-F814DB462BE2}"/>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10</a:t>
            </a:r>
          </a:p>
        </p:txBody>
      </p:sp>
      <p:sp>
        <p:nvSpPr>
          <p:cNvPr id="4" name="">
            <a:extLst xmlns:a="http://schemas.openxmlformats.org/drawingml/2006/main">
              <a:ext uri="{FF2B5EF4-FFF2-40B4-BE49-F238E27FC236}">
                <a16:creationId xmlns:a16="http://schemas.microsoft.com/office/drawing/2014/main" id="{8A38D26A-2025-4733-A32A-115A5A811592}"/>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154DCC5-3816-47EE-A5E0-829E7F1A70F6}"/>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Spear phishing</a:t>
            </a:r>
          </a:p>
        </p:txBody>
      </p:sp>
      <p:sp>
        <p:nvSpPr>
          <p:cNvPr id="6" name="">
            <a:extLst xmlns:a="http://schemas.openxmlformats.org/drawingml/2006/main">
              <a:ext uri="{FF2B5EF4-FFF2-40B4-BE49-F238E27FC236}">
                <a16:creationId xmlns:a16="http://schemas.microsoft.com/office/drawing/2014/main" id="{6D1A20B7-8110-45B6-8E43-0421FEA82390}"/>
              </a:ext>
            </a:extLst>
          </p:cNvPr>
          <p:cNvSpPr>
            <a:spLocks xmlns:a="http://schemas.openxmlformats.org/drawingml/2006/main" noGrp="1"/>
          </p:cNvSpPr>
          <p:nvPr/>
        </p:nvSpPr>
        <p:spPr>
          <a:xfrm xmlns:a="http://schemas.openxmlformats.org/drawingml/2006/main">
            <a:off x="49530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BB64B0F8-1486-4AAD-9851-79F17428F706}"/>
              </a:ext>
            </a:extLst>
          </p:cNvPr>
          <p:cNvSpPr>
            <a:spLocks xmlns:a="http://schemas.openxmlformats.org/drawingml/2006/main" noGrp="1"/>
          </p:cNvSpPr>
          <p:nvPr/>
        </p:nvSpPr>
        <p:spPr>
          <a:xfrm xmlns:a="http://schemas.openxmlformats.org/drawingml/2006/main">
            <a:off x="596265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8" name="">
            <a:extLst xmlns:a="http://schemas.openxmlformats.org/drawingml/2006/main">
              <a:ext uri="{FF2B5EF4-FFF2-40B4-BE49-F238E27FC236}">
                <a16:creationId xmlns:a16="http://schemas.microsoft.com/office/drawing/2014/main" id="{B5F1D24F-3E61-4EDF-B5A7-42A13E77ADA2}"/>
              </a:ext>
            </a:extLst>
          </p:cNvPr>
          <p:cNvSpPr>
            <a:spLocks xmlns:a="http://schemas.openxmlformats.org/drawingml/2006/main" noGrp="1"/>
          </p:cNvSpPr>
          <p:nvPr/>
        </p:nvSpPr>
        <p:spPr>
          <a:xfrm xmlns:a="http://schemas.openxmlformats.org/drawingml/2006/main">
            <a:off x="74295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2F80ED"/>
                </a:solidFill>
                <a:latin typeface="DejaVu Sans"/>
                <a:ea typeface="DejaVu Sans"/>
                <a:cs typeface="DejaVu Sans"/>
              </a:defRPr>
            </a:pPr>
            <a:r>
              <a:rPr sz="2025" b="1">
                <a:solidFill>
                  <a:srgbClr val="2F80ED"/>
                </a:solidFill>
                <a:latin typeface="DejaVu Sans"/>
                <a:ea typeface="DejaVu Sans"/>
                <a:cs typeface="DejaVu Sans"/>
              </a:rPr>
              <a:t>What makes it targeted</a:t>
            </a:r>
          </a:p>
        </p:txBody>
      </p:sp>
      <p:sp>
        <p:nvSpPr>
          <p:cNvPr id="9" name="">
            <a:extLst xmlns:a="http://schemas.openxmlformats.org/drawingml/2006/main">
              <a:ext uri="{FF2B5EF4-FFF2-40B4-BE49-F238E27FC236}">
                <a16:creationId xmlns:a16="http://schemas.microsoft.com/office/drawing/2014/main" id="{B2862C08-840F-4ECB-9B3E-BFB87AA2E033}"/>
              </a:ext>
            </a:extLst>
          </p:cNvPr>
          <p:cNvSpPr>
            <a:spLocks xmlns:a="http://schemas.openxmlformats.org/drawingml/2006/main" noGrp="1"/>
          </p:cNvSpPr>
          <p:nvPr/>
        </p:nvSpPr>
        <p:spPr>
          <a:xfrm xmlns:a="http://schemas.openxmlformats.org/drawingml/2006/main">
            <a:off x="621030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FF8A34"/>
                </a:solidFill>
                <a:latin typeface="DejaVu Sans"/>
                <a:ea typeface="DejaVu Sans"/>
                <a:cs typeface="DejaVu Sans"/>
              </a:defRPr>
            </a:pPr>
            <a:r>
              <a:rPr sz="2025" b="1">
                <a:solidFill>
                  <a:srgbClr val="FF8A34"/>
                </a:solidFill>
                <a:latin typeface="DejaVu Sans"/>
                <a:ea typeface="DejaVu Sans"/>
                <a:cs typeface="DejaVu Sans"/>
              </a:rPr>
              <a:t>Example</a:t>
            </a:r>
          </a:p>
        </p:txBody>
      </p:sp>
      <p:sp>
        <p:nvSpPr>
          <p:cNvPr id="10" name="">
            <a:extLst xmlns:a="http://schemas.openxmlformats.org/drawingml/2006/main">
              <a:ext uri="{FF2B5EF4-FFF2-40B4-BE49-F238E27FC236}">
                <a16:creationId xmlns:a16="http://schemas.microsoft.com/office/drawing/2014/main" id="{23EDAF16-DCD4-4F34-85E3-3058EF5A330A}"/>
              </a:ext>
            </a:extLst>
          </p:cNvPr>
          <p:cNvSpPr>
            <a:spLocks xmlns:a="http://schemas.openxmlformats.org/drawingml/2006/main" noGrp="1"/>
          </p:cNvSpPr>
          <p:nvPr/>
        </p:nvSpPr>
        <p:spPr>
          <a:xfrm xmlns:a="http://schemas.openxmlformats.org/drawingml/2006/main">
            <a:off x="714375"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Uses the recipient's name, role or department</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Mentions a real project, supplier or meeting</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Matches the organization's normal language</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May arrive from a compromised trusted account</a:t>
            </a:r>
          </a:p>
        </p:txBody>
      </p:sp>
      <p:sp>
        <p:nvSpPr>
          <p:cNvPr id="11" name="">
            <a:extLst xmlns:a="http://schemas.openxmlformats.org/drawingml/2006/main">
              <a:ext uri="{FF2B5EF4-FFF2-40B4-BE49-F238E27FC236}">
                <a16:creationId xmlns:a16="http://schemas.microsoft.com/office/drawing/2014/main" id="{0EE20148-26B3-461A-8ADC-A8EFF35957C3}"/>
              </a:ext>
            </a:extLst>
          </p:cNvPr>
          <p:cNvSpPr>
            <a:spLocks xmlns:a="http://schemas.openxmlformats.org/drawingml/2006/main" noGrp="1"/>
          </p:cNvSpPr>
          <p:nvPr/>
        </p:nvSpPr>
        <p:spPr>
          <a:xfrm xmlns:a="http://schemas.openxmlformats.org/drawingml/2006/main">
            <a:off x="6191250"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Hi Arun, please review the revised server configuration before today's IT meeting</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The attachment uses the correct project name</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The sender address differs by one character</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Verification should use a known contact channel</a:t>
            </a:r>
          </a:p>
        </p:txBody>
      </p:sp>
    </p:spTree>
    <p:extLst>
      <p:ext uri="{BB962C8B-B14F-4D97-AF65-F5344CB8AC3E}">
        <p14:creationId xmlns:p14="http://schemas.microsoft.com/office/powerpoint/2010/main" val="1778027132"/>
      </p:ext>
    </p:extLst>
  </p:cSld>
</p:sld>
</file>

<file path=ppt/slides/slide1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9469003-2583-471D-83E0-FBFC014862F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526B7C-5D07-45A2-B643-56E9C8841BF7}"/>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PHISHING AWARENESS</a:t>
            </a:r>
          </a:p>
        </p:txBody>
      </p:sp>
      <p:sp>
        <p:nvSpPr>
          <p:cNvPr id="3" name="">
            <a:extLst xmlns:a="http://schemas.openxmlformats.org/drawingml/2006/main">
              <a:ext uri="{FF2B5EF4-FFF2-40B4-BE49-F238E27FC236}">
                <a16:creationId xmlns:a16="http://schemas.microsoft.com/office/drawing/2014/main" id="{E53E58D3-5D5F-41B8-9F75-A6E7D68FCFF7}"/>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11</a:t>
            </a:r>
          </a:p>
        </p:txBody>
      </p:sp>
      <p:sp>
        <p:nvSpPr>
          <p:cNvPr id="4" name="">
            <a:extLst xmlns:a="http://schemas.openxmlformats.org/drawingml/2006/main">
              <a:ext uri="{FF2B5EF4-FFF2-40B4-BE49-F238E27FC236}">
                <a16:creationId xmlns:a16="http://schemas.microsoft.com/office/drawing/2014/main" id="{02D68F1A-0395-419D-99DB-1F26AAF8856D}"/>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8812F9F-A2AD-447F-9E9B-5CE4E23B050B}"/>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Whaling</a:t>
            </a:r>
          </a:p>
        </p:txBody>
      </p:sp>
      <p:sp>
        <p:nvSpPr>
          <p:cNvPr id="6" name="">
            <a:extLst xmlns:a="http://schemas.openxmlformats.org/drawingml/2006/main">
              <a:ext uri="{FF2B5EF4-FFF2-40B4-BE49-F238E27FC236}">
                <a16:creationId xmlns:a16="http://schemas.microsoft.com/office/drawing/2014/main" id="{32B59A28-1AAC-4D44-9969-58AC5C1D3F5C}"/>
              </a:ext>
            </a:extLst>
          </p:cNvPr>
          <p:cNvSpPr>
            <a:spLocks xmlns:a="http://schemas.openxmlformats.org/drawingml/2006/main" noGrp="1"/>
          </p:cNvSpPr>
          <p:nvPr/>
        </p:nvSpPr>
        <p:spPr>
          <a:xfrm xmlns:a="http://schemas.openxmlformats.org/drawingml/2006/main">
            <a:off x="904875" y="1619250"/>
            <a:ext cx="10382250" cy="7239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2DCE2ED-E70A-4263-8F8B-1DFA32AA57A1}"/>
              </a:ext>
            </a:extLst>
          </p:cNvPr>
          <p:cNvSpPr>
            <a:spLocks xmlns:a="http://schemas.openxmlformats.org/drawingml/2006/main" noGrp="1"/>
          </p:cNvSpPr>
          <p:nvPr/>
        </p:nvSpPr>
        <p:spPr>
          <a:xfrm xmlns:a="http://schemas.openxmlformats.org/drawingml/2006/main">
            <a:off x="1076325" y="1714500"/>
            <a:ext cx="100393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Whaling targets executives and other high-value decision-makers</a:t>
            </a:r>
          </a:p>
        </p:txBody>
      </p:sp>
      <p:sp>
        <p:nvSpPr>
          <p:cNvPr id="8" name="">
            <a:extLst xmlns:a="http://schemas.openxmlformats.org/drawingml/2006/main">
              <a:ext uri="{FF2B5EF4-FFF2-40B4-BE49-F238E27FC236}">
                <a16:creationId xmlns:a16="http://schemas.microsoft.com/office/drawing/2014/main" id="{A96B930E-A682-45F1-9F54-92E03C282B44}"/>
              </a:ext>
            </a:extLst>
          </p:cNvPr>
          <p:cNvSpPr>
            <a:spLocks xmlns:a="http://schemas.openxmlformats.org/drawingml/2006/main" noGrp="1"/>
          </p:cNvSpPr>
          <p:nvPr/>
        </p:nvSpPr>
        <p:spPr>
          <a:xfrm xmlns:a="http://schemas.openxmlformats.org/drawingml/2006/main">
            <a:off x="495300" y="2714625"/>
            <a:ext cx="5238750" cy="3000375"/>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9" name="">
            <a:extLst xmlns:a="http://schemas.openxmlformats.org/drawingml/2006/main">
              <a:ext uri="{FF2B5EF4-FFF2-40B4-BE49-F238E27FC236}">
                <a16:creationId xmlns:a16="http://schemas.microsoft.com/office/drawing/2014/main" id="{492B7443-0EA2-400F-BE6B-AA10E9890A1B}"/>
              </a:ext>
            </a:extLst>
          </p:cNvPr>
          <p:cNvSpPr>
            <a:spLocks xmlns:a="http://schemas.openxmlformats.org/drawingml/2006/main" noGrp="1"/>
          </p:cNvSpPr>
          <p:nvPr/>
        </p:nvSpPr>
        <p:spPr>
          <a:xfrm xmlns:a="http://schemas.openxmlformats.org/drawingml/2006/main">
            <a:off x="5962650" y="2714625"/>
            <a:ext cx="5238750" cy="3000375"/>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10" name="">
            <a:extLst xmlns:a="http://schemas.openxmlformats.org/drawingml/2006/main">
              <a:ext uri="{FF2B5EF4-FFF2-40B4-BE49-F238E27FC236}">
                <a16:creationId xmlns:a16="http://schemas.microsoft.com/office/drawing/2014/main" id="{CFACDD3E-C083-4711-9744-24CDF5990CDC}"/>
              </a:ext>
            </a:extLst>
          </p:cNvPr>
          <p:cNvSpPr>
            <a:spLocks xmlns:a="http://schemas.openxmlformats.org/drawingml/2006/main" noGrp="1"/>
          </p:cNvSpPr>
          <p:nvPr/>
        </p:nvSpPr>
        <p:spPr>
          <a:xfrm xmlns:a="http://schemas.openxmlformats.org/drawingml/2006/main">
            <a:off x="742950" y="29051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2F80ED"/>
                </a:solidFill>
                <a:latin typeface="DejaVu Sans"/>
                <a:ea typeface="DejaVu Sans"/>
                <a:cs typeface="DejaVu Sans"/>
              </a:defRPr>
            </a:pPr>
            <a:r>
              <a:rPr sz="2025" b="1">
                <a:solidFill>
                  <a:srgbClr val="2F80ED"/>
                </a:solidFill>
                <a:latin typeface="DejaVu Sans"/>
                <a:ea typeface="DejaVu Sans"/>
                <a:cs typeface="DejaVu Sans"/>
              </a:rPr>
              <a:t>Why executives are targeted</a:t>
            </a:r>
          </a:p>
        </p:txBody>
      </p:sp>
      <p:sp>
        <p:nvSpPr>
          <p:cNvPr id="11" name="">
            <a:extLst xmlns:a="http://schemas.openxmlformats.org/drawingml/2006/main">
              <a:ext uri="{FF2B5EF4-FFF2-40B4-BE49-F238E27FC236}">
                <a16:creationId xmlns:a16="http://schemas.microsoft.com/office/drawing/2014/main" id="{03172E0A-44C4-4CE6-AD1A-7236C3E2AD0B}"/>
              </a:ext>
            </a:extLst>
          </p:cNvPr>
          <p:cNvSpPr>
            <a:spLocks xmlns:a="http://schemas.openxmlformats.org/drawingml/2006/main" noGrp="1"/>
          </p:cNvSpPr>
          <p:nvPr/>
        </p:nvSpPr>
        <p:spPr>
          <a:xfrm xmlns:a="http://schemas.openxmlformats.org/drawingml/2006/main">
            <a:off x="6210300" y="29051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FF8A34"/>
                </a:solidFill>
                <a:latin typeface="DejaVu Sans"/>
                <a:ea typeface="DejaVu Sans"/>
                <a:cs typeface="DejaVu Sans"/>
              </a:defRPr>
            </a:pPr>
            <a:r>
              <a:rPr sz="2025" b="1">
                <a:solidFill>
                  <a:srgbClr val="FF8A34"/>
                </a:solidFill>
                <a:latin typeface="DejaVu Sans"/>
                <a:ea typeface="DejaVu Sans"/>
                <a:cs typeface="DejaVu Sans"/>
              </a:rPr>
              <a:t>Common lures</a:t>
            </a:r>
          </a:p>
        </p:txBody>
      </p:sp>
      <p:sp>
        <p:nvSpPr>
          <p:cNvPr id="12" name="">
            <a:extLst xmlns:a="http://schemas.openxmlformats.org/drawingml/2006/main">
              <a:ext uri="{FF2B5EF4-FFF2-40B4-BE49-F238E27FC236}">
                <a16:creationId xmlns:a16="http://schemas.microsoft.com/office/drawing/2014/main" id="{3A126373-2306-4C9E-8684-EF26F10D101D}"/>
              </a:ext>
            </a:extLst>
          </p:cNvPr>
          <p:cNvSpPr>
            <a:spLocks xmlns:a="http://schemas.openxmlformats.org/drawingml/2006/main" noGrp="1"/>
          </p:cNvSpPr>
          <p:nvPr/>
        </p:nvSpPr>
        <p:spPr>
          <a:xfrm xmlns:a="http://schemas.openxmlformats.org/drawingml/2006/main">
            <a:off x="714375" y="3543300"/>
            <a:ext cx="4762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Payment authority</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Sensitive communications</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Privileged account access</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Influence over employees</a:t>
            </a:r>
          </a:p>
        </p:txBody>
      </p:sp>
      <p:sp>
        <p:nvSpPr>
          <p:cNvPr id="13" name="">
            <a:extLst xmlns:a="http://schemas.openxmlformats.org/drawingml/2006/main">
              <a:ext uri="{FF2B5EF4-FFF2-40B4-BE49-F238E27FC236}">
                <a16:creationId xmlns:a16="http://schemas.microsoft.com/office/drawing/2014/main" id="{E457623D-664B-44D6-9E44-4CE8ECE3C3AC}"/>
              </a:ext>
            </a:extLst>
          </p:cNvPr>
          <p:cNvSpPr>
            <a:spLocks xmlns:a="http://schemas.openxmlformats.org/drawingml/2006/main" noGrp="1"/>
          </p:cNvSpPr>
          <p:nvPr/>
        </p:nvSpPr>
        <p:spPr>
          <a:xfrm xmlns:a="http://schemas.openxmlformats.org/drawingml/2006/main">
            <a:off x="6191250" y="3543300"/>
            <a:ext cx="4762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Legal notice</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Confidential board document</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Executive travel request</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Urgent acquisition or payment</a:t>
            </a:r>
          </a:p>
        </p:txBody>
      </p:sp>
    </p:spTree>
    <p:extLst>
      <p:ext uri="{BB962C8B-B14F-4D97-AF65-F5344CB8AC3E}">
        <p14:creationId xmlns:p14="http://schemas.microsoft.com/office/powerpoint/2010/main" val="1613327089"/>
      </p:ext>
    </p:extLst>
  </p:cSld>
</p:sld>
</file>

<file path=ppt/slides/slide1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2EF2737-EF73-4EA9-86B1-7E57C854C1F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2CA0DE-0B4E-4384-9FD8-1B1F86929E1A}"/>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PHISHING AWARENESS</a:t>
            </a:r>
          </a:p>
        </p:txBody>
      </p:sp>
      <p:sp>
        <p:nvSpPr>
          <p:cNvPr id="3" name="">
            <a:extLst xmlns:a="http://schemas.openxmlformats.org/drawingml/2006/main">
              <a:ext uri="{FF2B5EF4-FFF2-40B4-BE49-F238E27FC236}">
                <a16:creationId xmlns:a16="http://schemas.microsoft.com/office/drawing/2014/main" id="{E5F83071-A119-417C-A4F1-9C1A0050DF18}"/>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12</a:t>
            </a:r>
          </a:p>
        </p:txBody>
      </p:sp>
      <p:sp>
        <p:nvSpPr>
          <p:cNvPr id="4" name="">
            <a:extLst xmlns:a="http://schemas.openxmlformats.org/drawingml/2006/main">
              <a:ext uri="{FF2B5EF4-FFF2-40B4-BE49-F238E27FC236}">
                <a16:creationId xmlns:a16="http://schemas.microsoft.com/office/drawing/2014/main" id="{570F8AD2-35F4-4093-BEBA-FC09F1FA316D}"/>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DCAF978-F644-4988-B031-2AA97E4C7039}"/>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Smishing</a:t>
            </a:r>
          </a:p>
        </p:txBody>
      </p:sp>
      <p:sp>
        <p:nvSpPr>
          <p:cNvPr id="6" name="">
            <a:extLst xmlns:a="http://schemas.openxmlformats.org/drawingml/2006/main">
              <a:ext uri="{FF2B5EF4-FFF2-40B4-BE49-F238E27FC236}">
                <a16:creationId xmlns:a16="http://schemas.microsoft.com/office/drawing/2014/main" id="{D2E7060B-07DE-44B4-B7FF-BC0DE912D072}"/>
              </a:ext>
            </a:extLst>
          </p:cNvPr>
          <p:cNvSpPr>
            <a:spLocks xmlns:a="http://schemas.openxmlformats.org/drawingml/2006/main" noGrp="1"/>
          </p:cNvSpPr>
          <p:nvPr/>
        </p:nvSpPr>
        <p:spPr>
          <a:xfrm xmlns:a="http://schemas.openxmlformats.org/drawingml/2006/main">
            <a:off x="904875" y="1571625"/>
            <a:ext cx="4476750" cy="4238625"/>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89E8F7B-20F2-4824-A6CE-2C2B1A3535A8}"/>
              </a:ext>
            </a:extLst>
          </p:cNvPr>
          <p:cNvSpPr>
            <a:spLocks xmlns:a="http://schemas.openxmlformats.org/drawingml/2006/main" noGrp="1"/>
          </p:cNvSpPr>
          <p:nvPr/>
        </p:nvSpPr>
        <p:spPr>
          <a:xfrm xmlns:a="http://schemas.openxmlformats.org/drawingml/2006/main">
            <a:off x="1190625" y="1809750"/>
            <a:ext cx="85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350" b="1">
                <a:solidFill>
                  <a:srgbClr val="1CC8C8"/>
                </a:solidFill>
                <a:latin typeface="DejaVu Sans"/>
                <a:ea typeface="DejaVu Sans"/>
                <a:cs typeface="DejaVu Sans"/>
              </a:defRPr>
            </a:pPr>
            <a:r>
              <a:rPr sz="1350" b="1">
                <a:solidFill>
                  <a:srgbClr val="1CC8C8"/>
                </a:solidFill>
                <a:latin typeface="DejaVu Sans"/>
                <a:ea typeface="DejaVu Sans"/>
                <a:cs typeface="DejaVu Sans"/>
              </a:rPr>
              <a:t>SMS</a:t>
            </a:r>
          </a:p>
        </p:txBody>
      </p:sp>
      <p:sp>
        <p:nvSpPr>
          <p:cNvPr id="8" name="">
            <a:extLst xmlns:a="http://schemas.openxmlformats.org/drawingml/2006/main">
              <a:ext uri="{FF2B5EF4-FFF2-40B4-BE49-F238E27FC236}">
                <a16:creationId xmlns:a16="http://schemas.microsoft.com/office/drawing/2014/main" id="{40EB223B-811B-439D-ACFC-FD154819D450}"/>
              </a:ext>
            </a:extLst>
          </p:cNvPr>
          <p:cNvSpPr>
            <a:spLocks xmlns:a="http://schemas.openxmlformats.org/drawingml/2006/main" noGrp="1"/>
          </p:cNvSpPr>
          <p:nvPr/>
        </p:nvSpPr>
        <p:spPr>
          <a:xfrm xmlns:a="http://schemas.openxmlformats.org/drawingml/2006/main">
            <a:off x="1190625" y="2333625"/>
            <a:ext cx="3905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Your electricity service will be disconnected tonight. Pay immediately using the link below.</a:t>
            </a:r>
          </a:p>
          <a:p xmlns:a="http://schemas.openxmlformats.org/drawingml/2006/main">
            <a:r>
              <a:t/>
            </a:r>
          </a:p>
          <a:p xmlns:a="http://schemas.openxmlformats.org/drawingml/2006/main">
            <a:pPr algn="l">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https://bill-update.example</a:t>
            </a:r>
          </a:p>
        </p:txBody>
      </p:sp>
      <p:sp>
        <p:nvSpPr>
          <p:cNvPr id="9" name="">
            <a:extLst xmlns:a="http://schemas.openxmlformats.org/drawingml/2006/main">
              <a:ext uri="{FF2B5EF4-FFF2-40B4-BE49-F238E27FC236}">
                <a16:creationId xmlns:a16="http://schemas.microsoft.com/office/drawing/2014/main" id="{20208FA6-98FA-4D32-99BD-E0EDF7BF8E98}"/>
              </a:ext>
            </a:extLst>
          </p:cNvPr>
          <p:cNvSpPr>
            <a:spLocks xmlns:a="http://schemas.openxmlformats.org/drawingml/2006/main" noGrp="1"/>
          </p:cNvSpPr>
          <p:nvPr/>
        </p:nvSpPr>
        <p:spPr>
          <a:xfrm xmlns:a="http://schemas.openxmlformats.org/drawingml/2006/main">
            <a:off x="1190625" y="50482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200" b="0">
                <a:solidFill>
                  <a:srgbClr val="DCE8ED"/>
                </a:solidFill>
                <a:latin typeface="DejaVu Sans"/>
                <a:ea typeface="DejaVu Sans"/>
                <a:cs typeface="DejaVu Sans"/>
              </a:defRPr>
            </a:pPr>
            <a:r>
              <a:rPr sz="1200" b="0">
                <a:solidFill>
                  <a:srgbClr val="DCE8ED"/>
                </a:solidFill>
                <a:latin typeface="DejaVu Sans"/>
                <a:ea typeface="DejaVu Sans"/>
                <a:cs typeface="DejaVu Sans"/>
              </a:rPr>
              <a:t>Delivered 2:14 PM</a:t>
            </a:r>
          </a:p>
        </p:txBody>
      </p:sp>
      <p:sp>
        <p:nvSpPr>
          <p:cNvPr id="10" name="">
            <a:extLst xmlns:a="http://schemas.openxmlformats.org/drawingml/2006/main">
              <a:ext uri="{FF2B5EF4-FFF2-40B4-BE49-F238E27FC236}">
                <a16:creationId xmlns:a16="http://schemas.microsoft.com/office/drawing/2014/main" id="{CEC686EA-3864-446D-9BB3-4372A527D490}"/>
              </a:ext>
            </a:extLst>
          </p:cNvPr>
          <p:cNvSpPr>
            <a:spLocks xmlns:a="http://schemas.openxmlformats.org/drawingml/2006/main" noGrp="1"/>
          </p:cNvSpPr>
          <p:nvPr/>
        </p:nvSpPr>
        <p:spPr>
          <a:xfrm xmlns:a="http://schemas.openxmlformats.org/drawingml/2006/main">
            <a:off x="6000750" y="166687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98214"/>
          </a:bodyPr>
          <a:lstStyle xmlns:a="http://schemas.openxmlformats.org/drawingml/2006/main"/>
          <a:p xmlns:a="http://schemas.openxmlformats.org/drawingml/2006/main">
            <a:pPr algn="l">
              <a:defRPr sz="2100" b="1">
                <a:solidFill>
                  <a:srgbClr val="081A2E"/>
                </a:solidFill>
                <a:latin typeface="DejaVu Sans"/>
                <a:ea typeface="DejaVu Sans"/>
                <a:cs typeface="DejaVu Sans"/>
              </a:defRPr>
            </a:pPr>
            <a:r>
              <a:rPr sz="2100" b="1">
                <a:solidFill>
                  <a:srgbClr val="081A2E"/>
                </a:solidFill>
                <a:latin typeface="DejaVu Sans"/>
                <a:ea typeface="DejaVu Sans"/>
                <a:cs typeface="DejaVu Sans"/>
              </a:rPr>
              <a:t>Mobile warning signs</a:t>
            </a:r>
          </a:p>
        </p:txBody>
      </p:sp>
      <p:sp>
        <p:nvSpPr>
          <p:cNvPr id="11" name="">
            <a:extLst xmlns:a="http://schemas.openxmlformats.org/drawingml/2006/main">
              <a:ext uri="{FF2B5EF4-FFF2-40B4-BE49-F238E27FC236}">
                <a16:creationId xmlns:a16="http://schemas.microsoft.com/office/drawing/2014/main" id="{41B00529-EA2A-4AB7-AC4E-922DD6E526E7}"/>
              </a:ext>
            </a:extLst>
          </p:cNvPr>
          <p:cNvSpPr>
            <a:spLocks xmlns:a="http://schemas.openxmlformats.org/drawingml/2006/main" noGrp="1"/>
          </p:cNvSpPr>
          <p:nvPr/>
        </p:nvSpPr>
        <p:spPr>
          <a:xfrm xmlns:a="http://schemas.openxmlformats.org/drawingml/2006/main">
            <a:off x="5905500" y="2286000"/>
            <a:ext cx="5143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Unexpected account or delivery problem</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Link shortened or partly hidden</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Request to install an APK</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Small payment used to capture card details</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Message creates fear or time pressure</a:t>
            </a:r>
          </a:p>
        </p:txBody>
      </p:sp>
    </p:spTree>
    <p:extLst>
      <p:ext uri="{BB962C8B-B14F-4D97-AF65-F5344CB8AC3E}">
        <p14:creationId xmlns:p14="http://schemas.microsoft.com/office/powerpoint/2010/main" val="1602291371"/>
      </p:ext>
    </p:extLst>
  </p:cSld>
</p:sld>
</file>

<file path=ppt/slides/slide1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CFCD2E3-3DE9-43C6-BB56-A0A204394AB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B93489-CB69-4D6A-9134-3438D55CB94A}"/>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PHISHING AWARENESS</a:t>
            </a:r>
          </a:p>
        </p:txBody>
      </p:sp>
      <p:sp>
        <p:nvSpPr>
          <p:cNvPr id="3" name="">
            <a:extLst xmlns:a="http://schemas.openxmlformats.org/drawingml/2006/main">
              <a:ext uri="{FF2B5EF4-FFF2-40B4-BE49-F238E27FC236}">
                <a16:creationId xmlns:a16="http://schemas.microsoft.com/office/drawing/2014/main" id="{4FFDF0AD-5963-48C8-9DAE-D577DC1E38C4}"/>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13</a:t>
            </a:r>
          </a:p>
        </p:txBody>
      </p:sp>
      <p:sp>
        <p:nvSpPr>
          <p:cNvPr id="4" name="">
            <a:extLst xmlns:a="http://schemas.openxmlformats.org/drawingml/2006/main">
              <a:ext uri="{FF2B5EF4-FFF2-40B4-BE49-F238E27FC236}">
                <a16:creationId xmlns:a16="http://schemas.microsoft.com/office/drawing/2014/main" id="{1BA2B261-7143-48ED-87F6-1BFB2DF64F61}"/>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2DB9AC7-175C-479D-A5E4-18FF23370799}"/>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Vishing</a:t>
            </a:r>
          </a:p>
        </p:txBody>
      </p:sp>
      <p:sp>
        <p:nvSpPr>
          <p:cNvPr id="6" name="">
            <a:extLst xmlns:a="http://schemas.openxmlformats.org/drawingml/2006/main">
              <a:ext uri="{FF2B5EF4-FFF2-40B4-BE49-F238E27FC236}">
                <a16:creationId xmlns:a16="http://schemas.microsoft.com/office/drawing/2014/main" id="{B8E4552F-6D24-419C-888C-AFABA1199D04}"/>
              </a:ext>
            </a:extLst>
          </p:cNvPr>
          <p:cNvSpPr>
            <a:spLocks xmlns:a="http://schemas.openxmlformats.org/drawingml/2006/main" noGrp="1"/>
          </p:cNvSpPr>
          <p:nvPr/>
        </p:nvSpPr>
        <p:spPr>
          <a:xfrm xmlns:a="http://schemas.openxmlformats.org/drawingml/2006/main">
            <a:off x="49530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2C3DCFBE-41A8-422F-A281-027C41D018BA}"/>
              </a:ext>
            </a:extLst>
          </p:cNvPr>
          <p:cNvSpPr>
            <a:spLocks xmlns:a="http://schemas.openxmlformats.org/drawingml/2006/main" noGrp="1"/>
          </p:cNvSpPr>
          <p:nvPr/>
        </p:nvSpPr>
        <p:spPr>
          <a:xfrm xmlns:a="http://schemas.openxmlformats.org/drawingml/2006/main">
            <a:off x="596265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8" name="">
            <a:extLst xmlns:a="http://schemas.openxmlformats.org/drawingml/2006/main">
              <a:ext uri="{FF2B5EF4-FFF2-40B4-BE49-F238E27FC236}">
                <a16:creationId xmlns:a16="http://schemas.microsoft.com/office/drawing/2014/main" id="{F8FC2F35-F2FB-4772-A4CE-553334FAC924}"/>
              </a:ext>
            </a:extLst>
          </p:cNvPr>
          <p:cNvSpPr>
            <a:spLocks xmlns:a="http://schemas.openxmlformats.org/drawingml/2006/main" noGrp="1"/>
          </p:cNvSpPr>
          <p:nvPr/>
        </p:nvSpPr>
        <p:spPr>
          <a:xfrm xmlns:a="http://schemas.openxmlformats.org/drawingml/2006/main">
            <a:off x="74295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E54B4B"/>
                </a:solidFill>
                <a:latin typeface="DejaVu Sans"/>
                <a:ea typeface="DejaVu Sans"/>
                <a:cs typeface="DejaVu Sans"/>
              </a:defRPr>
            </a:pPr>
            <a:r>
              <a:rPr sz="2025" b="1">
                <a:solidFill>
                  <a:srgbClr val="E54B4B"/>
                </a:solidFill>
                <a:latin typeface="DejaVu Sans"/>
                <a:ea typeface="DejaVu Sans"/>
                <a:cs typeface="DejaVu Sans"/>
              </a:rPr>
              <a:t>Attacker script</a:t>
            </a:r>
          </a:p>
        </p:txBody>
      </p:sp>
      <p:sp>
        <p:nvSpPr>
          <p:cNvPr id="9" name="">
            <a:extLst xmlns:a="http://schemas.openxmlformats.org/drawingml/2006/main">
              <a:ext uri="{FF2B5EF4-FFF2-40B4-BE49-F238E27FC236}">
                <a16:creationId xmlns:a16="http://schemas.microsoft.com/office/drawing/2014/main" id="{C49312D8-07AD-4E8D-AA22-414DBD229919}"/>
              </a:ext>
            </a:extLst>
          </p:cNvPr>
          <p:cNvSpPr>
            <a:spLocks xmlns:a="http://schemas.openxmlformats.org/drawingml/2006/main" noGrp="1"/>
          </p:cNvSpPr>
          <p:nvPr/>
        </p:nvSpPr>
        <p:spPr>
          <a:xfrm xmlns:a="http://schemas.openxmlformats.org/drawingml/2006/main">
            <a:off x="621030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2AA876"/>
                </a:solidFill>
                <a:latin typeface="DejaVu Sans"/>
                <a:ea typeface="DejaVu Sans"/>
                <a:cs typeface="DejaVu Sans"/>
              </a:defRPr>
            </a:pPr>
            <a:r>
              <a:rPr sz="2025" b="1">
                <a:solidFill>
                  <a:srgbClr val="2AA876"/>
                </a:solidFill>
                <a:latin typeface="DejaVu Sans"/>
                <a:ea typeface="DejaVu Sans"/>
                <a:cs typeface="DejaVu Sans"/>
              </a:rPr>
              <a:t>Safe response</a:t>
            </a:r>
          </a:p>
        </p:txBody>
      </p:sp>
      <p:sp>
        <p:nvSpPr>
          <p:cNvPr id="10" name="">
            <a:extLst xmlns:a="http://schemas.openxmlformats.org/drawingml/2006/main">
              <a:ext uri="{FF2B5EF4-FFF2-40B4-BE49-F238E27FC236}">
                <a16:creationId xmlns:a16="http://schemas.microsoft.com/office/drawing/2014/main" id="{B153DF1A-8CD6-41BB-A665-8EC6D6B0368D}"/>
              </a:ext>
            </a:extLst>
          </p:cNvPr>
          <p:cNvSpPr>
            <a:spLocks xmlns:a="http://schemas.openxmlformats.org/drawingml/2006/main" noGrp="1"/>
          </p:cNvSpPr>
          <p:nvPr/>
        </p:nvSpPr>
        <p:spPr>
          <a:xfrm xmlns:a="http://schemas.openxmlformats.org/drawingml/2006/main">
            <a:off x="714375"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I am calling from your bank's fraud department</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We detected an unauthorized transaction</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Tell me the OTP so I can cancel it</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Do not disconnect or the account will be blocked</a:t>
            </a:r>
          </a:p>
        </p:txBody>
      </p:sp>
      <p:sp>
        <p:nvSpPr>
          <p:cNvPr id="11" name="">
            <a:extLst xmlns:a="http://schemas.openxmlformats.org/drawingml/2006/main">
              <a:ext uri="{FF2B5EF4-FFF2-40B4-BE49-F238E27FC236}">
                <a16:creationId xmlns:a16="http://schemas.microsoft.com/office/drawing/2014/main" id="{EF7370F9-EA2D-4D3E-8CC6-70E193357501}"/>
              </a:ext>
            </a:extLst>
          </p:cNvPr>
          <p:cNvSpPr>
            <a:spLocks xmlns:a="http://schemas.openxmlformats.org/drawingml/2006/main" noGrp="1"/>
          </p:cNvSpPr>
          <p:nvPr/>
        </p:nvSpPr>
        <p:spPr>
          <a:xfrm xmlns:a="http://schemas.openxmlformats.org/drawingml/2006/main">
            <a:off x="6191250"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Do not disclose the OTP or PIN</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End the call without following instructions</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Call the organization using its official number</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Report requests for remote access or screen sharing</a:t>
            </a:r>
          </a:p>
        </p:txBody>
      </p:sp>
    </p:spTree>
    <p:extLst>
      <p:ext uri="{BB962C8B-B14F-4D97-AF65-F5344CB8AC3E}">
        <p14:creationId xmlns:p14="http://schemas.microsoft.com/office/powerpoint/2010/main" val="108808819"/>
      </p:ext>
    </p:extLst>
  </p:cSld>
</p:sld>
</file>

<file path=ppt/slides/slide1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5AFA048-3E90-49D7-B32D-B2FB468456F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04492B-A03D-4445-BB18-0B0F0474A45E}"/>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PHISHING AWARENESS</a:t>
            </a:r>
          </a:p>
        </p:txBody>
      </p:sp>
      <p:sp>
        <p:nvSpPr>
          <p:cNvPr id="3" name="">
            <a:extLst xmlns:a="http://schemas.openxmlformats.org/drawingml/2006/main">
              <a:ext uri="{FF2B5EF4-FFF2-40B4-BE49-F238E27FC236}">
                <a16:creationId xmlns:a16="http://schemas.microsoft.com/office/drawing/2014/main" id="{61E8948A-9101-4E89-83EF-3F563F2E19C1}"/>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14</a:t>
            </a:r>
          </a:p>
        </p:txBody>
      </p:sp>
      <p:sp>
        <p:nvSpPr>
          <p:cNvPr id="4" name="">
            <a:extLst xmlns:a="http://schemas.openxmlformats.org/drawingml/2006/main">
              <a:ext uri="{FF2B5EF4-FFF2-40B4-BE49-F238E27FC236}">
                <a16:creationId xmlns:a16="http://schemas.microsoft.com/office/drawing/2014/main" id="{5C31E9E2-C516-46B9-A949-6D01424C7035}"/>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358E45E-D16E-49BF-B81C-EDE1FC3CF1FC}"/>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QR-code phishing</a:t>
            </a:r>
          </a:p>
        </p:txBody>
      </p:sp>
      <p:sp>
        <p:nvSpPr>
          <p:cNvPr id="6" name="">
            <a:extLst xmlns:a="http://schemas.openxmlformats.org/drawingml/2006/main">
              <a:ext uri="{FF2B5EF4-FFF2-40B4-BE49-F238E27FC236}">
                <a16:creationId xmlns:a16="http://schemas.microsoft.com/office/drawing/2014/main" id="{3576E4F1-43DF-4D83-9AEB-EF1AE1A4ED6D}"/>
              </a:ext>
            </a:extLst>
          </p:cNvPr>
          <p:cNvSpPr>
            <a:spLocks xmlns:a="http://schemas.openxmlformats.org/drawingml/2006/main" noGrp="1"/>
          </p:cNvSpPr>
          <p:nvPr/>
        </p:nvSpPr>
        <p:spPr>
          <a:xfrm xmlns:a="http://schemas.openxmlformats.org/drawingml/2006/main">
            <a:off x="1047750" y="1809750"/>
            <a:ext cx="3238500" cy="2667000"/>
          </a:xfrm>
          <a:prstGeom xmlns:a="http://schemas.openxmlformats.org/drawingml/2006/main" prst="rect">
            <a:avLst/>
          </a:prstGeom>
          <a:solidFill xmlns:a="http://schemas.openxmlformats.org/drawingml/2006/main">
            <a:srgbClr val="FFFFFF"/>
          </a:solidFill>
          <a:ln xmlns:a="http://schemas.openxmlformats.org/drawingml/2006/main" w="9525">
            <a:solidFill>
              <a:srgbClr val="081A2E"/>
            </a:solid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1250" b="1">
                <a:solidFill>
                  <a:srgbClr val="081A2E"/>
                </a:solidFill>
                <a:latin typeface="DejaVu Sans"/>
                <a:ea typeface="DejaVu Sans"/>
                <a:cs typeface="DejaVu Sans"/>
              </a:defRPr>
            </a:pPr>
            <a:r>
              <a:rPr sz="11250" b="1">
                <a:solidFill>
                  <a:srgbClr val="081A2E"/>
                </a:solidFill>
                <a:latin typeface="DejaVu Sans"/>
                <a:ea typeface="DejaVu Sans"/>
                <a:cs typeface="DejaVu Sans"/>
              </a:rPr>
              <a:t>QR</a:t>
            </a:r>
          </a:p>
        </p:txBody>
      </p:sp>
      <p:sp>
        <p:nvSpPr>
          <p:cNvPr id="7" name="">
            <a:extLst xmlns:a="http://schemas.openxmlformats.org/drawingml/2006/main">
              <a:ext uri="{FF2B5EF4-FFF2-40B4-BE49-F238E27FC236}">
                <a16:creationId xmlns:a16="http://schemas.microsoft.com/office/drawing/2014/main" id="{9840910D-2D91-458F-A30C-3FD1B76F3C1E}"/>
              </a:ext>
            </a:extLst>
          </p:cNvPr>
          <p:cNvSpPr>
            <a:spLocks xmlns:a="http://schemas.openxmlformats.org/drawingml/2006/main" noGrp="1"/>
          </p:cNvSpPr>
          <p:nvPr/>
        </p:nvSpPr>
        <p:spPr>
          <a:xfrm xmlns:a="http://schemas.openxmlformats.org/drawingml/2006/main">
            <a:off x="4953000" y="1695450"/>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175" b="1">
                <a:solidFill>
                  <a:srgbClr val="081A2E"/>
                </a:solidFill>
                <a:latin typeface="DejaVu Sans"/>
                <a:ea typeface="DejaVu Sans"/>
                <a:cs typeface="DejaVu Sans"/>
              </a:defRPr>
            </a:pPr>
            <a:r>
              <a:rPr sz="2175" b="1">
                <a:solidFill>
                  <a:srgbClr val="081A2E"/>
                </a:solidFill>
                <a:latin typeface="DejaVu Sans"/>
                <a:ea typeface="DejaVu Sans"/>
                <a:cs typeface="DejaVu Sans"/>
              </a:rPr>
              <a:t>Why it works</a:t>
            </a:r>
          </a:p>
        </p:txBody>
      </p:sp>
      <p:sp>
        <p:nvSpPr>
          <p:cNvPr id="8" name="">
            <a:extLst xmlns:a="http://schemas.openxmlformats.org/drawingml/2006/main">
              <a:ext uri="{FF2B5EF4-FFF2-40B4-BE49-F238E27FC236}">
                <a16:creationId xmlns:a16="http://schemas.microsoft.com/office/drawing/2014/main" id="{698585DC-0E6B-40F4-9ECB-975AFC01054C}"/>
              </a:ext>
            </a:extLst>
          </p:cNvPr>
          <p:cNvSpPr>
            <a:spLocks xmlns:a="http://schemas.openxmlformats.org/drawingml/2006/main" noGrp="1"/>
          </p:cNvSpPr>
          <p:nvPr/>
        </p:nvSpPr>
        <p:spPr>
          <a:xfrm xmlns:a="http://schemas.openxmlformats.org/drawingml/2006/main">
            <a:off x="4857750" y="2286000"/>
            <a:ext cx="5905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The destination remains hidden until scanning</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The page opens on a smaller mobile screen</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The code can be placed in email, posters or documents</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A fake sign-in page can still use HTTPS</a:t>
            </a:r>
          </a:p>
        </p:txBody>
      </p:sp>
      <p:sp>
        <p:nvSpPr>
          <p:cNvPr id="9" name="">
            <a:extLst xmlns:a="http://schemas.openxmlformats.org/drawingml/2006/main">
              <a:ext uri="{FF2B5EF4-FFF2-40B4-BE49-F238E27FC236}">
                <a16:creationId xmlns:a16="http://schemas.microsoft.com/office/drawing/2014/main" id="{6983F909-6F95-427E-9E96-FBB85C776615}"/>
              </a:ext>
            </a:extLst>
          </p:cNvPr>
          <p:cNvSpPr>
            <a:spLocks xmlns:a="http://schemas.openxmlformats.org/drawingml/2006/main" noGrp="1"/>
          </p:cNvSpPr>
          <p:nvPr/>
        </p:nvSpPr>
        <p:spPr>
          <a:xfrm xmlns:a="http://schemas.openxmlformats.org/drawingml/2006/main">
            <a:off x="4857750" y="5048250"/>
            <a:ext cx="5905500" cy="685800"/>
          </a:xfrm>
          <a:prstGeom xmlns:a="http://schemas.openxmlformats.org/drawingml/2006/main" prst="rect">
            <a:avLst/>
          </a:prstGeom>
          <a:solidFill xmlns:a="http://schemas.openxmlformats.org/drawingml/2006/main">
            <a:srgbClr val="FF8A3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D6E8B58-9F1B-4E4C-BB9C-8C3616BB814A}"/>
              </a:ext>
            </a:extLst>
          </p:cNvPr>
          <p:cNvSpPr>
            <a:spLocks xmlns:a="http://schemas.openxmlformats.org/drawingml/2006/main" noGrp="1"/>
          </p:cNvSpPr>
          <p:nvPr/>
        </p:nvSpPr>
        <p:spPr>
          <a:xfrm xmlns:a="http://schemas.openxmlformats.org/drawingml/2006/main">
            <a:off x="5029200" y="5143500"/>
            <a:ext cx="5562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6878"/>
          </a:bodyPr>
          <a:lstStyle xmlns:a="http://schemas.openxmlformats.org/drawingml/2006/main"/>
          <a:p xmlns:a="http://schemas.openxmlformats.org/drawingml/2006/main">
            <a:pPr algn="ctr">
              <a:defRPr sz="1875" b="1">
                <a:solidFill>
                  <a:srgbClr val="081A2E"/>
                </a:solidFill>
                <a:latin typeface="DejaVu Sans"/>
                <a:ea typeface="DejaVu Sans"/>
                <a:cs typeface="DejaVu Sans"/>
              </a:defRPr>
            </a:pPr>
            <a:r>
              <a:rPr sz="1875" b="1">
                <a:solidFill>
                  <a:srgbClr val="081A2E"/>
                </a:solidFill>
                <a:latin typeface="DejaVu Sans"/>
                <a:ea typeface="DejaVu Sans"/>
                <a:cs typeface="DejaVu Sans"/>
              </a:rPr>
              <a:t>Preview the destination before opening it</a:t>
            </a:r>
          </a:p>
        </p:txBody>
      </p:sp>
    </p:spTree>
    <p:extLst>
      <p:ext uri="{BB962C8B-B14F-4D97-AF65-F5344CB8AC3E}">
        <p14:creationId xmlns:p14="http://schemas.microsoft.com/office/powerpoint/2010/main" val="1959909977"/>
      </p:ext>
    </p:extLst>
  </p:cSld>
</p:sld>
</file>

<file path=ppt/slides/slide1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BCEEE0E-FFD2-4767-96DC-1B63ADD3988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5C5312-ED82-46CD-8136-4ED1561B25ED}"/>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PHISHING AWARENESS</a:t>
            </a:r>
          </a:p>
        </p:txBody>
      </p:sp>
      <p:sp>
        <p:nvSpPr>
          <p:cNvPr id="3" name="">
            <a:extLst xmlns:a="http://schemas.openxmlformats.org/drawingml/2006/main">
              <a:ext uri="{FF2B5EF4-FFF2-40B4-BE49-F238E27FC236}">
                <a16:creationId xmlns:a16="http://schemas.microsoft.com/office/drawing/2014/main" id="{020BD8B8-9A05-4B8B-9E90-FA3360623AC7}"/>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15</a:t>
            </a:r>
          </a:p>
        </p:txBody>
      </p:sp>
      <p:sp>
        <p:nvSpPr>
          <p:cNvPr id="4" name="">
            <a:extLst xmlns:a="http://schemas.openxmlformats.org/drawingml/2006/main">
              <a:ext uri="{FF2B5EF4-FFF2-40B4-BE49-F238E27FC236}">
                <a16:creationId xmlns:a16="http://schemas.microsoft.com/office/drawing/2014/main" id="{3F4829DF-32A7-41BB-A2C1-26DC55C349AC}"/>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1B9FFA-9D13-4C26-B44F-DC459E9F21FD}"/>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Business Email Compromise</a:t>
            </a:r>
          </a:p>
        </p:txBody>
      </p:sp>
      <p:sp>
        <p:nvSpPr>
          <p:cNvPr id="6" name="">
            <a:extLst xmlns:a="http://schemas.openxmlformats.org/drawingml/2006/main">
              <a:ext uri="{FF2B5EF4-FFF2-40B4-BE49-F238E27FC236}">
                <a16:creationId xmlns:a16="http://schemas.microsoft.com/office/drawing/2014/main" id="{FD7C5754-C163-4F18-BEA6-72138EF93E42}"/>
              </a:ext>
            </a:extLst>
          </p:cNvPr>
          <p:cNvSpPr>
            <a:spLocks xmlns:a="http://schemas.openxmlformats.org/drawingml/2006/main" noGrp="1"/>
          </p:cNvSpPr>
          <p:nvPr/>
        </p:nvSpPr>
        <p:spPr>
          <a:xfrm xmlns:a="http://schemas.openxmlformats.org/drawingml/2006/main">
            <a:off x="571500" y="1571625"/>
            <a:ext cx="72390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97EB7E7C-7BCD-40F8-951A-27BEF52DB256}"/>
              </a:ext>
            </a:extLst>
          </p:cNvPr>
          <p:cNvSpPr>
            <a:spLocks xmlns:a="http://schemas.openxmlformats.org/drawingml/2006/main" noGrp="1"/>
          </p:cNvSpPr>
          <p:nvPr/>
        </p:nvSpPr>
        <p:spPr>
          <a:xfrm xmlns:a="http://schemas.openxmlformats.org/drawingml/2006/main">
            <a:off x="571500" y="1571625"/>
            <a:ext cx="7239000" cy="4572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BD193C-C979-4EE9-BA41-B9B4D58D86C4}"/>
              </a:ext>
            </a:extLst>
          </p:cNvPr>
          <p:cNvSpPr>
            <a:spLocks xmlns:a="http://schemas.openxmlformats.org/drawingml/2006/main" noGrp="1"/>
          </p:cNvSpPr>
          <p:nvPr/>
        </p:nvSpPr>
        <p:spPr>
          <a:xfrm xmlns:a="http://schemas.openxmlformats.org/drawingml/2006/main">
            <a:off x="742950" y="1647825"/>
            <a:ext cx="6896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2593"/>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Message preview</a:t>
            </a:r>
          </a:p>
        </p:txBody>
      </p:sp>
      <p:sp>
        <p:nvSpPr>
          <p:cNvPr id="9" name="">
            <a:extLst xmlns:a="http://schemas.openxmlformats.org/drawingml/2006/main">
              <a:ext uri="{FF2B5EF4-FFF2-40B4-BE49-F238E27FC236}">
                <a16:creationId xmlns:a16="http://schemas.microsoft.com/office/drawing/2014/main" id="{F0E1191C-2D44-4B8E-AA50-420CE1586210}"/>
              </a:ext>
            </a:extLst>
          </p:cNvPr>
          <p:cNvSpPr>
            <a:spLocks xmlns:a="http://schemas.openxmlformats.org/drawingml/2006/main" noGrp="1"/>
          </p:cNvSpPr>
          <p:nvPr/>
        </p:nvSpPr>
        <p:spPr>
          <a:xfrm xmlns:a="http://schemas.openxmlformats.org/drawingml/2006/main">
            <a:off x="742950" y="216217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275" b="1">
                <a:solidFill>
                  <a:srgbClr val="607385"/>
                </a:solidFill>
                <a:latin typeface="DejaVu Sans"/>
                <a:ea typeface="DejaVu Sans"/>
                <a:cs typeface="DejaVu Sans"/>
              </a:defRPr>
            </a:pPr>
            <a:r>
              <a:rPr sz="1275" b="1">
                <a:solidFill>
                  <a:srgbClr val="607385"/>
                </a:solidFill>
                <a:latin typeface="DejaVu Sans"/>
                <a:ea typeface="DejaVu Sans"/>
                <a:cs typeface="DejaVu Sans"/>
              </a:rPr>
              <a:t>From</a:t>
            </a:r>
          </a:p>
        </p:txBody>
      </p:sp>
      <p:sp>
        <p:nvSpPr>
          <p:cNvPr id="10" name="">
            <a:extLst xmlns:a="http://schemas.openxmlformats.org/drawingml/2006/main">
              <a:ext uri="{FF2B5EF4-FFF2-40B4-BE49-F238E27FC236}">
                <a16:creationId xmlns:a16="http://schemas.microsoft.com/office/drawing/2014/main" id="{7BD9B438-5508-4955-8E7E-5D484936EE22}"/>
              </a:ext>
            </a:extLst>
          </p:cNvPr>
          <p:cNvSpPr>
            <a:spLocks xmlns:a="http://schemas.openxmlformats.org/drawingml/2006/main" noGrp="1"/>
          </p:cNvSpPr>
          <p:nvPr/>
        </p:nvSpPr>
        <p:spPr>
          <a:xfrm xmlns:a="http://schemas.openxmlformats.org/drawingml/2006/main">
            <a:off x="1695450" y="216217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0">
                <a:solidFill>
                  <a:srgbClr val="183247"/>
                </a:solidFill>
                <a:latin typeface="DejaVu Sans"/>
                <a:ea typeface="DejaVu Sans"/>
                <a:cs typeface="DejaVu Sans"/>
              </a:defRPr>
            </a:pPr>
            <a:r>
              <a:rPr sz="1350" b="0">
                <a:solidFill>
                  <a:srgbClr val="183247"/>
                </a:solidFill>
                <a:latin typeface="DejaVu Sans"/>
                <a:ea typeface="DejaVu Sans"/>
                <a:cs typeface="DejaVu Sans"/>
              </a:rPr>
              <a:t>Managing Director &lt;director@company-example.com&gt;</a:t>
            </a:r>
          </a:p>
        </p:txBody>
      </p:sp>
      <p:sp>
        <p:nvSpPr>
          <p:cNvPr id="11" name="">
            <a:extLst xmlns:a="http://schemas.openxmlformats.org/drawingml/2006/main">
              <a:ext uri="{FF2B5EF4-FFF2-40B4-BE49-F238E27FC236}">
                <a16:creationId xmlns:a16="http://schemas.microsoft.com/office/drawing/2014/main" id="{5A959241-DC47-4AD9-B923-032377059E50}"/>
              </a:ext>
            </a:extLst>
          </p:cNvPr>
          <p:cNvSpPr>
            <a:spLocks xmlns:a="http://schemas.openxmlformats.org/drawingml/2006/main" noGrp="1"/>
          </p:cNvSpPr>
          <p:nvPr/>
        </p:nvSpPr>
        <p:spPr>
          <a:xfrm xmlns:a="http://schemas.openxmlformats.org/drawingml/2006/main">
            <a:off x="742950" y="261937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275" b="1">
                <a:solidFill>
                  <a:srgbClr val="607385"/>
                </a:solidFill>
                <a:latin typeface="DejaVu Sans"/>
                <a:ea typeface="DejaVu Sans"/>
                <a:cs typeface="DejaVu Sans"/>
              </a:defRPr>
            </a:pPr>
            <a:r>
              <a:rPr sz="1275" b="1">
                <a:solidFill>
                  <a:srgbClr val="607385"/>
                </a:solidFill>
                <a:latin typeface="DejaVu Sans"/>
                <a:ea typeface="DejaVu Sans"/>
                <a:cs typeface="DejaVu Sans"/>
              </a:rPr>
              <a:t>Reply-To</a:t>
            </a:r>
          </a:p>
        </p:txBody>
      </p:sp>
      <p:sp>
        <p:nvSpPr>
          <p:cNvPr id="12" name="">
            <a:extLst xmlns:a="http://schemas.openxmlformats.org/drawingml/2006/main">
              <a:ext uri="{FF2B5EF4-FFF2-40B4-BE49-F238E27FC236}">
                <a16:creationId xmlns:a16="http://schemas.microsoft.com/office/drawing/2014/main" id="{E126E4C3-BF52-4257-93D7-1934E6132D24}"/>
              </a:ext>
            </a:extLst>
          </p:cNvPr>
          <p:cNvSpPr>
            <a:spLocks xmlns:a="http://schemas.openxmlformats.org/drawingml/2006/main" noGrp="1"/>
          </p:cNvSpPr>
          <p:nvPr/>
        </p:nvSpPr>
        <p:spPr>
          <a:xfrm xmlns:a="http://schemas.openxmlformats.org/drawingml/2006/main">
            <a:off x="1695450" y="261937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0">
                <a:solidFill>
                  <a:srgbClr val="E54B4B"/>
                </a:solidFill>
                <a:latin typeface="DejaVu Sans"/>
                <a:ea typeface="DejaVu Sans"/>
                <a:cs typeface="DejaVu Sans"/>
              </a:defRPr>
            </a:pPr>
            <a:r>
              <a:rPr sz="1350" b="0">
                <a:solidFill>
                  <a:srgbClr val="E54B4B"/>
                </a:solidFill>
                <a:latin typeface="DejaVu Sans"/>
                <a:ea typeface="DejaVu Sans"/>
                <a:cs typeface="DejaVu Sans"/>
              </a:rPr>
              <a:t>urgenttransfer@outlook.com</a:t>
            </a:r>
          </a:p>
        </p:txBody>
      </p:sp>
      <p:sp>
        <p:nvSpPr>
          <p:cNvPr id="13" name="">
            <a:extLst xmlns:a="http://schemas.openxmlformats.org/drawingml/2006/main">
              <a:ext uri="{FF2B5EF4-FFF2-40B4-BE49-F238E27FC236}">
                <a16:creationId xmlns:a16="http://schemas.microsoft.com/office/drawing/2014/main" id="{1C0ECB18-4024-4133-9C58-892096F4858D}"/>
              </a:ext>
            </a:extLst>
          </p:cNvPr>
          <p:cNvSpPr>
            <a:spLocks xmlns:a="http://schemas.openxmlformats.org/drawingml/2006/main" noGrp="1"/>
          </p:cNvSpPr>
          <p:nvPr/>
        </p:nvSpPr>
        <p:spPr>
          <a:xfrm xmlns:a="http://schemas.openxmlformats.org/drawingml/2006/main">
            <a:off x="742950" y="307657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275" b="1">
                <a:solidFill>
                  <a:srgbClr val="607385"/>
                </a:solidFill>
                <a:latin typeface="DejaVu Sans"/>
                <a:ea typeface="DejaVu Sans"/>
                <a:cs typeface="DejaVu Sans"/>
              </a:defRPr>
            </a:pPr>
            <a:r>
              <a:rPr sz="1275" b="1">
                <a:solidFill>
                  <a:srgbClr val="607385"/>
                </a:solidFill>
                <a:latin typeface="DejaVu Sans"/>
                <a:ea typeface="DejaVu Sans"/>
                <a:cs typeface="DejaVu Sans"/>
              </a:rPr>
              <a:t>Subject</a:t>
            </a:r>
          </a:p>
        </p:txBody>
      </p:sp>
      <p:sp>
        <p:nvSpPr>
          <p:cNvPr id="14" name="">
            <a:extLst xmlns:a="http://schemas.openxmlformats.org/drawingml/2006/main">
              <a:ext uri="{FF2B5EF4-FFF2-40B4-BE49-F238E27FC236}">
                <a16:creationId xmlns:a16="http://schemas.microsoft.com/office/drawing/2014/main" id="{57E6608D-B567-4783-9987-8918DA0827A4}"/>
              </a:ext>
            </a:extLst>
          </p:cNvPr>
          <p:cNvSpPr>
            <a:spLocks xmlns:a="http://schemas.openxmlformats.org/drawingml/2006/main" noGrp="1"/>
          </p:cNvSpPr>
          <p:nvPr/>
        </p:nvSpPr>
        <p:spPr>
          <a:xfrm xmlns:a="http://schemas.openxmlformats.org/drawingml/2006/main">
            <a:off x="1695450" y="307657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0">
                <a:solidFill>
                  <a:srgbClr val="183247"/>
                </a:solidFill>
                <a:latin typeface="DejaVu Sans"/>
                <a:ea typeface="DejaVu Sans"/>
                <a:cs typeface="DejaVu Sans"/>
              </a:defRPr>
            </a:pPr>
            <a:r>
              <a:rPr sz="1350" b="0">
                <a:solidFill>
                  <a:srgbClr val="183247"/>
                </a:solidFill>
                <a:latin typeface="DejaVu Sans"/>
                <a:ea typeface="DejaVu Sans"/>
                <a:cs typeface="DejaVu Sans"/>
              </a:rPr>
              <a:t>Confidential supplier payment</a:t>
            </a:r>
          </a:p>
        </p:txBody>
      </p:sp>
      <p:sp>
        <p:nvSpPr>
          <p:cNvPr id="15" name="">
            <a:extLst xmlns:a="http://schemas.openxmlformats.org/drawingml/2006/main">
              <a:ext uri="{FF2B5EF4-FFF2-40B4-BE49-F238E27FC236}">
                <a16:creationId xmlns:a16="http://schemas.microsoft.com/office/drawing/2014/main" id="{55F1884D-E12E-499B-82DD-28B1A08A2B7C}"/>
              </a:ext>
            </a:extLst>
          </p:cNvPr>
          <p:cNvSpPr>
            <a:spLocks xmlns:a="http://schemas.openxmlformats.org/drawingml/2006/main" noGrp="1"/>
          </p:cNvSpPr>
          <p:nvPr/>
        </p:nvSpPr>
        <p:spPr>
          <a:xfrm xmlns:a="http://schemas.openxmlformats.org/drawingml/2006/main">
            <a:off x="742950" y="3571875"/>
            <a:ext cx="689610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46DFF89-CD22-48DA-BE6A-48B3260F0903}"/>
              </a:ext>
            </a:extLst>
          </p:cNvPr>
          <p:cNvSpPr>
            <a:spLocks xmlns:a="http://schemas.openxmlformats.org/drawingml/2006/main" noGrp="1"/>
          </p:cNvSpPr>
          <p:nvPr/>
        </p:nvSpPr>
        <p:spPr>
          <a:xfrm xmlns:a="http://schemas.openxmlformats.org/drawingml/2006/main">
            <a:off x="800100" y="3724275"/>
            <a:ext cx="678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I am in a meeting. Transfer ₹4,00,000 to the new supplier account today. Do not call me because this is confidential.</a:t>
            </a:r>
          </a:p>
        </p:txBody>
      </p:sp>
      <p:sp>
        <p:nvSpPr>
          <p:cNvPr id="17" name="">
            <a:extLst xmlns:a="http://schemas.openxmlformats.org/drawingml/2006/main">
              <a:ext uri="{FF2B5EF4-FFF2-40B4-BE49-F238E27FC236}">
                <a16:creationId xmlns:a16="http://schemas.microsoft.com/office/drawing/2014/main" id="{8901F277-9BD1-47EB-898C-F74093430716}"/>
              </a:ext>
            </a:extLst>
          </p:cNvPr>
          <p:cNvSpPr>
            <a:spLocks xmlns:a="http://schemas.openxmlformats.org/drawingml/2006/main" noGrp="1"/>
          </p:cNvSpPr>
          <p:nvPr/>
        </p:nvSpPr>
        <p:spPr>
          <a:xfrm xmlns:a="http://schemas.openxmlformats.org/drawingml/2006/main">
            <a:off x="8096250" y="166687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950" b="1">
                <a:solidFill>
                  <a:srgbClr val="2AA876"/>
                </a:solidFill>
                <a:latin typeface="DejaVu Sans"/>
                <a:ea typeface="DejaVu Sans"/>
                <a:cs typeface="DejaVu Sans"/>
              </a:defRPr>
            </a:pPr>
            <a:r>
              <a:rPr sz="1950" b="1">
                <a:solidFill>
                  <a:srgbClr val="2AA876"/>
                </a:solidFill>
                <a:latin typeface="DejaVu Sans"/>
                <a:ea typeface="DejaVu Sans"/>
                <a:cs typeface="DejaVu Sans"/>
              </a:rPr>
              <a:t>Controls that stop BEC</a:t>
            </a:r>
          </a:p>
        </p:txBody>
      </p:sp>
      <p:sp>
        <p:nvSpPr>
          <p:cNvPr id="18" name="">
            <a:extLst xmlns:a="http://schemas.openxmlformats.org/drawingml/2006/main">
              <a:ext uri="{FF2B5EF4-FFF2-40B4-BE49-F238E27FC236}">
                <a16:creationId xmlns:a16="http://schemas.microsoft.com/office/drawing/2014/main" id="{121FC923-4E72-4C32-9150-F78FFFC7A8DB}"/>
              </a:ext>
            </a:extLst>
          </p:cNvPr>
          <p:cNvSpPr>
            <a:spLocks xmlns:a="http://schemas.openxmlformats.org/drawingml/2006/main" noGrp="1"/>
          </p:cNvSpPr>
          <p:nvPr/>
        </p:nvSpPr>
        <p:spPr>
          <a:xfrm xmlns:a="http://schemas.openxmlformats.org/drawingml/2006/main">
            <a:off x="8001000" y="2333625"/>
            <a:ext cx="3429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Known-number callback</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Two-person approval</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Supplier bank verification</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Mailbox and forwarding-rule review</a:t>
            </a:r>
          </a:p>
        </p:txBody>
      </p:sp>
    </p:spTree>
    <p:extLst>
      <p:ext uri="{BB962C8B-B14F-4D97-AF65-F5344CB8AC3E}">
        <p14:creationId xmlns:p14="http://schemas.microsoft.com/office/powerpoint/2010/main" val="1853344056"/>
      </p:ext>
    </p:extLst>
  </p:cSld>
</p:sld>
</file>

<file path=ppt/slides/slide1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DB7FC05-B9CF-44A6-86AA-DD96BCC68DF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4740EA-9A4B-47E5-B5B5-702433DCD183}"/>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PHISHING AWARENESS</a:t>
            </a:r>
          </a:p>
        </p:txBody>
      </p:sp>
      <p:sp>
        <p:nvSpPr>
          <p:cNvPr id="3" name="">
            <a:extLst xmlns:a="http://schemas.openxmlformats.org/drawingml/2006/main">
              <a:ext uri="{FF2B5EF4-FFF2-40B4-BE49-F238E27FC236}">
                <a16:creationId xmlns:a16="http://schemas.microsoft.com/office/drawing/2014/main" id="{BDBE84B8-4B01-446E-9D2E-DA0BC5238511}"/>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16</a:t>
            </a:r>
          </a:p>
        </p:txBody>
      </p:sp>
      <p:sp>
        <p:nvSpPr>
          <p:cNvPr id="4" name="">
            <a:extLst xmlns:a="http://schemas.openxmlformats.org/drawingml/2006/main">
              <a:ext uri="{FF2B5EF4-FFF2-40B4-BE49-F238E27FC236}">
                <a16:creationId xmlns:a16="http://schemas.microsoft.com/office/drawing/2014/main" id="{EA2D6B8F-27CF-4FAF-BE89-D59892CBB5E5}"/>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880F2BE-D37D-4435-951C-387B0F27D69B}"/>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Phishing categories can overlap</a:t>
            </a:r>
          </a:p>
        </p:txBody>
      </p:sp>
      <p:sp>
        <p:nvSpPr>
          <p:cNvPr id="6" name="">
            <a:extLst xmlns:a="http://schemas.openxmlformats.org/drawingml/2006/main">
              <a:ext uri="{FF2B5EF4-FFF2-40B4-BE49-F238E27FC236}">
                <a16:creationId xmlns:a16="http://schemas.microsoft.com/office/drawing/2014/main" id="{0508D75A-FDE8-41CA-B545-16A2C72BF369}"/>
              </a:ext>
            </a:extLst>
          </p:cNvPr>
          <p:cNvSpPr>
            <a:spLocks xmlns:a="http://schemas.openxmlformats.org/drawingml/2006/main" noGrp="1"/>
          </p:cNvSpPr>
          <p:nvPr/>
        </p:nvSpPr>
        <p:spPr>
          <a:xfrm xmlns:a="http://schemas.openxmlformats.org/drawingml/2006/main">
            <a:off x="857250" y="1809750"/>
            <a:ext cx="2381250" cy="628650"/>
          </a:xfrm>
          <a:prstGeom xmlns:a="http://schemas.openxmlformats.org/drawingml/2006/main" prst="rect">
            <a:avLst/>
          </a:prstGeom>
          <a:solidFill xmlns:a="http://schemas.openxmlformats.org/drawingml/2006/main">
            <a:srgbClr val="2F80E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06E8C33-D54C-42ED-922A-830523B6C615}"/>
              </a:ext>
            </a:extLst>
          </p:cNvPr>
          <p:cNvSpPr>
            <a:spLocks xmlns:a="http://schemas.openxmlformats.org/drawingml/2006/main" noGrp="1"/>
          </p:cNvSpPr>
          <p:nvPr/>
        </p:nvSpPr>
        <p:spPr>
          <a:xfrm xmlns:a="http://schemas.openxmlformats.org/drawingml/2006/main">
            <a:off x="1028700" y="1905000"/>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Target</a:t>
            </a:r>
          </a:p>
        </p:txBody>
      </p:sp>
      <p:sp>
        <p:nvSpPr>
          <p:cNvPr id="8" name="">
            <a:extLst xmlns:a="http://schemas.openxmlformats.org/drawingml/2006/main">
              <a:ext uri="{FF2B5EF4-FFF2-40B4-BE49-F238E27FC236}">
                <a16:creationId xmlns:a16="http://schemas.microsoft.com/office/drawing/2014/main" id="{1479D8B5-AAA4-47ED-813A-B24392670C93}"/>
              </a:ext>
            </a:extLst>
          </p:cNvPr>
          <p:cNvSpPr>
            <a:spLocks xmlns:a="http://schemas.openxmlformats.org/drawingml/2006/main" noGrp="1"/>
          </p:cNvSpPr>
          <p:nvPr/>
        </p:nvSpPr>
        <p:spPr>
          <a:xfrm xmlns:a="http://schemas.openxmlformats.org/drawingml/2006/main">
            <a:off x="3714750" y="1809750"/>
            <a:ext cx="2381250" cy="628650"/>
          </a:xfrm>
          <a:prstGeom xmlns:a="http://schemas.openxmlformats.org/drawingml/2006/main" prst="rect">
            <a:avLst/>
          </a:prstGeom>
          <a:solidFill xmlns:a="http://schemas.openxmlformats.org/drawingml/2006/main">
            <a:srgbClr val="1CC8C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0E7F020-9FF2-490C-93CB-5DF07BC060FB}"/>
              </a:ext>
            </a:extLst>
          </p:cNvPr>
          <p:cNvSpPr>
            <a:spLocks xmlns:a="http://schemas.openxmlformats.org/drawingml/2006/main" noGrp="1"/>
          </p:cNvSpPr>
          <p:nvPr/>
        </p:nvSpPr>
        <p:spPr>
          <a:xfrm xmlns:a="http://schemas.openxmlformats.org/drawingml/2006/main">
            <a:off x="3886200" y="1905000"/>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0235"/>
          </a:bodyPr>
          <a:lstStyle xmlns:a="http://schemas.openxmlformats.org/drawingml/2006/main"/>
          <a:p xmlns:a="http://schemas.openxmlformats.org/drawingml/2006/main">
            <a:pPr algn="ctr">
              <a:defRPr sz="1800" b="1">
                <a:solidFill>
                  <a:srgbClr val="081A2E"/>
                </a:solidFill>
                <a:latin typeface="DejaVu Sans"/>
                <a:ea typeface="DejaVu Sans"/>
                <a:cs typeface="DejaVu Sans"/>
              </a:defRPr>
            </a:pPr>
            <a:r>
              <a:rPr sz="1800" b="1">
                <a:solidFill>
                  <a:srgbClr val="081A2E"/>
                </a:solidFill>
                <a:latin typeface="DejaVu Sans"/>
                <a:ea typeface="DejaVu Sans"/>
                <a:cs typeface="DejaVu Sans"/>
              </a:rPr>
              <a:t>Delivery method</a:t>
            </a:r>
          </a:p>
        </p:txBody>
      </p:sp>
      <p:sp>
        <p:nvSpPr>
          <p:cNvPr id="10" name="">
            <a:extLst xmlns:a="http://schemas.openxmlformats.org/drawingml/2006/main">
              <a:ext uri="{FF2B5EF4-FFF2-40B4-BE49-F238E27FC236}">
                <a16:creationId xmlns:a16="http://schemas.microsoft.com/office/drawing/2014/main" id="{80188665-242D-4842-A78F-0E994604C5D7}"/>
              </a:ext>
            </a:extLst>
          </p:cNvPr>
          <p:cNvSpPr>
            <a:spLocks xmlns:a="http://schemas.openxmlformats.org/drawingml/2006/main" noGrp="1"/>
          </p:cNvSpPr>
          <p:nvPr/>
        </p:nvSpPr>
        <p:spPr>
          <a:xfrm xmlns:a="http://schemas.openxmlformats.org/drawingml/2006/main">
            <a:off x="6572250" y="1809750"/>
            <a:ext cx="2381250" cy="628650"/>
          </a:xfrm>
          <a:prstGeom xmlns:a="http://schemas.openxmlformats.org/drawingml/2006/main" prst="rect">
            <a:avLst/>
          </a:prstGeom>
          <a:solidFill xmlns:a="http://schemas.openxmlformats.org/drawingml/2006/main">
            <a:srgbClr val="FF8A3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7066D5B-2891-4A99-9FFC-991D88ABAAE7}"/>
              </a:ext>
            </a:extLst>
          </p:cNvPr>
          <p:cNvSpPr>
            <a:spLocks xmlns:a="http://schemas.openxmlformats.org/drawingml/2006/main" noGrp="1"/>
          </p:cNvSpPr>
          <p:nvPr/>
        </p:nvSpPr>
        <p:spPr>
          <a:xfrm xmlns:a="http://schemas.openxmlformats.org/drawingml/2006/main">
            <a:off x="6743700" y="1905000"/>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800" b="1">
                <a:solidFill>
                  <a:srgbClr val="081A2E"/>
                </a:solidFill>
                <a:latin typeface="DejaVu Sans"/>
                <a:ea typeface="DejaVu Sans"/>
                <a:cs typeface="DejaVu Sans"/>
              </a:defRPr>
            </a:pPr>
            <a:r>
              <a:rPr sz="1800" b="1">
                <a:solidFill>
                  <a:srgbClr val="081A2E"/>
                </a:solidFill>
                <a:latin typeface="DejaVu Sans"/>
                <a:ea typeface="DejaVu Sans"/>
                <a:cs typeface="DejaVu Sans"/>
              </a:rPr>
              <a:t>Objective</a:t>
            </a:r>
          </a:p>
        </p:txBody>
      </p:sp>
      <p:sp>
        <p:nvSpPr>
          <p:cNvPr id="12" name="">
            <a:extLst xmlns:a="http://schemas.openxmlformats.org/drawingml/2006/main">
              <a:ext uri="{FF2B5EF4-FFF2-40B4-BE49-F238E27FC236}">
                <a16:creationId xmlns:a16="http://schemas.microsoft.com/office/drawing/2014/main" id="{7A2EEEE8-89C4-4447-BDF1-D46DE5F8E9C5}"/>
              </a:ext>
            </a:extLst>
          </p:cNvPr>
          <p:cNvSpPr>
            <a:spLocks xmlns:a="http://schemas.openxmlformats.org/drawingml/2006/main" noGrp="1"/>
          </p:cNvSpPr>
          <p:nvPr/>
        </p:nvSpPr>
        <p:spPr>
          <a:xfrm xmlns:a="http://schemas.openxmlformats.org/drawingml/2006/main">
            <a:off x="9429750" y="1809750"/>
            <a:ext cx="1905000" cy="628650"/>
          </a:xfrm>
          <a:prstGeom xmlns:a="http://schemas.openxmlformats.org/drawingml/2006/main" prst="rect">
            <a:avLst/>
          </a:prstGeom>
          <a:solidFill xmlns:a="http://schemas.openxmlformats.org/drawingml/2006/main">
            <a:srgbClr val="E54B4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D62A638-8DE6-467E-A6D3-CCAEFC6683F6}"/>
              </a:ext>
            </a:extLst>
          </p:cNvPr>
          <p:cNvSpPr>
            <a:spLocks xmlns:a="http://schemas.openxmlformats.org/drawingml/2006/main" noGrp="1"/>
          </p:cNvSpPr>
          <p:nvPr/>
        </p:nvSpPr>
        <p:spPr>
          <a:xfrm xmlns:a="http://schemas.openxmlformats.org/drawingml/2006/main">
            <a:off x="9601200" y="1905000"/>
            <a:ext cx="1562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5935"/>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Manipulation</a:t>
            </a:r>
          </a:p>
        </p:txBody>
      </p:sp>
      <p:sp>
        <p:nvSpPr>
          <p:cNvPr id="14" name="">
            <a:extLst xmlns:a="http://schemas.openxmlformats.org/drawingml/2006/main">
              <a:ext uri="{FF2B5EF4-FFF2-40B4-BE49-F238E27FC236}">
                <a16:creationId xmlns:a16="http://schemas.microsoft.com/office/drawing/2014/main" id="{3FAB0D09-A425-4CD6-B047-C2A30E76ABD0}"/>
              </a:ext>
            </a:extLst>
          </p:cNvPr>
          <p:cNvSpPr>
            <a:spLocks xmlns:a="http://schemas.openxmlformats.org/drawingml/2006/main" noGrp="1"/>
          </p:cNvSpPr>
          <p:nvPr/>
        </p:nvSpPr>
        <p:spPr>
          <a:xfrm xmlns:a="http://schemas.openxmlformats.org/drawingml/2006/main">
            <a:off x="1143000" y="3048000"/>
            <a:ext cx="990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4444"/>
          </a:bodyPr>
          <a:lstStyle xmlns:a="http://schemas.openxmlformats.org/drawingml/2006/main"/>
          <a:p xmlns:a="http://schemas.openxmlformats.org/drawingml/2006/main">
            <a:pPr algn="ctr">
              <a:defRPr sz="2250" b="1">
                <a:solidFill>
                  <a:srgbClr val="081A2E"/>
                </a:solidFill>
                <a:latin typeface="DejaVu Sans"/>
                <a:ea typeface="DejaVu Sans"/>
                <a:cs typeface="DejaVu Sans"/>
              </a:defRPr>
            </a:pPr>
            <a:r>
              <a:rPr sz="2250" b="1">
                <a:solidFill>
                  <a:srgbClr val="081A2E"/>
                </a:solidFill>
                <a:latin typeface="DejaVu Sans"/>
                <a:ea typeface="DejaVu Sans"/>
                <a:cs typeface="DejaVu Sans"/>
              </a:rPr>
              <a:t>A finance director receives a personalized QR code that opens a fake Microsoft login page</a:t>
            </a:r>
          </a:p>
        </p:txBody>
      </p:sp>
      <p:sp>
        <p:nvSpPr>
          <p:cNvPr id="15" name="">
            <a:extLst xmlns:a="http://schemas.openxmlformats.org/drawingml/2006/main">
              <a:ext uri="{FF2B5EF4-FFF2-40B4-BE49-F238E27FC236}">
                <a16:creationId xmlns:a16="http://schemas.microsoft.com/office/drawing/2014/main" id="{67A31C1D-7829-4326-A818-DEA1577F1922}"/>
              </a:ext>
            </a:extLst>
          </p:cNvPr>
          <p:cNvSpPr>
            <a:spLocks xmlns:a="http://schemas.openxmlformats.org/drawingml/2006/main" noGrp="1"/>
          </p:cNvSpPr>
          <p:nvPr/>
        </p:nvSpPr>
        <p:spPr>
          <a:xfrm xmlns:a="http://schemas.openxmlformats.org/drawingml/2006/main">
            <a:off x="1619250" y="4286250"/>
            <a:ext cx="8953500" cy="742950"/>
          </a:xfrm>
          <a:prstGeom xmlns:a="http://schemas.openxmlformats.org/drawingml/2006/main" prst="rect">
            <a:avLst/>
          </a:prstGeom>
          <a:solidFill xmlns:a="http://schemas.openxmlformats.org/drawingml/2006/main">
            <a:srgbClr val="FFF1F1"/>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2025" b="0">
                <a:solidFill>
                  <a:srgbClr val="E54B4B"/>
                </a:solidFill>
                <a:latin typeface="DejaVu Sans"/>
                <a:ea typeface="DejaVu Sans"/>
                <a:cs typeface="DejaVu Sans"/>
              </a:defRPr>
            </a:pPr>
            <a:r>
              <a:rPr sz="2025" b="0">
                <a:solidFill>
                  <a:srgbClr val="E54B4B"/>
                </a:solidFill>
                <a:latin typeface="DejaVu Sans"/>
                <a:ea typeface="DejaVu Sans"/>
                <a:cs typeface="DejaVu Sans"/>
              </a:rPr>
              <a:t>Whaling + spear phishing + QR phishing + credential theft + urgency</a:t>
            </a:r>
          </a:p>
        </p:txBody>
      </p:sp>
    </p:spTree>
    <p:extLst>
      <p:ext uri="{BB962C8B-B14F-4D97-AF65-F5344CB8AC3E}">
        <p14:creationId xmlns:p14="http://schemas.microsoft.com/office/powerpoint/2010/main" val="1745299805"/>
      </p:ext>
    </p:extLst>
  </p:cSld>
</p:sld>
</file>

<file path=ppt/slides/slide17.xml><?xml version="1.0" encoding="utf-8"?>
<p:sld xmlns:p="http://schemas.openxmlformats.org/presentationml/2006/main">
  <p:cSld>
    <p:bg>
      <p:bgPr>
        <a:solidFill xmlns:a="http://schemas.openxmlformats.org/drawingml/2006/main">
          <a:srgbClr val="081A2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12B6BAF-C71A-4E4F-98EA-9F87EACDFF39}"/>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CC8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F7849D-9E7C-4F64-A1A9-1942C0BB43D7}"/>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A8F1EF"/>
                </a:solidFill>
                <a:latin typeface="DejaVu Sans"/>
                <a:ea typeface="DejaVu Sans"/>
                <a:cs typeface="DejaVu Sans"/>
              </a:defRPr>
            </a:pPr>
            <a:r>
              <a:rPr sz="1125" b="1">
                <a:solidFill>
                  <a:srgbClr val="A8F1EF"/>
                </a:solidFill>
                <a:latin typeface="DejaVu Sans"/>
                <a:ea typeface="DejaVu Sans"/>
                <a:cs typeface="DejaVu Sans"/>
              </a:rPr>
              <a:t>MODULE 2</a:t>
            </a:r>
          </a:p>
        </p:txBody>
      </p:sp>
      <p:sp>
        <p:nvSpPr>
          <p:cNvPr id="3" name="">
            <a:extLst xmlns:a="http://schemas.openxmlformats.org/drawingml/2006/main">
              <a:ext uri="{FF2B5EF4-FFF2-40B4-BE49-F238E27FC236}">
                <a16:creationId xmlns:a16="http://schemas.microsoft.com/office/drawing/2014/main" id="{E8A71022-19BF-4124-A852-4B60D9C9DED7}"/>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A8F1EF"/>
                </a:solidFill>
                <a:latin typeface="DejaVu Sans"/>
                <a:ea typeface="DejaVu Sans"/>
                <a:cs typeface="DejaVu Sans"/>
              </a:defRPr>
            </a:pPr>
            <a:r>
              <a:rPr sz="1050" b="1">
                <a:solidFill>
                  <a:srgbClr val="A8F1EF"/>
                </a:solidFill>
                <a:latin typeface="DejaVu Sans"/>
                <a:ea typeface="DejaVu Sans"/>
                <a:cs typeface="DejaVu Sans"/>
              </a:rPr>
              <a:t>17</a:t>
            </a:r>
          </a:p>
        </p:txBody>
      </p:sp>
      <p:sp>
        <p:nvSpPr>
          <p:cNvPr id="4" name="">
            <a:extLst xmlns:a="http://schemas.openxmlformats.org/drawingml/2006/main">
              <a:ext uri="{FF2B5EF4-FFF2-40B4-BE49-F238E27FC236}">
                <a16:creationId xmlns:a16="http://schemas.microsoft.com/office/drawing/2014/main" id="{A09DFD10-6805-4AF1-8799-E1845BA60DC9}"/>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CE8D462-887B-49CE-AB8B-6D3BB4C92801}"/>
              </a:ext>
            </a:extLst>
          </p:cNvPr>
          <p:cNvSpPr>
            <a:spLocks xmlns:a="http://schemas.openxmlformats.org/drawingml/2006/main" noGrp="1"/>
          </p:cNvSpPr>
          <p:nvPr/>
        </p:nvSpPr>
        <p:spPr>
          <a:xfrm xmlns:a="http://schemas.openxmlformats.org/drawingml/2006/main">
            <a:off x="495300" y="1047750"/>
            <a:ext cx="1238250" cy="76200"/>
          </a:xfrm>
          <a:prstGeom xmlns:a="http://schemas.openxmlformats.org/drawingml/2006/main" prst="rect">
            <a:avLst/>
          </a:prstGeom>
          <a:solidFill xmlns:a="http://schemas.openxmlformats.org/drawingml/2006/main">
            <a:srgbClr val="FF8A3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57355A9-6C09-415A-BB95-89896DF5D2DF}"/>
              </a:ext>
            </a:extLst>
          </p:cNvPr>
          <p:cNvSpPr>
            <a:spLocks xmlns:a="http://schemas.openxmlformats.org/drawingml/2006/main" noGrp="1"/>
          </p:cNvSpPr>
          <p:nvPr/>
        </p:nvSpPr>
        <p:spPr>
          <a:xfrm xmlns:a="http://schemas.openxmlformats.org/drawingml/2006/main">
            <a:off x="495300" y="1428750"/>
            <a:ext cx="1028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Identifying a phishing email</a:t>
            </a:r>
          </a:p>
        </p:txBody>
      </p:sp>
      <p:sp>
        <p:nvSpPr>
          <p:cNvPr id="7" name="">
            <a:extLst xmlns:a="http://schemas.openxmlformats.org/drawingml/2006/main">
              <a:ext uri="{FF2B5EF4-FFF2-40B4-BE49-F238E27FC236}">
                <a16:creationId xmlns:a16="http://schemas.microsoft.com/office/drawing/2014/main" id="{578CA7C1-E711-4BAF-915C-9480F89A00C3}"/>
              </a:ext>
            </a:extLst>
          </p:cNvPr>
          <p:cNvSpPr>
            <a:spLocks xmlns:a="http://schemas.openxmlformats.org/drawingml/2006/main" noGrp="1"/>
          </p:cNvSpPr>
          <p:nvPr/>
        </p:nvSpPr>
        <p:spPr>
          <a:xfrm xmlns:a="http://schemas.openxmlformats.org/drawingml/2006/main">
            <a:off x="514350" y="3190875"/>
            <a:ext cx="9334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100" b="0">
                <a:solidFill>
                  <a:srgbClr val="A8F1EF"/>
                </a:solidFill>
                <a:latin typeface="DejaVu Sans"/>
                <a:ea typeface="DejaVu Sans"/>
                <a:cs typeface="DejaVu Sans"/>
              </a:defRPr>
            </a:pPr>
            <a:r>
              <a:rPr sz="2100" b="0">
                <a:solidFill>
                  <a:srgbClr val="A8F1EF"/>
                </a:solidFill>
                <a:latin typeface="DejaVu Sans"/>
                <a:ea typeface="DejaVu Sans"/>
                <a:cs typeface="DejaVu Sans"/>
              </a:rPr>
              <a:t>A structured inspection of the sender, message, link, attachment and requested action</a:t>
            </a:r>
          </a:p>
        </p:txBody>
      </p:sp>
      <p:sp>
        <p:nvSpPr>
          <p:cNvPr id="8" name="">
            <a:extLst xmlns:a="http://schemas.openxmlformats.org/drawingml/2006/main">
              <a:ext uri="{FF2B5EF4-FFF2-40B4-BE49-F238E27FC236}">
                <a16:creationId xmlns:a16="http://schemas.microsoft.com/office/drawing/2014/main" id="{9D2A41C2-B069-43E8-8297-52AFF20AB2FB}"/>
              </a:ext>
            </a:extLst>
          </p:cNvPr>
          <p:cNvSpPr>
            <a:spLocks xmlns:a="http://schemas.openxmlformats.org/drawingml/2006/main" noGrp="1"/>
          </p:cNvSpPr>
          <p:nvPr/>
        </p:nvSpPr>
        <p:spPr>
          <a:xfrm xmlns:a="http://schemas.openxmlformats.org/drawingml/2006/main">
            <a:off x="10001250" y="1428750"/>
            <a:ext cx="1143000" cy="1143000"/>
          </a:xfrm>
          <a:prstGeom xmlns:a="http://schemas.openxmlformats.org/drawingml/2006/main" prst="ellipse">
            <a:avLst/>
          </a:prstGeom>
          <a:noFill xmlns:a="http://schemas.openxmlformats.org/drawingml/2006/main"/>
          <a:ln xmlns:a="http://schemas.openxmlformats.org/drawingml/2006/main" w="9525">
            <a:solidFill>
              <a:srgbClr val="FF8A34"/>
            </a:solidFill>
          </a:ln>
        </p:spPr>
      </p:sp>
      <p:sp>
        <p:nvSpPr>
          <p:cNvPr id="9" name="">
            <a:extLst xmlns:a="http://schemas.openxmlformats.org/drawingml/2006/main">
              <a:ext uri="{FF2B5EF4-FFF2-40B4-BE49-F238E27FC236}">
                <a16:creationId xmlns:a16="http://schemas.microsoft.com/office/drawing/2014/main" id="{6A31E8E3-789B-4DA9-9259-150CC7D7CA39}"/>
              </a:ext>
            </a:extLst>
          </p:cNvPr>
          <p:cNvSpPr>
            <a:spLocks xmlns:a="http://schemas.openxmlformats.org/drawingml/2006/main" noGrp="1"/>
          </p:cNvSpPr>
          <p:nvPr/>
        </p:nvSpPr>
        <p:spPr>
          <a:xfrm xmlns:a="http://schemas.openxmlformats.org/drawingml/2006/main">
            <a:off x="10001250" y="1428750"/>
            <a:ext cx="114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3300" b="1">
                <a:solidFill>
                  <a:srgbClr val="FF8A34"/>
                </a:solidFill>
                <a:latin typeface="DejaVu Sans"/>
                <a:ea typeface="DejaVu Sans"/>
                <a:cs typeface="DejaVu Sans"/>
              </a:defRPr>
            </a:pPr>
            <a:r>
              <a:rPr sz="3300" b="1">
                <a:solidFill>
                  <a:srgbClr val="FF8A34"/>
                </a:solidFill>
                <a:latin typeface="DejaVu Sans"/>
                <a:ea typeface="DejaVu Sans"/>
                <a:cs typeface="DejaVu Sans"/>
              </a:rPr>
              <a:t>17</a:t>
            </a:r>
          </a:p>
        </p:txBody>
      </p:sp>
    </p:spTree>
    <p:extLst>
      <p:ext uri="{BB962C8B-B14F-4D97-AF65-F5344CB8AC3E}">
        <p14:creationId xmlns:p14="http://schemas.microsoft.com/office/powerpoint/2010/main" val="328477141"/>
      </p:ext>
    </p:extLst>
  </p:cSld>
</p:sld>
</file>

<file path=ppt/slides/slide1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817FA05-B6BC-47CD-BDAC-744AF812174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7CC333-9451-475D-9E73-B39EF6EDB114}"/>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EMAIL INSPECTION</a:t>
            </a:r>
          </a:p>
        </p:txBody>
      </p:sp>
      <p:sp>
        <p:nvSpPr>
          <p:cNvPr id="3" name="">
            <a:extLst xmlns:a="http://schemas.openxmlformats.org/drawingml/2006/main">
              <a:ext uri="{FF2B5EF4-FFF2-40B4-BE49-F238E27FC236}">
                <a16:creationId xmlns:a16="http://schemas.microsoft.com/office/drawing/2014/main" id="{570D483A-13BE-4B0E-8D73-9F1E45926DAF}"/>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18</a:t>
            </a:r>
          </a:p>
        </p:txBody>
      </p:sp>
      <p:sp>
        <p:nvSpPr>
          <p:cNvPr id="4" name="">
            <a:extLst xmlns:a="http://schemas.openxmlformats.org/drawingml/2006/main">
              <a:ext uri="{FF2B5EF4-FFF2-40B4-BE49-F238E27FC236}">
                <a16:creationId xmlns:a16="http://schemas.microsoft.com/office/drawing/2014/main" id="{0C4F3B34-9B16-4625-BCA3-C4F9852D78E0}"/>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10AE265-4195-437E-97E6-AC61304FD095}"/>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Anatomy of an email decision</a:t>
            </a:r>
          </a:p>
        </p:txBody>
      </p:sp>
      <p:sp>
        <p:nvSpPr>
          <p:cNvPr id="6" name="">
            <a:extLst xmlns:a="http://schemas.openxmlformats.org/drawingml/2006/main">
              <a:ext uri="{FF2B5EF4-FFF2-40B4-BE49-F238E27FC236}">
                <a16:creationId xmlns:a16="http://schemas.microsoft.com/office/drawing/2014/main" id="{977D116C-F2FA-454D-BE88-3C6292A059AE}"/>
              </a:ext>
            </a:extLst>
          </p:cNvPr>
          <p:cNvSpPr>
            <a:spLocks xmlns:a="http://schemas.openxmlformats.org/drawingml/2006/main" noGrp="1"/>
          </p:cNvSpPr>
          <p:nvPr/>
        </p:nvSpPr>
        <p:spPr>
          <a:xfrm xmlns:a="http://schemas.openxmlformats.org/drawingml/2006/main">
            <a:off x="552450" y="2190750"/>
            <a:ext cx="2538413"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42A3021A-3783-4040-8F6B-3DB496D959DC}"/>
              </a:ext>
            </a:extLst>
          </p:cNvPr>
          <p:cNvSpPr>
            <a:spLocks xmlns:a="http://schemas.openxmlformats.org/drawingml/2006/main" noGrp="1"/>
          </p:cNvSpPr>
          <p:nvPr/>
        </p:nvSpPr>
        <p:spPr>
          <a:xfrm xmlns:a="http://schemas.openxmlformats.org/drawingml/2006/main">
            <a:off x="723900" y="2343150"/>
            <a:ext cx="400050" cy="400050"/>
          </a:xfrm>
          <a:prstGeom xmlns:a="http://schemas.openxmlformats.org/drawingml/2006/main" prst="rect">
            <a:avLst/>
          </a:prstGeom>
          <a:solidFill xmlns:a="http://schemas.openxmlformats.org/drawingml/2006/main">
            <a:srgbClr val="2F80ED"/>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07E8ED42-9B12-400A-B50B-A7C86961383D}"/>
              </a:ext>
            </a:extLst>
          </p:cNvPr>
          <p:cNvSpPr>
            <a:spLocks xmlns:a="http://schemas.openxmlformats.org/drawingml/2006/main" noGrp="1"/>
          </p:cNvSpPr>
          <p:nvPr/>
        </p:nvSpPr>
        <p:spPr>
          <a:xfrm xmlns:a="http://schemas.openxmlformats.org/drawingml/2006/main">
            <a:off x="723900" y="2857500"/>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Identity</a:t>
            </a:r>
          </a:p>
        </p:txBody>
      </p:sp>
      <p:sp>
        <p:nvSpPr>
          <p:cNvPr id="9" name="">
            <a:extLst xmlns:a="http://schemas.openxmlformats.org/drawingml/2006/main">
              <a:ext uri="{FF2B5EF4-FFF2-40B4-BE49-F238E27FC236}">
                <a16:creationId xmlns:a16="http://schemas.microsoft.com/office/drawing/2014/main" id="{6BE37624-84E2-4EA4-A081-39A8908EA0E0}"/>
              </a:ext>
            </a:extLst>
          </p:cNvPr>
          <p:cNvSpPr>
            <a:spLocks xmlns:a="http://schemas.openxmlformats.org/drawingml/2006/main" noGrp="1"/>
          </p:cNvSpPr>
          <p:nvPr/>
        </p:nvSpPr>
        <p:spPr>
          <a:xfrm xmlns:a="http://schemas.openxmlformats.org/drawingml/2006/main">
            <a:off x="723900" y="3257550"/>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607385"/>
                </a:solidFill>
                <a:latin typeface="DejaVu Sans"/>
                <a:ea typeface="DejaVu Sans"/>
                <a:cs typeface="DejaVu Sans"/>
              </a:defRPr>
            </a:pPr>
            <a:r>
              <a:rPr sz="1275" b="0">
                <a:solidFill>
                  <a:srgbClr val="607385"/>
                </a:solidFill>
                <a:latin typeface="DejaVu Sans"/>
                <a:ea typeface="DejaVu Sans"/>
                <a:cs typeface="DejaVu Sans"/>
              </a:rPr>
              <a:t>Who appears to have sent it?</a:t>
            </a:r>
          </a:p>
        </p:txBody>
      </p:sp>
      <p:sp>
        <p:nvSpPr>
          <p:cNvPr id="10" name="">
            <a:extLst xmlns:a="http://schemas.openxmlformats.org/drawingml/2006/main">
              <a:ext uri="{FF2B5EF4-FFF2-40B4-BE49-F238E27FC236}">
                <a16:creationId xmlns:a16="http://schemas.microsoft.com/office/drawing/2014/main" id="{0A932209-5DF9-4A88-917B-3B8CE126D6B1}"/>
              </a:ext>
            </a:extLst>
          </p:cNvPr>
          <p:cNvSpPr>
            <a:spLocks xmlns:a="http://schemas.openxmlformats.org/drawingml/2006/main" noGrp="1"/>
          </p:cNvSpPr>
          <p:nvPr/>
        </p:nvSpPr>
        <p:spPr>
          <a:xfrm xmlns:a="http://schemas.openxmlformats.org/drawingml/2006/main">
            <a:off x="3262313" y="2190750"/>
            <a:ext cx="2538413"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11" name="">
            <a:extLst xmlns:a="http://schemas.openxmlformats.org/drawingml/2006/main">
              <a:ext uri="{FF2B5EF4-FFF2-40B4-BE49-F238E27FC236}">
                <a16:creationId xmlns:a16="http://schemas.microsoft.com/office/drawing/2014/main" id="{F51D8376-EE60-4E41-AE60-2ABC6D35CE1E}"/>
              </a:ext>
            </a:extLst>
          </p:cNvPr>
          <p:cNvSpPr>
            <a:spLocks xmlns:a="http://schemas.openxmlformats.org/drawingml/2006/main" noGrp="1"/>
          </p:cNvSpPr>
          <p:nvPr/>
        </p:nvSpPr>
        <p:spPr>
          <a:xfrm xmlns:a="http://schemas.openxmlformats.org/drawingml/2006/main">
            <a:off x="3433763" y="2343150"/>
            <a:ext cx="400050" cy="400050"/>
          </a:xfrm>
          <a:prstGeom xmlns:a="http://schemas.openxmlformats.org/drawingml/2006/main" prst="rect">
            <a:avLst/>
          </a:prstGeom>
          <a:solidFill xmlns:a="http://schemas.openxmlformats.org/drawingml/2006/main">
            <a:srgbClr val="2F80ED"/>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2</a:t>
            </a:r>
          </a:p>
        </p:txBody>
      </p:sp>
      <p:sp>
        <p:nvSpPr>
          <p:cNvPr id="12" name="">
            <a:extLst xmlns:a="http://schemas.openxmlformats.org/drawingml/2006/main">
              <a:ext uri="{FF2B5EF4-FFF2-40B4-BE49-F238E27FC236}">
                <a16:creationId xmlns:a16="http://schemas.microsoft.com/office/drawing/2014/main" id="{1D6664E5-E270-4D29-A20F-68624714125F}"/>
              </a:ext>
            </a:extLst>
          </p:cNvPr>
          <p:cNvSpPr>
            <a:spLocks xmlns:a="http://schemas.openxmlformats.org/drawingml/2006/main" noGrp="1"/>
          </p:cNvSpPr>
          <p:nvPr/>
        </p:nvSpPr>
        <p:spPr>
          <a:xfrm xmlns:a="http://schemas.openxmlformats.org/drawingml/2006/main">
            <a:off x="3433763" y="2857500"/>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Context</a:t>
            </a:r>
          </a:p>
        </p:txBody>
      </p:sp>
      <p:sp>
        <p:nvSpPr>
          <p:cNvPr id="13" name="">
            <a:extLst xmlns:a="http://schemas.openxmlformats.org/drawingml/2006/main">
              <a:ext uri="{FF2B5EF4-FFF2-40B4-BE49-F238E27FC236}">
                <a16:creationId xmlns:a16="http://schemas.microsoft.com/office/drawing/2014/main" id="{5AACEB1C-8F8C-4E19-9BB1-1321BBBC4FEE}"/>
              </a:ext>
            </a:extLst>
          </p:cNvPr>
          <p:cNvSpPr>
            <a:spLocks xmlns:a="http://schemas.openxmlformats.org/drawingml/2006/main" noGrp="1"/>
          </p:cNvSpPr>
          <p:nvPr/>
        </p:nvSpPr>
        <p:spPr>
          <a:xfrm xmlns:a="http://schemas.openxmlformats.org/drawingml/2006/main">
            <a:off x="3433763" y="3257550"/>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607385"/>
                </a:solidFill>
                <a:latin typeface="DejaVu Sans"/>
                <a:ea typeface="DejaVu Sans"/>
                <a:cs typeface="DejaVu Sans"/>
              </a:defRPr>
            </a:pPr>
            <a:r>
              <a:rPr sz="1275" b="0">
                <a:solidFill>
                  <a:srgbClr val="607385"/>
                </a:solidFill>
                <a:latin typeface="DejaVu Sans"/>
                <a:ea typeface="DejaVu Sans"/>
                <a:cs typeface="DejaVu Sans"/>
              </a:rPr>
              <a:t>Was this message expected?</a:t>
            </a:r>
          </a:p>
        </p:txBody>
      </p:sp>
      <p:sp>
        <p:nvSpPr>
          <p:cNvPr id="14" name="">
            <a:extLst xmlns:a="http://schemas.openxmlformats.org/drawingml/2006/main">
              <a:ext uri="{FF2B5EF4-FFF2-40B4-BE49-F238E27FC236}">
                <a16:creationId xmlns:a16="http://schemas.microsoft.com/office/drawing/2014/main" id="{5A9E3315-C9EA-483D-8311-B1F4742D68AF}"/>
              </a:ext>
            </a:extLst>
          </p:cNvPr>
          <p:cNvSpPr>
            <a:spLocks xmlns:a="http://schemas.openxmlformats.org/drawingml/2006/main" noGrp="1"/>
          </p:cNvSpPr>
          <p:nvPr/>
        </p:nvSpPr>
        <p:spPr>
          <a:xfrm xmlns:a="http://schemas.openxmlformats.org/drawingml/2006/main">
            <a:off x="5972175" y="2190750"/>
            <a:ext cx="2538413"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15" name="">
            <a:extLst xmlns:a="http://schemas.openxmlformats.org/drawingml/2006/main">
              <a:ext uri="{FF2B5EF4-FFF2-40B4-BE49-F238E27FC236}">
                <a16:creationId xmlns:a16="http://schemas.microsoft.com/office/drawing/2014/main" id="{065979E3-FD07-4F4E-9260-742F2F510773}"/>
              </a:ext>
            </a:extLst>
          </p:cNvPr>
          <p:cNvSpPr>
            <a:spLocks xmlns:a="http://schemas.openxmlformats.org/drawingml/2006/main" noGrp="1"/>
          </p:cNvSpPr>
          <p:nvPr/>
        </p:nvSpPr>
        <p:spPr>
          <a:xfrm xmlns:a="http://schemas.openxmlformats.org/drawingml/2006/main">
            <a:off x="6143625" y="2343150"/>
            <a:ext cx="400050" cy="400050"/>
          </a:xfrm>
          <a:prstGeom xmlns:a="http://schemas.openxmlformats.org/drawingml/2006/main" prst="rect">
            <a:avLst/>
          </a:prstGeom>
          <a:solidFill xmlns:a="http://schemas.openxmlformats.org/drawingml/2006/main">
            <a:srgbClr val="2F80ED"/>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3</a:t>
            </a:r>
          </a:p>
        </p:txBody>
      </p:sp>
      <p:sp>
        <p:nvSpPr>
          <p:cNvPr id="16" name="">
            <a:extLst xmlns:a="http://schemas.openxmlformats.org/drawingml/2006/main">
              <a:ext uri="{FF2B5EF4-FFF2-40B4-BE49-F238E27FC236}">
                <a16:creationId xmlns:a16="http://schemas.microsoft.com/office/drawing/2014/main" id="{1C629657-DE4D-4D30-BDF0-5A59C1E0493A}"/>
              </a:ext>
            </a:extLst>
          </p:cNvPr>
          <p:cNvSpPr>
            <a:spLocks xmlns:a="http://schemas.openxmlformats.org/drawingml/2006/main" noGrp="1"/>
          </p:cNvSpPr>
          <p:nvPr/>
        </p:nvSpPr>
        <p:spPr>
          <a:xfrm xmlns:a="http://schemas.openxmlformats.org/drawingml/2006/main">
            <a:off x="6143625" y="2857500"/>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Request</a:t>
            </a:r>
          </a:p>
        </p:txBody>
      </p:sp>
      <p:sp>
        <p:nvSpPr>
          <p:cNvPr id="17" name="">
            <a:extLst xmlns:a="http://schemas.openxmlformats.org/drawingml/2006/main">
              <a:ext uri="{FF2B5EF4-FFF2-40B4-BE49-F238E27FC236}">
                <a16:creationId xmlns:a16="http://schemas.microsoft.com/office/drawing/2014/main" id="{1388FF20-41D3-4820-87CF-48E87D0BAEA5}"/>
              </a:ext>
            </a:extLst>
          </p:cNvPr>
          <p:cNvSpPr>
            <a:spLocks xmlns:a="http://schemas.openxmlformats.org/drawingml/2006/main" noGrp="1"/>
          </p:cNvSpPr>
          <p:nvPr/>
        </p:nvSpPr>
        <p:spPr>
          <a:xfrm xmlns:a="http://schemas.openxmlformats.org/drawingml/2006/main">
            <a:off x="6143625" y="3257550"/>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607385"/>
                </a:solidFill>
                <a:latin typeface="DejaVu Sans"/>
                <a:ea typeface="DejaVu Sans"/>
                <a:cs typeface="DejaVu Sans"/>
              </a:defRPr>
            </a:pPr>
            <a:r>
              <a:rPr sz="1275" b="0">
                <a:solidFill>
                  <a:srgbClr val="607385"/>
                </a:solidFill>
                <a:latin typeface="DejaVu Sans"/>
                <a:ea typeface="DejaVu Sans"/>
                <a:cs typeface="DejaVu Sans"/>
              </a:rPr>
              <a:t>What action or information is requested?</a:t>
            </a:r>
          </a:p>
        </p:txBody>
      </p:sp>
      <p:sp>
        <p:nvSpPr>
          <p:cNvPr id="18" name="">
            <a:extLst xmlns:a="http://schemas.openxmlformats.org/drawingml/2006/main">
              <a:ext uri="{FF2B5EF4-FFF2-40B4-BE49-F238E27FC236}">
                <a16:creationId xmlns:a16="http://schemas.microsoft.com/office/drawing/2014/main" id="{5AC1D2CC-B2A4-4E0B-9A5C-4E25CB2E640F}"/>
              </a:ext>
            </a:extLst>
          </p:cNvPr>
          <p:cNvSpPr>
            <a:spLocks xmlns:a="http://schemas.openxmlformats.org/drawingml/2006/main" noGrp="1"/>
          </p:cNvSpPr>
          <p:nvPr/>
        </p:nvSpPr>
        <p:spPr>
          <a:xfrm xmlns:a="http://schemas.openxmlformats.org/drawingml/2006/main">
            <a:off x="8682038" y="2190750"/>
            <a:ext cx="2538413" cy="1714500"/>
          </a:xfrm>
          <a:prstGeom xmlns:a="http://schemas.openxmlformats.org/drawingml/2006/main" prst="rect">
            <a:avLst/>
          </a:prstGeom>
          <a:solidFill xmlns:a="http://schemas.openxmlformats.org/drawingml/2006/main">
            <a:srgbClr val="2F80ED"/>
          </a:solidFill>
          <a:ln xmlns:a="http://schemas.openxmlformats.org/drawingml/2006/main" w="9525">
            <a:solidFill>
              <a:srgbClr val="2F80ED"/>
            </a:solidFill>
          </a:ln>
        </p:spPr>
      </p:sp>
      <p:sp>
        <p:nvSpPr>
          <p:cNvPr id="19" name="">
            <a:extLst xmlns:a="http://schemas.openxmlformats.org/drawingml/2006/main">
              <a:ext uri="{FF2B5EF4-FFF2-40B4-BE49-F238E27FC236}">
                <a16:creationId xmlns:a16="http://schemas.microsoft.com/office/drawing/2014/main" id="{45754F7B-ABCB-4A58-9504-C3AB01C08072}"/>
              </a:ext>
            </a:extLst>
          </p:cNvPr>
          <p:cNvSpPr>
            <a:spLocks xmlns:a="http://schemas.openxmlformats.org/drawingml/2006/main" noGrp="1"/>
          </p:cNvSpPr>
          <p:nvPr/>
        </p:nvSpPr>
        <p:spPr>
          <a:xfrm xmlns:a="http://schemas.openxmlformats.org/drawingml/2006/main">
            <a:off x="8853488" y="2343150"/>
            <a:ext cx="400050" cy="400050"/>
          </a:xfrm>
          <a:prstGeom xmlns:a="http://schemas.openxmlformats.org/drawingml/2006/main" prst="rect">
            <a:avLst/>
          </a:prstGeom>
          <a:solidFill xmlns:a="http://schemas.openxmlformats.org/drawingml/2006/main">
            <a:srgbClr val="A8F1E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4</a:t>
            </a:r>
          </a:p>
        </p:txBody>
      </p:sp>
      <p:sp>
        <p:nvSpPr>
          <p:cNvPr id="20" name="">
            <a:extLst xmlns:a="http://schemas.openxmlformats.org/drawingml/2006/main">
              <a:ext uri="{FF2B5EF4-FFF2-40B4-BE49-F238E27FC236}">
                <a16:creationId xmlns:a16="http://schemas.microsoft.com/office/drawing/2014/main" id="{009AB032-6C4A-491B-A493-831E4C67199D}"/>
              </a:ext>
            </a:extLst>
          </p:cNvPr>
          <p:cNvSpPr>
            <a:spLocks xmlns:a="http://schemas.openxmlformats.org/drawingml/2006/main" noGrp="1"/>
          </p:cNvSpPr>
          <p:nvPr/>
        </p:nvSpPr>
        <p:spPr>
          <a:xfrm xmlns:a="http://schemas.openxmlformats.org/drawingml/2006/main">
            <a:off x="8853488" y="2857500"/>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Verification</a:t>
            </a:r>
          </a:p>
        </p:txBody>
      </p:sp>
      <p:sp>
        <p:nvSpPr>
          <p:cNvPr id="21" name="">
            <a:extLst xmlns:a="http://schemas.openxmlformats.org/drawingml/2006/main">
              <a:ext uri="{FF2B5EF4-FFF2-40B4-BE49-F238E27FC236}">
                <a16:creationId xmlns:a16="http://schemas.microsoft.com/office/drawing/2014/main" id="{7CE75895-3CD5-4721-B402-E36C79FC27E9}"/>
              </a:ext>
            </a:extLst>
          </p:cNvPr>
          <p:cNvSpPr>
            <a:spLocks xmlns:a="http://schemas.openxmlformats.org/drawingml/2006/main" noGrp="1"/>
          </p:cNvSpPr>
          <p:nvPr/>
        </p:nvSpPr>
        <p:spPr>
          <a:xfrm xmlns:a="http://schemas.openxmlformats.org/drawingml/2006/main">
            <a:off x="8853488" y="3257550"/>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FFFFFF"/>
                </a:solidFill>
                <a:latin typeface="DejaVu Sans"/>
                <a:ea typeface="DejaVu Sans"/>
                <a:cs typeface="DejaVu Sans"/>
              </a:defRPr>
            </a:pPr>
            <a:r>
              <a:rPr sz="1275" b="0">
                <a:solidFill>
                  <a:srgbClr val="FFFFFF"/>
                </a:solidFill>
                <a:latin typeface="DejaVu Sans"/>
                <a:ea typeface="DejaVu Sans"/>
                <a:cs typeface="DejaVu Sans"/>
              </a:rPr>
              <a:t>How can the request be confirmed?</a:t>
            </a:r>
          </a:p>
        </p:txBody>
      </p:sp>
      <p:sp>
        <p:nvSpPr>
          <p:cNvPr id="22" name="">
            <a:extLst xmlns:a="http://schemas.openxmlformats.org/drawingml/2006/main">
              <a:ext uri="{FF2B5EF4-FFF2-40B4-BE49-F238E27FC236}">
                <a16:creationId xmlns:a16="http://schemas.microsoft.com/office/drawing/2014/main" id="{071F0B64-24EF-4E63-B5B5-C8FC15D7F947}"/>
              </a:ext>
            </a:extLst>
          </p:cNvPr>
          <p:cNvSpPr>
            <a:spLocks xmlns:a="http://schemas.openxmlformats.org/drawingml/2006/main" noGrp="1"/>
          </p:cNvSpPr>
          <p:nvPr/>
        </p:nvSpPr>
        <p:spPr>
          <a:xfrm xmlns:a="http://schemas.openxmlformats.org/drawingml/2006/main">
            <a:off x="2619375" y="4857750"/>
            <a:ext cx="7048500" cy="66675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D8F0146-FA81-4D1C-9E7A-2B189870FBB4}"/>
              </a:ext>
            </a:extLst>
          </p:cNvPr>
          <p:cNvSpPr>
            <a:spLocks xmlns:a="http://schemas.openxmlformats.org/drawingml/2006/main" noGrp="1"/>
          </p:cNvSpPr>
          <p:nvPr/>
        </p:nvSpPr>
        <p:spPr>
          <a:xfrm xmlns:a="http://schemas.openxmlformats.org/drawingml/2006/main">
            <a:off x="2790825" y="4953000"/>
            <a:ext cx="6705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Do not evaluate a message using one clue alone</a:t>
            </a:r>
          </a:p>
        </p:txBody>
      </p:sp>
    </p:spTree>
    <p:extLst>
      <p:ext uri="{BB962C8B-B14F-4D97-AF65-F5344CB8AC3E}">
        <p14:creationId xmlns:p14="http://schemas.microsoft.com/office/powerpoint/2010/main" val="770684076"/>
      </p:ext>
    </p:extLst>
  </p:cSld>
</p:sld>
</file>

<file path=ppt/slides/slide1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A0A0306-76A9-4772-84C2-9314C56914A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11E1F0-BEC7-4CE3-8237-079ABB14DDFF}"/>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EMAIL INSPECTION</a:t>
            </a:r>
          </a:p>
        </p:txBody>
      </p:sp>
      <p:sp>
        <p:nvSpPr>
          <p:cNvPr id="3" name="">
            <a:extLst xmlns:a="http://schemas.openxmlformats.org/drawingml/2006/main">
              <a:ext uri="{FF2B5EF4-FFF2-40B4-BE49-F238E27FC236}">
                <a16:creationId xmlns:a16="http://schemas.microsoft.com/office/drawing/2014/main" id="{D7768382-BB55-4ABE-B6F0-5DA98F440BF3}"/>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19</a:t>
            </a:r>
          </a:p>
        </p:txBody>
      </p:sp>
      <p:sp>
        <p:nvSpPr>
          <p:cNvPr id="4" name="">
            <a:extLst xmlns:a="http://schemas.openxmlformats.org/drawingml/2006/main">
              <a:ext uri="{FF2B5EF4-FFF2-40B4-BE49-F238E27FC236}">
                <a16:creationId xmlns:a16="http://schemas.microsoft.com/office/drawing/2014/main" id="{FE4C4D2C-4DEB-4DD7-B2E6-624097D16548}"/>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8466791-B0F1-4EBB-BA21-2B9E763E488B}"/>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Sender address</a:t>
            </a:r>
          </a:p>
        </p:txBody>
      </p:sp>
      <p:sp>
        <p:nvSpPr>
          <p:cNvPr id="6" name="">
            <a:extLst xmlns:a="http://schemas.openxmlformats.org/drawingml/2006/main">
              <a:ext uri="{FF2B5EF4-FFF2-40B4-BE49-F238E27FC236}">
                <a16:creationId xmlns:a16="http://schemas.microsoft.com/office/drawing/2014/main" id="{BDB8FD79-459A-4BEF-B3DB-0069FCA281A7}"/>
              </a:ext>
            </a:extLst>
          </p:cNvPr>
          <p:cNvSpPr>
            <a:spLocks xmlns:a="http://schemas.openxmlformats.org/drawingml/2006/main" noGrp="1"/>
          </p:cNvSpPr>
          <p:nvPr/>
        </p:nvSpPr>
        <p:spPr>
          <a:xfrm xmlns:a="http://schemas.openxmlformats.org/drawingml/2006/main">
            <a:off x="666750" y="17145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800" b="1">
                <a:solidFill>
                  <a:srgbClr val="607385"/>
                </a:solidFill>
                <a:latin typeface="DejaVu Sans"/>
                <a:ea typeface="DejaVu Sans"/>
                <a:cs typeface="DejaVu Sans"/>
              </a:defRPr>
            </a:pPr>
            <a:r>
              <a:rPr sz="1800" b="1">
                <a:solidFill>
                  <a:srgbClr val="607385"/>
                </a:solidFill>
                <a:latin typeface="DejaVu Sans"/>
                <a:ea typeface="DejaVu Sans"/>
                <a:cs typeface="DejaVu Sans"/>
              </a:rPr>
              <a:t>Displayed name</a:t>
            </a:r>
          </a:p>
        </p:txBody>
      </p:sp>
      <p:sp>
        <p:nvSpPr>
          <p:cNvPr id="7" name="">
            <a:extLst xmlns:a="http://schemas.openxmlformats.org/drawingml/2006/main">
              <a:ext uri="{FF2B5EF4-FFF2-40B4-BE49-F238E27FC236}">
                <a16:creationId xmlns:a16="http://schemas.microsoft.com/office/drawing/2014/main" id="{6256DDED-2D31-4AD2-84B1-E3407D8CEEB0}"/>
              </a:ext>
            </a:extLst>
          </p:cNvPr>
          <p:cNvSpPr>
            <a:spLocks xmlns:a="http://schemas.openxmlformats.org/drawingml/2006/main" noGrp="1"/>
          </p:cNvSpPr>
          <p:nvPr/>
        </p:nvSpPr>
        <p:spPr>
          <a:xfrm xmlns:a="http://schemas.openxmlformats.org/drawingml/2006/main">
            <a:off x="666750" y="2238375"/>
            <a:ext cx="4762500" cy="6191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2250" b="1">
                <a:solidFill>
                  <a:srgbClr val="081A2E"/>
                </a:solidFill>
                <a:latin typeface="DejaVu Sans"/>
                <a:ea typeface="DejaVu Sans"/>
                <a:cs typeface="DejaVu Sans"/>
              </a:defRPr>
            </a:pPr>
            <a:r>
              <a:rPr sz="2250" b="1">
                <a:solidFill>
                  <a:srgbClr val="081A2E"/>
                </a:solidFill>
                <a:latin typeface="DejaVu Sans"/>
                <a:ea typeface="DejaVu Sans"/>
                <a:cs typeface="DejaVu Sans"/>
              </a:rPr>
              <a:t>Microsoft Security</a:t>
            </a:r>
          </a:p>
        </p:txBody>
      </p:sp>
      <p:sp>
        <p:nvSpPr>
          <p:cNvPr id="8" name="">
            <a:extLst xmlns:a="http://schemas.openxmlformats.org/drawingml/2006/main">
              <a:ext uri="{FF2B5EF4-FFF2-40B4-BE49-F238E27FC236}">
                <a16:creationId xmlns:a16="http://schemas.microsoft.com/office/drawing/2014/main" id="{A4FC9FE9-81C5-4378-A1F4-4FD382DD4E45}"/>
              </a:ext>
            </a:extLst>
          </p:cNvPr>
          <p:cNvSpPr>
            <a:spLocks xmlns:a="http://schemas.openxmlformats.org/drawingml/2006/main" noGrp="1"/>
          </p:cNvSpPr>
          <p:nvPr/>
        </p:nvSpPr>
        <p:spPr>
          <a:xfrm xmlns:a="http://schemas.openxmlformats.org/drawingml/2006/main">
            <a:off x="666750" y="32385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800" b="1">
                <a:solidFill>
                  <a:srgbClr val="607385"/>
                </a:solidFill>
                <a:latin typeface="DejaVu Sans"/>
                <a:ea typeface="DejaVu Sans"/>
                <a:cs typeface="DejaVu Sans"/>
              </a:defRPr>
            </a:pPr>
            <a:r>
              <a:rPr sz="1800" b="1">
                <a:solidFill>
                  <a:srgbClr val="607385"/>
                </a:solidFill>
                <a:latin typeface="DejaVu Sans"/>
                <a:ea typeface="DejaVu Sans"/>
                <a:cs typeface="DejaVu Sans"/>
              </a:rPr>
              <a:t>Actual address</a:t>
            </a:r>
          </a:p>
        </p:txBody>
      </p:sp>
      <p:sp>
        <p:nvSpPr>
          <p:cNvPr id="9" name="">
            <a:extLst xmlns:a="http://schemas.openxmlformats.org/drawingml/2006/main">
              <a:ext uri="{FF2B5EF4-FFF2-40B4-BE49-F238E27FC236}">
                <a16:creationId xmlns:a16="http://schemas.microsoft.com/office/drawing/2014/main" id="{2E37430A-B87F-4901-8445-C7DABA5EFDEF}"/>
              </a:ext>
            </a:extLst>
          </p:cNvPr>
          <p:cNvSpPr>
            <a:spLocks xmlns:a="http://schemas.openxmlformats.org/drawingml/2006/main" noGrp="1"/>
          </p:cNvSpPr>
          <p:nvPr/>
        </p:nvSpPr>
        <p:spPr>
          <a:xfrm xmlns:a="http://schemas.openxmlformats.org/drawingml/2006/main">
            <a:off x="666750" y="3762375"/>
            <a:ext cx="4762500" cy="619125"/>
          </a:xfrm>
          <a:prstGeom xmlns:a="http://schemas.openxmlformats.org/drawingml/2006/main" prst="rect">
            <a:avLst/>
          </a:prstGeom>
          <a:solidFill xmlns:a="http://schemas.openxmlformats.org/drawingml/2006/main">
            <a:srgbClr val="FFF1F1"/>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2100" b="1">
                <a:solidFill>
                  <a:srgbClr val="E54B4B"/>
                </a:solidFill>
                <a:latin typeface="DejaVu Sans"/>
                <a:ea typeface="DejaVu Sans"/>
                <a:cs typeface="DejaVu Sans"/>
              </a:defRPr>
            </a:pPr>
            <a:r>
              <a:rPr sz="2100" b="1">
                <a:solidFill>
                  <a:srgbClr val="E54B4B"/>
                </a:solidFill>
                <a:latin typeface="DejaVu Sans"/>
                <a:ea typeface="DejaVu Sans"/>
                <a:cs typeface="DejaVu Sans"/>
              </a:rPr>
              <a:t>security-alert@gmail.com</a:t>
            </a:r>
          </a:p>
        </p:txBody>
      </p:sp>
      <p:sp>
        <p:nvSpPr>
          <p:cNvPr id="10" name="">
            <a:extLst xmlns:a="http://schemas.openxmlformats.org/drawingml/2006/main">
              <a:ext uri="{FF2B5EF4-FFF2-40B4-BE49-F238E27FC236}">
                <a16:creationId xmlns:a16="http://schemas.microsoft.com/office/drawing/2014/main" id="{7B0670C4-E905-4F90-98ED-C02D3F8243A4}"/>
              </a:ext>
            </a:extLst>
          </p:cNvPr>
          <p:cNvSpPr>
            <a:spLocks xmlns:a="http://schemas.openxmlformats.org/drawingml/2006/main" noGrp="1"/>
          </p:cNvSpPr>
          <p:nvPr/>
        </p:nvSpPr>
        <p:spPr>
          <a:xfrm xmlns:a="http://schemas.openxmlformats.org/drawingml/2006/main">
            <a:off x="6191250" y="16668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100" b="1">
                <a:solidFill>
                  <a:srgbClr val="081A2E"/>
                </a:solidFill>
                <a:latin typeface="DejaVu Sans"/>
                <a:ea typeface="DejaVu Sans"/>
                <a:cs typeface="DejaVu Sans"/>
              </a:defRPr>
            </a:pPr>
            <a:r>
              <a:rPr sz="2100" b="1">
                <a:solidFill>
                  <a:srgbClr val="081A2E"/>
                </a:solidFill>
                <a:latin typeface="DejaVu Sans"/>
                <a:ea typeface="DejaVu Sans"/>
                <a:cs typeface="DejaVu Sans"/>
              </a:rPr>
              <a:t>Inspection checklist</a:t>
            </a:r>
          </a:p>
        </p:txBody>
      </p:sp>
      <p:sp>
        <p:nvSpPr>
          <p:cNvPr id="11" name="">
            <a:extLst xmlns:a="http://schemas.openxmlformats.org/drawingml/2006/main">
              <a:ext uri="{FF2B5EF4-FFF2-40B4-BE49-F238E27FC236}">
                <a16:creationId xmlns:a16="http://schemas.microsoft.com/office/drawing/2014/main" id="{401D959E-243A-4C7D-A8A5-1BECFD52E752}"/>
              </a:ext>
            </a:extLst>
          </p:cNvPr>
          <p:cNvSpPr>
            <a:spLocks xmlns:a="http://schemas.openxmlformats.org/drawingml/2006/main" noGrp="1"/>
          </p:cNvSpPr>
          <p:nvPr/>
        </p:nvSpPr>
        <p:spPr>
          <a:xfrm xmlns:a="http://schemas.openxmlformats.org/drawingml/2006/main">
            <a:off x="6048375" y="2286000"/>
            <a:ext cx="5048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Expand the complete address</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Check spelling of the registered domain</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Compare From, Reply-To and Return-Path</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Treat unexpected free-mail addresses cautiously</a:t>
            </a:r>
          </a:p>
        </p:txBody>
      </p:sp>
    </p:spTree>
    <p:extLst>
      <p:ext uri="{BB962C8B-B14F-4D97-AF65-F5344CB8AC3E}">
        <p14:creationId xmlns:p14="http://schemas.microsoft.com/office/powerpoint/2010/main" val="57836922"/>
      </p:ext>
    </p:extLst>
  </p:cSld>
</p:sld>
</file>

<file path=ppt/slides/slide2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FC620FB-91DA-4B44-A566-92C9B7EF1C9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115C0B-586A-4028-90F3-234FC1357028}"/>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EMAIL INSPECTION</a:t>
            </a:r>
          </a:p>
        </p:txBody>
      </p:sp>
      <p:sp>
        <p:nvSpPr>
          <p:cNvPr id="3" name="">
            <a:extLst xmlns:a="http://schemas.openxmlformats.org/drawingml/2006/main">
              <a:ext uri="{FF2B5EF4-FFF2-40B4-BE49-F238E27FC236}">
                <a16:creationId xmlns:a16="http://schemas.microsoft.com/office/drawing/2014/main" id="{39665312-2F69-487E-B3AB-2C7F49298F83}"/>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20</a:t>
            </a:r>
          </a:p>
        </p:txBody>
      </p:sp>
      <p:sp>
        <p:nvSpPr>
          <p:cNvPr id="4" name="">
            <a:extLst xmlns:a="http://schemas.openxmlformats.org/drawingml/2006/main">
              <a:ext uri="{FF2B5EF4-FFF2-40B4-BE49-F238E27FC236}">
                <a16:creationId xmlns:a16="http://schemas.microsoft.com/office/drawing/2014/main" id="{7DA2A181-3D02-4D93-88D8-C5D7FCF019E6}"/>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3DBE1EB-1CBC-45A7-80BF-F7A42838DCEF}"/>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2700" b="1">
                <a:solidFill>
                  <a:srgbClr val="081A2E"/>
                </a:solidFill>
                <a:latin typeface="DejaVu Sans"/>
                <a:ea typeface="DejaVu Sans"/>
                <a:cs typeface="DejaVu Sans"/>
              </a:defRPr>
            </a:pPr>
            <a:r>
              <a:rPr sz="2700" b="1">
                <a:solidFill>
                  <a:srgbClr val="081A2E"/>
                </a:solidFill>
                <a:latin typeface="DejaVu Sans"/>
                <a:ea typeface="DejaVu Sans"/>
                <a:cs typeface="DejaVu Sans"/>
              </a:rPr>
              <a:t>Subject, urgency and language</a:t>
            </a:r>
          </a:p>
        </p:txBody>
      </p:sp>
      <p:sp>
        <p:nvSpPr>
          <p:cNvPr id="6" name="">
            <a:extLst xmlns:a="http://schemas.openxmlformats.org/drawingml/2006/main">
              <a:ext uri="{FF2B5EF4-FFF2-40B4-BE49-F238E27FC236}">
                <a16:creationId xmlns:a16="http://schemas.microsoft.com/office/drawing/2014/main" id="{95F3CD11-B83A-4CB7-A078-3ABB7CAA098F}"/>
              </a:ext>
            </a:extLst>
          </p:cNvPr>
          <p:cNvSpPr>
            <a:spLocks xmlns:a="http://schemas.openxmlformats.org/drawingml/2006/main" noGrp="1"/>
          </p:cNvSpPr>
          <p:nvPr/>
        </p:nvSpPr>
        <p:spPr>
          <a:xfrm xmlns:a="http://schemas.openxmlformats.org/drawingml/2006/main">
            <a:off x="49530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7C7E0529-2C97-43E9-9F1A-49DE230308FB}"/>
              </a:ext>
            </a:extLst>
          </p:cNvPr>
          <p:cNvSpPr>
            <a:spLocks xmlns:a="http://schemas.openxmlformats.org/drawingml/2006/main" noGrp="1"/>
          </p:cNvSpPr>
          <p:nvPr/>
        </p:nvSpPr>
        <p:spPr>
          <a:xfrm xmlns:a="http://schemas.openxmlformats.org/drawingml/2006/main">
            <a:off x="596265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8" name="">
            <a:extLst xmlns:a="http://schemas.openxmlformats.org/drawingml/2006/main">
              <a:ext uri="{FF2B5EF4-FFF2-40B4-BE49-F238E27FC236}">
                <a16:creationId xmlns:a16="http://schemas.microsoft.com/office/drawing/2014/main" id="{0F4DB87D-7E73-4233-907E-251FBFC5276F}"/>
              </a:ext>
            </a:extLst>
          </p:cNvPr>
          <p:cNvSpPr>
            <a:spLocks xmlns:a="http://schemas.openxmlformats.org/drawingml/2006/main" noGrp="1"/>
          </p:cNvSpPr>
          <p:nvPr/>
        </p:nvSpPr>
        <p:spPr>
          <a:xfrm xmlns:a="http://schemas.openxmlformats.org/drawingml/2006/main">
            <a:off x="74295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E54B4B"/>
                </a:solidFill>
                <a:latin typeface="DejaVu Sans"/>
                <a:ea typeface="DejaVu Sans"/>
                <a:cs typeface="DejaVu Sans"/>
              </a:defRPr>
            </a:pPr>
            <a:r>
              <a:rPr sz="2025" b="1">
                <a:solidFill>
                  <a:srgbClr val="E54B4B"/>
                </a:solidFill>
                <a:latin typeface="DejaVu Sans"/>
                <a:ea typeface="DejaVu Sans"/>
                <a:cs typeface="DejaVu Sans"/>
              </a:rPr>
              <a:t>Pressure signals</a:t>
            </a:r>
          </a:p>
        </p:txBody>
      </p:sp>
      <p:sp>
        <p:nvSpPr>
          <p:cNvPr id="9" name="">
            <a:extLst xmlns:a="http://schemas.openxmlformats.org/drawingml/2006/main">
              <a:ext uri="{FF2B5EF4-FFF2-40B4-BE49-F238E27FC236}">
                <a16:creationId xmlns:a16="http://schemas.microsoft.com/office/drawing/2014/main" id="{056B7A88-D28B-415F-8BEB-FFFE40E93B93}"/>
              </a:ext>
            </a:extLst>
          </p:cNvPr>
          <p:cNvSpPr>
            <a:spLocks xmlns:a="http://schemas.openxmlformats.org/drawingml/2006/main" noGrp="1"/>
          </p:cNvSpPr>
          <p:nvPr/>
        </p:nvSpPr>
        <p:spPr>
          <a:xfrm xmlns:a="http://schemas.openxmlformats.org/drawingml/2006/main">
            <a:off x="621030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2F80ED"/>
                </a:solidFill>
                <a:latin typeface="DejaVu Sans"/>
                <a:ea typeface="DejaVu Sans"/>
                <a:cs typeface="DejaVu Sans"/>
              </a:defRPr>
            </a:pPr>
            <a:r>
              <a:rPr sz="2025" b="1">
                <a:solidFill>
                  <a:srgbClr val="2F80ED"/>
                </a:solidFill>
                <a:latin typeface="DejaVu Sans"/>
                <a:ea typeface="DejaVu Sans"/>
                <a:cs typeface="DejaVu Sans"/>
              </a:rPr>
              <a:t>Language signals</a:t>
            </a:r>
          </a:p>
        </p:txBody>
      </p:sp>
      <p:sp>
        <p:nvSpPr>
          <p:cNvPr id="10" name="">
            <a:extLst xmlns:a="http://schemas.openxmlformats.org/drawingml/2006/main">
              <a:ext uri="{FF2B5EF4-FFF2-40B4-BE49-F238E27FC236}">
                <a16:creationId xmlns:a16="http://schemas.microsoft.com/office/drawing/2014/main" id="{0B144BD2-C4E2-4DEE-848E-87B4FDCD5FFB}"/>
              </a:ext>
            </a:extLst>
          </p:cNvPr>
          <p:cNvSpPr>
            <a:spLocks xmlns:a="http://schemas.openxmlformats.org/drawingml/2006/main" noGrp="1"/>
          </p:cNvSpPr>
          <p:nvPr/>
        </p:nvSpPr>
        <p:spPr>
          <a:xfrm xmlns:a="http://schemas.openxmlformats.org/drawingml/2006/main">
            <a:off x="714375"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Password expires today</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Immediate payment required</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Do not call me</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Respond within ten minutes</a:t>
            </a:r>
          </a:p>
        </p:txBody>
      </p:sp>
      <p:sp>
        <p:nvSpPr>
          <p:cNvPr id="11" name="">
            <a:extLst xmlns:a="http://schemas.openxmlformats.org/drawingml/2006/main">
              <a:ext uri="{FF2B5EF4-FFF2-40B4-BE49-F238E27FC236}">
                <a16:creationId xmlns:a16="http://schemas.microsoft.com/office/drawing/2014/main" id="{796747ED-6615-4A2C-B5C5-B49B1522DABF}"/>
              </a:ext>
            </a:extLst>
          </p:cNvPr>
          <p:cNvSpPr>
            <a:spLocks xmlns:a="http://schemas.openxmlformats.org/drawingml/2006/main" noGrp="1"/>
          </p:cNvSpPr>
          <p:nvPr/>
        </p:nvSpPr>
        <p:spPr>
          <a:xfrm xmlns:a="http://schemas.openxmlformats.org/drawingml/2006/main">
            <a:off x="6191250"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Generic greeting despite a claimed relationship</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Unexpected confidentiality or secrecy</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Tone differs from the known sender</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Grammar may be poor or completely polished</a:t>
            </a:r>
          </a:p>
        </p:txBody>
      </p:sp>
      <p:sp>
        <p:nvSpPr>
          <p:cNvPr id="12" name="">
            <a:extLst xmlns:a="http://schemas.openxmlformats.org/drawingml/2006/main">
              <a:ext uri="{FF2B5EF4-FFF2-40B4-BE49-F238E27FC236}">
                <a16:creationId xmlns:a16="http://schemas.microsoft.com/office/drawing/2014/main" id="{40B49B4E-3AF0-48D5-BFE2-6D79C9173C65}"/>
              </a:ext>
            </a:extLst>
          </p:cNvPr>
          <p:cNvSpPr>
            <a:spLocks xmlns:a="http://schemas.openxmlformats.org/drawingml/2006/main" noGrp="1"/>
          </p:cNvSpPr>
          <p:nvPr/>
        </p:nvSpPr>
        <p:spPr>
          <a:xfrm xmlns:a="http://schemas.openxmlformats.org/drawingml/2006/main">
            <a:off x="2667000" y="5905500"/>
            <a:ext cx="6858000" cy="514350"/>
          </a:xfrm>
          <a:prstGeom xmlns:a="http://schemas.openxmlformats.org/drawingml/2006/main" prst="rect">
            <a:avLst/>
          </a:prstGeom>
          <a:solidFill xmlns:a="http://schemas.openxmlformats.org/drawingml/2006/main">
            <a:srgbClr val="FF8A3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D15AAC6-CFB2-402A-B50F-612C05A76DEC}"/>
              </a:ext>
            </a:extLst>
          </p:cNvPr>
          <p:cNvSpPr>
            <a:spLocks xmlns:a="http://schemas.openxmlformats.org/drawingml/2006/main" noGrp="1"/>
          </p:cNvSpPr>
          <p:nvPr/>
        </p:nvSpPr>
        <p:spPr>
          <a:xfrm xmlns:a="http://schemas.openxmlformats.org/drawingml/2006/main">
            <a:off x="2838450" y="6000750"/>
            <a:ext cx="651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7302"/>
          </a:bodyPr>
          <a:lstStyle xmlns:a="http://schemas.openxmlformats.org/drawingml/2006/main"/>
          <a:p xmlns:a="http://schemas.openxmlformats.org/drawingml/2006/main">
            <a:pPr algn="ctr">
              <a:defRPr sz="1575" b="1">
                <a:solidFill>
                  <a:srgbClr val="081A2E"/>
                </a:solidFill>
                <a:latin typeface="DejaVu Sans"/>
                <a:ea typeface="DejaVu Sans"/>
                <a:cs typeface="DejaVu Sans"/>
              </a:defRPr>
            </a:pPr>
            <a:r>
              <a:rPr sz="1575" b="1">
                <a:solidFill>
                  <a:srgbClr val="081A2E"/>
                </a:solidFill>
                <a:latin typeface="DejaVu Sans"/>
                <a:ea typeface="DejaVu Sans"/>
                <a:cs typeface="DejaVu Sans"/>
              </a:rPr>
              <a:t>Urgency increases the need for verification</a:t>
            </a:r>
          </a:p>
        </p:txBody>
      </p:sp>
    </p:spTree>
    <p:extLst>
      <p:ext uri="{BB962C8B-B14F-4D97-AF65-F5344CB8AC3E}">
        <p14:creationId xmlns:p14="http://schemas.microsoft.com/office/powerpoint/2010/main" val="1312718528"/>
      </p:ext>
    </p:extLst>
  </p:cSld>
</p:sld>
</file>

<file path=ppt/slides/slide2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44DC87-1D2A-4481-936E-7DEE5F7BD489}"/>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3ACFFA-B2A3-486E-9018-AC946E59075D}"/>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EMAIL INSPECTION</a:t>
            </a:r>
          </a:p>
        </p:txBody>
      </p:sp>
      <p:sp>
        <p:nvSpPr>
          <p:cNvPr id="3" name="">
            <a:extLst xmlns:a="http://schemas.openxmlformats.org/drawingml/2006/main">
              <a:ext uri="{FF2B5EF4-FFF2-40B4-BE49-F238E27FC236}">
                <a16:creationId xmlns:a16="http://schemas.microsoft.com/office/drawing/2014/main" id="{43E970A2-040D-48F2-BC0B-B2B7D2FE298B}"/>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21</a:t>
            </a:r>
          </a:p>
        </p:txBody>
      </p:sp>
      <p:sp>
        <p:nvSpPr>
          <p:cNvPr id="4" name="">
            <a:extLst xmlns:a="http://schemas.openxmlformats.org/drawingml/2006/main">
              <a:ext uri="{FF2B5EF4-FFF2-40B4-BE49-F238E27FC236}">
                <a16:creationId xmlns:a16="http://schemas.microsoft.com/office/drawing/2014/main" id="{E047A666-E785-4DD0-A7A0-B8DEFEB4DE29}"/>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7B2FEBF-033E-4BB9-B9F4-E1FBF1A9B788}"/>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Links and actual destinations</a:t>
            </a:r>
          </a:p>
        </p:txBody>
      </p:sp>
      <p:sp>
        <p:nvSpPr>
          <p:cNvPr id="6" name="">
            <a:extLst xmlns:a="http://schemas.openxmlformats.org/drawingml/2006/main">
              <a:ext uri="{FF2B5EF4-FFF2-40B4-BE49-F238E27FC236}">
                <a16:creationId xmlns:a16="http://schemas.microsoft.com/office/drawing/2014/main" id="{07CD2F31-24D7-459D-880B-9638C7CF12F6}"/>
              </a:ext>
            </a:extLst>
          </p:cNvPr>
          <p:cNvSpPr>
            <a:spLocks xmlns:a="http://schemas.openxmlformats.org/drawingml/2006/main" noGrp="1"/>
          </p:cNvSpPr>
          <p:nvPr/>
        </p:nvSpPr>
        <p:spPr>
          <a:xfrm xmlns:a="http://schemas.openxmlformats.org/drawingml/2006/main">
            <a:off x="714375" y="18097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650" b="1">
                <a:solidFill>
                  <a:srgbClr val="607385"/>
                </a:solidFill>
                <a:latin typeface="DejaVu Sans"/>
                <a:ea typeface="DejaVu Sans"/>
                <a:cs typeface="DejaVu Sans"/>
              </a:defRPr>
            </a:pPr>
            <a:r>
              <a:rPr sz="1650" b="1">
                <a:solidFill>
                  <a:srgbClr val="607385"/>
                </a:solidFill>
                <a:latin typeface="DejaVu Sans"/>
                <a:ea typeface="DejaVu Sans"/>
                <a:cs typeface="DejaVu Sans"/>
              </a:rPr>
              <a:t>Visible text</a:t>
            </a:r>
          </a:p>
        </p:txBody>
      </p:sp>
      <p:sp>
        <p:nvSpPr>
          <p:cNvPr id="7" name="">
            <a:extLst xmlns:a="http://schemas.openxmlformats.org/drawingml/2006/main">
              <a:ext uri="{FF2B5EF4-FFF2-40B4-BE49-F238E27FC236}">
                <a16:creationId xmlns:a16="http://schemas.microsoft.com/office/drawing/2014/main" id="{B8AEFDB3-61C7-4117-842E-11C4F64C0803}"/>
              </a:ext>
            </a:extLst>
          </p:cNvPr>
          <p:cNvSpPr>
            <a:spLocks xmlns:a="http://schemas.openxmlformats.org/drawingml/2006/main" noGrp="1"/>
          </p:cNvSpPr>
          <p:nvPr/>
        </p:nvSpPr>
        <p:spPr>
          <a:xfrm xmlns:a="http://schemas.openxmlformats.org/drawingml/2006/main">
            <a:off x="714375" y="2286000"/>
            <a:ext cx="10477500" cy="5905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2250" b="1">
                <a:solidFill>
                  <a:srgbClr val="2F80ED"/>
                </a:solidFill>
                <a:latin typeface="DejaVu Sans"/>
                <a:ea typeface="DejaVu Sans"/>
                <a:cs typeface="DejaVu Sans"/>
              </a:defRPr>
            </a:pPr>
            <a:r>
              <a:rPr sz="2250" b="1">
                <a:solidFill>
                  <a:srgbClr val="2F80ED"/>
                </a:solidFill>
                <a:latin typeface="DejaVu Sans"/>
                <a:ea typeface="DejaVu Sans"/>
                <a:cs typeface="DejaVu Sans"/>
              </a:rPr>
              <a:t>https://login.microsoftonline.com</a:t>
            </a:r>
          </a:p>
        </p:txBody>
      </p:sp>
      <p:sp>
        <p:nvSpPr>
          <p:cNvPr id="8" name="">
            <a:extLst xmlns:a="http://schemas.openxmlformats.org/drawingml/2006/main">
              <a:ext uri="{FF2B5EF4-FFF2-40B4-BE49-F238E27FC236}">
                <a16:creationId xmlns:a16="http://schemas.microsoft.com/office/drawing/2014/main" id="{7D62953C-D168-41B5-96F2-414D9000CF5E}"/>
              </a:ext>
            </a:extLst>
          </p:cNvPr>
          <p:cNvSpPr>
            <a:spLocks xmlns:a="http://schemas.openxmlformats.org/drawingml/2006/main" noGrp="1"/>
          </p:cNvSpPr>
          <p:nvPr/>
        </p:nvSpPr>
        <p:spPr>
          <a:xfrm xmlns:a="http://schemas.openxmlformats.org/drawingml/2006/main">
            <a:off x="714375" y="32861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650" b="1">
                <a:solidFill>
                  <a:srgbClr val="607385"/>
                </a:solidFill>
                <a:latin typeface="DejaVu Sans"/>
                <a:ea typeface="DejaVu Sans"/>
                <a:cs typeface="DejaVu Sans"/>
              </a:defRPr>
            </a:pPr>
            <a:r>
              <a:rPr sz="1650" b="1">
                <a:solidFill>
                  <a:srgbClr val="607385"/>
                </a:solidFill>
                <a:latin typeface="DejaVu Sans"/>
                <a:ea typeface="DejaVu Sans"/>
                <a:cs typeface="DejaVu Sans"/>
              </a:rPr>
              <a:t>Actual destination</a:t>
            </a:r>
          </a:p>
        </p:txBody>
      </p:sp>
      <p:sp>
        <p:nvSpPr>
          <p:cNvPr id="9" name="">
            <a:extLst xmlns:a="http://schemas.openxmlformats.org/drawingml/2006/main">
              <a:ext uri="{FF2B5EF4-FFF2-40B4-BE49-F238E27FC236}">
                <a16:creationId xmlns:a16="http://schemas.microsoft.com/office/drawing/2014/main" id="{5982C2CB-5FAA-48DD-B1B5-781A2E4A3EE5}"/>
              </a:ext>
            </a:extLst>
          </p:cNvPr>
          <p:cNvSpPr>
            <a:spLocks xmlns:a="http://schemas.openxmlformats.org/drawingml/2006/main" noGrp="1"/>
          </p:cNvSpPr>
          <p:nvPr/>
        </p:nvSpPr>
        <p:spPr>
          <a:xfrm xmlns:a="http://schemas.openxmlformats.org/drawingml/2006/main">
            <a:off x="714375" y="3762375"/>
            <a:ext cx="10477500" cy="590550"/>
          </a:xfrm>
          <a:prstGeom xmlns:a="http://schemas.openxmlformats.org/drawingml/2006/main" prst="rect">
            <a:avLst/>
          </a:prstGeom>
          <a:solidFill xmlns:a="http://schemas.openxmlformats.org/drawingml/2006/main">
            <a:srgbClr val="FFF1F1"/>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2250" b="1">
                <a:solidFill>
                  <a:srgbClr val="E54B4B"/>
                </a:solidFill>
                <a:latin typeface="DejaVu Sans"/>
                <a:ea typeface="DejaVu Sans"/>
                <a:cs typeface="DejaVu Sans"/>
              </a:defRPr>
            </a:pPr>
            <a:r>
              <a:rPr sz="2250" b="1">
                <a:solidFill>
                  <a:srgbClr val="E54B4B"/>
                </a:solidFill>
                <a:latin typeface="DejaVu Sans"/>
                <a:ea typeface="DejaVu Sans"/>
                <a:cs typeface="DejaVu Sans"/>
              </a:rPr>
              <a:t>https://microsoft-login.example</a:t>
            </a:r>
          </a:p>
        </p:txBody>
      </p:sp>
      <p:sp>
        <p:nvSpPr>
          <p:cNvPr id="10" name="">
            <a:extLst xmlns:a="http://schemas.openxmlformats.org/drawingml/2006/main">
              <a:ext uri="{FF2B5EF4-FFF2-40B4-BE49-F238E27FC236}">
                <a16:creationId xmlns:a16="http://schemas.microsoft.com/office/drawing/2014/main" id="{F313B6A4-2538-4A82-B320-0FDAF7F16B07}"/>
              </a:ext>
            </a:extLst>
          </p:cNvPr>
          <p:cNvSpPr>
            <a:spLocks xmlns:a="http://schemas.openxmlformats.org/drawingml/2006/main" noGrp="1"/>
          </p:cNvSpPr>
          <p:nvPr/>
        </p:nvSpPr>
        <p:spPr>
          <a:xfrm xmlns:a="http://schemas.openxmlformats.org/drawingml/2006/main">
            <a:off x="1666875" y="4953000"/>
            <a:ext cx="8858250" cy="74295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4E13CDF-5A6D-4CFD-94C8-28A03DAE5177}"/>
              </a:ext>
            </a:extLst>
          </p:cNvPr>
          <p:cNvSpPr>
            <a:spLocks xmlns:a="http://schemas.openxmlformats.org/drawingml/2006/main" noGrp="1"/>
          </p:cNvSpPr>
          <p:nvPr/>
        </p:nvSpPr>
        <p:spPr>
          <a:xfrm xmlns:a="http://schemas.openxmlformats.org/drawingml/2006/main">
            <a:off x="1838325" y="5048250"/>
            <a:ext cx="8515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9285"/>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Desktop: hover over the link     Mobile: press and hold to preview</a:t>
            </a:r>
          </a:p>
        </p:txBody>
      </p:sp>
    </p:spTree>
    <p:extLst>
      <p:ext uri="{BB962C8B-B14F-4D97-AF65-F5344CB8AC3E}">
        <p14:creationId xmlns:p14="http://schemas.microsoft.com/office/powerpoint/2010/main" val="1186819607"/>
      </p:ext>
    </p:extLst>
  </p:cSld>
</p:sld>
</file>

<file path=ppt/slides/slide2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7B4815D-89F3-4F42-B2A2-904D5420C04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341C3D-5A68-48C8-9EC4-D81C206B7BA2}"/>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EMAIL INSPECTION</a:t>
            </a:r>
          </a:p>
        </p:txBody>
      </p:sp>
      <p:sp>
        <p:nvSpPr>
          <p:cNvPr id="3" name="">
            <a:extLst xmlns:a="http://schemas.openxmlformats.org/drawingml/2006/main">
              <a:ext uri="{FF2B5EF4-FFF2-40B4-BE49-F238E27FC236}">
                <a16:creationId xmlns:a16="http://schemas.microsoft.com/office/drawing/2014/main" id="{95928765-27F2-4B70-B759-32F4E07262F4}"/>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22</a:t>
            </a:r>
          </a:p>
        </p:txBody>
      </p:sp>
      <p:sp>
        <p:nvSpPr>
          <p:cNvPr id="4" name="">
            <a:extLst xmlns:a="http://schemas.openxmlformats.org/drawingml/2006/main">
              <a:ext uri="{FF2B5EF4-FFF2-40B4-BE49-F238E27FC236}">
                <a16:creationId xmlns:a16="http://schemas.microsoft.com/office/drawing/2014/main" id="{BC2E6D26-0578-4C3D-BC37-979EB793E0C6}"/>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68B0B9F-2B66-406C-8AAF-D45F729F16F2}"/>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Reading a suspicious domain</a:t>
            </a:r>
          </a:p>
        </p:txBody>
      </p:sp>
      <p:sp>
        <p:nvSpPr>
          <p:cNvPr id="6" name="">
            <a:extLst xmlns:a="http://schemas.openxmlformats.org/drawingml/2006/main">
              <a:ext uri="{FF2B5EF4-FFF2-40B4-BE49-F238E27FC236}">
                <a16:creationId xmlns:a16="http://schemas.microsoft.com/office/drawing/2014/main" id="{7A3FC070-33BC-43C9-9733-8AFB4BDA49B0}"/>
              </a:ext>
            </a:extLst>
          </p:cNvPr>
          <p:cNvSpPr>
            <a:spLocks xmlns:a="http://schemas.openxmlformats.org/drawingml/2006/main" noGrp="1"/>
          </p:cNvSpPr>
          <p:nvPr/>
        </p:nvSpPr>
        <p:spPr>
          <a:xfrm xmlns:a="http://schemas.openxmlformats.org/drawingml/2006/main">
            <a:off x="514350" y="1809750"/>
            <a:ext cx="2000250" cy="400050"/>
          </a:xfrm>
          <a:prstGeom xmlns:a="http://schemas.openxmlformats.org/drawingml/2006/main" prst="rect">
            <a:avLst/>
          </a:prstGeom>
          <a:solidFill xmlns:a="http://schemas.openxmlformats.org/drawingml/2006/main">
            <a:srgbClr val="081A2E"/>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PATTERN</a:t>
            </a:r>
          </a:p>
        </p:txBody>
      </p:sp>
      <p:sp>
        <p:nvSpPr>
          <p:cNvPr id="7" name="">
            <a:extLst xmlns:a="http://schemas.openxmlformats.org/drawingml/2006/main">
              <a:ext uri="{FF2B5EF4-FFF2-40B4-BE49-F238E27FC236}">
                <a16:creationId xmlns:a16="http://schemas.microsoft.com/office/drawing/2014/main" id="{EC30E9F1-0EEB-410C-AF54-07A21B50A3C3}"/>
              </a:ext>
            </a:extLst>
          </p:cNvPr>
          <p:cNvSpPr>
            <a:spLocks xmlns:a="http://schemas.openxmlformats.org/drawingml/2006/main" noGrp="1"/>
          </p:cNvSpPr>
          <p:nvPr/>
        </p:nvSpPr>
        <p:spPr>
          <a:xfrm xmlns:a="http://schemas.openxmlformats.org/drawingml/2006/main">
            <a:off x="2667000" y="1809750"/>
            <a:ext cx="3333750" cy="400050"/>
          </a:xfrm>
          <a:prstGeom xmlns:a="http://schemas.openxmlformats.org/drawingml/2006/main" prst="rect">
            <a:avLst/>
          </a:prstGeom>
          <a:solidFill xmlns:a="http://schemas.openxmlformats.org/drawingml/2006/main">
            <a:srgbClr val="081A2E"/>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EXAMPLE</a:t>
            </a:r>
          </a:p>
        </p:txBody>
      </p:sp>
      <p:sp>
        <p:nvSpPr>
          <p:cNvPr id="8" name="">
            <a:extLst xmlns:a="http://schemas.openxmlformats.org/drawingml/2006/main">
              <a:ext uri="{FF2B5EF4-FFF2-40B4-BE49-F238E27FC236}">
                <a16:creationId xmlns:a16="http://schemas.microsoft.com/office/drawing/2014/main" id="{C5BA188C-0E09-4A74-9EE4-4F6735B66B48}"/>
              </a:ext>
            </a:extLst>
          </p:cNvPr>
          <p:cNvSpPr>
            <a:spLocks xmlns:a="http://schemas.openxmlformats.org/drawingml/2006/main" noGrp="1"/>
          </p:cNvSpPr>
          <p:nvPr/>
        </p:nvSpPr>
        <p:spPr>
          <a:xfrm xmlns:a="http://schemas.openxmlformats.org/drawingml/2006/main">
            <a:off x="6191250" y="1809750"/>
            <a:ext cx="5048250" cy="400050"/>
          </a:xfrm>
          <a:prstGeom xmlns:a="http://schemas.openxmlformats.org/drawingml/2006/main" prst="rect">
            <a:avLst/>
          </a:prstGeom>
          <a:solidFill xmlns:a="http://schemas.openxmlformats.org/drawingml/2006/main">
            <a:srgbClr val="081A2E"/>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WHAT TO NOTICE</a:t>
            </a:r>
          </a:p>
        </p:txBody>
      </p:sp>
      <p:sp>
        <p:nvSpPr>
          <p:cNvPr id="9" name="">
            <a:extLst xmlns:a="http://schemas.openxmlformats.org/drawingml/2006/main">
              <a:ext uri="{FF2B5EF4-FFF2-40B4-BE49-F238E27FC236}">
                <a16:creationId xmlns:a16="http://schemas.microsoft.com/office/drawing/2014/main" id="{85F29133-3E86-4580-B4CB-06237F58118E}"/>
              </a:ext>
            </a:extLst>
          </p:cNvPr>
          <p:cNvSpPr>
            <a:spLocks xmlns:a="http://schemas.openxmlformats.org/drawingml/2006/main" noGrp="1"/>
          </p:cNvSpPr>
          <p:nvPr/>
        </p:nvSpPr>
        <p:spPr>
          <a:xfrm xmlns:a="http://schemas.openxmlformats.org/drawingml/2006/main">
            <a:off x="514350" y="2247900"/>
            <a:ext cx="2000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Official</a:t>
            </a:r>
          </a:p>
        </p:txBody>
      </p:sp>
      <p:sp>
        <p:nvSpPr>
          <p:cNvPr id="10" name="">
            <a:extLst xmlns:a="http://schemas.openxmlformats.org/drawingml/2006/main">
              <a:ext uri="{FF2B5EF4-FFF2-40B4-BE49-F238E27FC236}">
                <a16:creationId xmlns:a16="http://schemas.microsoft.com/office/drawing/2014/main" id="{21C9DD7F-74DA-483C-AA81-159D80386FEF}"/>
              </a:ext>
            </a:extLst>
          </p:cNvPr>
          <p:cNvSpPr>
            <a:spLocks xmlns:a="http://schemas.openxmlformats.org/drawingml/2006/main" noGrp="1"/>
          </p:cNvSpPr>
          <p:nvPr/>
        </p:nvSpPr>
        <p:spPr>
          <a:xfrm xmlns:a="http://schemas.openxmlformats.org/drawingml/2006/main">
            <a:off x="2667000" y="2247900"/>
            <a:ext cx="33337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login.microsoftonline.com</a:t>
            </a:r>
          </a:p>
        </p:txBody>
      </p:sp>
      <p:sp>
        <p:nvSpPr>
          <p:cNvPr id="11" name="">
            <a:extLst xmlns:a="http://schemas.openxmlformats.org/drawingml/2006/main">
              <a:ext uri="{FF2B5EF4-FFF2-40B4-BE49-F238E27FC236}">
                <a16:creationId xmlns:a16="http://schemas.microsoft.com/office/drawing/2014/main" id="{E1B5D3E5-2123-4D8E-8C45-6D4617349AB3}"/>
              </a:ext>
            </a:extLst>
          </p:cNvPr>
          <p:cNvSpPr>
            <a:spLocks xmlns:a="http://schemas.openxmlformats.org/drawingml/2006/main" noGrp="1"/>
          </p:cNvSpPr>
          <p:nvPr/>
        </p:nvSpPr>
        <p:spPr>
          <a:xfrm xmlns:a="http://schemas.openxmlformats.org/drawingml/2006/main">
            <a:off x="6191250" y="2247900"/>
            <a:ext cx="5048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Registered domain: microsoftonline.com</a:t>
            </a:r>
          </a:p>
        </p:txBody>
      </p:sp>
      <p:sp>
        <p:nvSpPr>
          <p:cNvPr id="12" name="">
            <a:extLst xmlns:a="http://schemas.openxmlformats.org/drawingml/2006/main">
              <a:ext uri="{FF2B5EF4-FFF2-40B4-BE49-F238E27FC236}">
                <a16:creationId xmlns:a16="http://schemas.microsoft.com/office/drawing/2014/main" id="{FBB5DD2B-F26F-48FD-B0FE-C85E88F04359}"/>
              </a:ext>
            </a:extLst>
          </p:cNvPr>
          <p:cNvSpPr>
            <a:spLocks xmlns:a="http://schemas.openxmlformats.org/drawingml/2006/main" noGrp="1"/>
          </p:cNvSpPr>
          <p:nvPr/>
        </p:nvSpPr>
        <p:spPr>
          <a:xfrm xmlns:a="http://schemas.openxmlformats.org/drawingml/2006/main">
            <a:off x="514350" y="2800350"/>
            <a:ext cx="2000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Subdomain trick</a:t>
            </a:r>
          </a:p>
        </p:txBody>
      </p:sp>
      <p:sp>
        <p:nvSpPr>
          <p:cNvPr id="13" name="">
            <a:extLst xmlns:a="http://schemas.openxmlformats.org/drawingml/2006/main">
              <a:ext uri="{FF2B5EF4-FFF2-40B4-BE49-F238E27FC236}">
                <a16:creationId xmlns:a16="http://schemas.microsoft.com/office/drawing/2014/main" id="{B893D525-E157-4116-B738-AB658C7E0E83}"/>
              </a:ext>
            </a:extLst>
          </p:cNvPr>
          <p:cNvSpPr>
            <a:spLocks xmlns:a="http://schemas.openxmlformats.org/drawingml/2006/main" noGrp="1"/>
          </p:cNvSpPr>
          <p:nvPr/>
        </p:nvSpPr>
        <p:spPr>
          <a:xfrm xmlns:a="http://schemas.openxmlformats.org/drawingml/2006/main">
            <a:off x="2667000" y="2800350"/>
            <a:ext cx="33337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microsoft.com.example.net</a:t>
            </a:r>
          </a:p>
        </p:txBody>
      </p:sp>
      <p:sp>
        <p:nvSpPr>
          <p:cNvPr id="14" name="">
            <a:extLst xmlns:a="http://schemas.openxmlformats.org/drawingml/2006/main">
              <a:ext uri="{FF2B5EF4-FFF2-40B4-BE49-F238E27FC236}">
                <a16:creationId xmlns:a16="http://schemas.microsoft.com/office/drawing/2014/main" id="{C7023C69-04A3-423F-919C-0CC0C5377993}"/>
              </a:ext>
            </a:extLst>
          </p:cNvPr>
          <p:cNvSpPr>
            <a:spLocks xmlns:a="http://schemas.openxmlformats.org/drawingml/2006/main" noGrp="1"/>
          </p:cNvSpPr>
          <p:nvPr/>
        </p:nvSpPr>
        <p:spPr>
          <a:xfrm xmlns:a="http://schemas.openxmlformats.org/drawingml/2006/main">
            <a:off x="6191250" y="2800350"/>
            <a:ext cx="5048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Registered domain: example.net</a:t>
            </a:r>
          </a:p>
        </p:txBody>
      </p:sp>
      <p:sp>
        <p:nvSpPr>
          <p:cNvPr id="15" name="">
            <a:extLst xmlns:a="http://schemas.openxmlformats.org/drawingml/2006/main">
              <a:ext uri="{FF2B5EF4-FFF2-40B4-BE49-F238E27FC236}">
                <a16:creationId xmlns:a16="http://schemas.microsoft.com/office/drawing/2014/main" id="{725F5F2B-D57A-4E88-B222-ED3F444FC79E}"/>
              </a:ext>
            </a:extLst>
          </p:cNvPr>
          <p:cNvSpPr>
            <a:spLocks xmlns:a="http://schemas.openxmlformats.org/drawingml/2006/main" noGrp="1"/>
          </p:cNvSpPr>
          <p:nvPr/>
        </p:nvSpPr>
        <p:spPr>
          <a:xfrm xmlns:a="http://schemas.openxmlformats.org/drawingml/2006/main">
            <a:off x="514350" y="3352800"/>
            <a:ext cx="2000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Look-alike</a:t>
            </a:r>
          </a:p>
        </p:txBody>
      </p:sp>
      <p:sp>
        <p:nvSpPr>
          <p:cNvPr id="16" name="">
            <a:extLst xmlns:a="http://schemas.openxmlformats.org/drawingml/2006/main">
              <a:ext uri="{FF2B5EF4-FFF2-40B4-BE49-F238E27FC236}">
                <a16:creationId xmlns:a16="http://schemas.microsoft.com/office/drawing/2014/main" id="{6CB89BE1-4789-452A-9686-97CA4D783011}"/>
              </a:ext>
            </a:extLst>
          </p:cNvPr>
          <p:cNvSpPr>
            <a:spLocks xmlns:a="http://schemas.openxmlformats.org/drawingml/2006/main" noGrp="1"/>
          </p:cNvSpPr>
          <p:nvPr/>
        </p:nvSpPr>
        <p:spPr>
          <a:xfrm xmlns:a="http://schemas.openxmlformats.org/drawingml/2006/main">
            <a:off x="2667000" y="3352800"/>
            <a:ext cx="33337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micros0ft.com</a:t>
            </a:r>
          </a:p>
        </p:txBody>
      </p:sp>
      <p:sp>
        <p:nvSpPr>
          <p:cNvPr id="17" name="">
            <a:extLst xmlns:a="http://schemas.openxmlformats.org/drawingml/2006/main">
              <a:ext uri="{FF2B5EF4-FFF2-40B4-BE49-F238E27FC236}">
                <a16:creationId xmlns:a16="http://schemas.microsoft.com/office/drawing/2014/main" id="{4E7CB78C-C01A-416A-B5AE-8019502291CF}"/>
              </a:ext>
            </a:extLst>
          </p:cNvPr>
          <p:cNvSpPr>
            <a:spLocks xmlns:a="http://schemas.openxmlformats.org/drawingml/2006/main" noGrp="1"/>
          </p:cNvSpPr>
          <p:nvPr/>
        </p:nvSpPr>
        <p:spPr>
          <a:xfrm xmlns:a="http://schemas.openxmlformats.org/drawingml/2006/main">
            <a:off x="6191250" y="3352800"/>
            <a:ext cx="5048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Zero replaces the letter o</a:t>
            </a:r>
          </a:p>
        </p:txBody>
      </p:sp>
      <p:sp>
        <p:nvSpPr>
          <p:cNvPr id="18" name="">
            <a:extLst xmlns:a="http://schemas.openxmlformats.org/drawingml/2006/main">
              <a:ext uri="{FF2B5EF4-FFF2-40B4-BE49-F238E27FC236}">
                <a16:creationId xmlns:a16="http://schemas.microsoft.com/office/drawing/2014/main" id="{F0CF2810-36BF-4F3B-B19E-F5DC95767599}"/>
              </a:ext>
            </a:extLst>
          </p:cNvPr>
          <p:cNvSpPr>
            <a:spLocks xmlns:a="http://schemas.openxmlformats.org/drawingml/2006/main" noGrp="1"/>
          </p:cNvSpPr>
          <p:nvPr/>
        </p:nvSpPr>
        <p:spPr>
          <a:xfrm xmlns:a="http://schemas.openxmlformats.org/drawingml/2006/main">
            <a:off x="514350" y="3905250"/>
            <a:ext cx="2000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Added words</a:t>
            </a:r>
          </a:p>
        </p:txBody>
      </p:sp>
      <p:sp>
        <p:nvSpPr>
          <p:cNvPr id="19" name="">
            <a:extLst xmlns:a="http://schemas.openxmlformats.org/drawingml/2006/main">
              <a:ext uri="{FF2B5EF4-FFF2-40B4-BE49-F238E27FC236}">
                <a16:creationId xmlns:a16="http://schemas.microsoft.com/office/drawing/2014/main" id="{7B802713-ABCF-4455-90D3-F459FAE47330}"/>
              </a:ext>
            </a:extLst>
          </p:cNvPr>
          <p:cNvSpPr>
            <a:spLocks xmlns:a="http://schemas.openxmlformats.org/drawingml/2006/main" noGrp="1"/>
          </p:cNvSpPr>
          <p:nvPr/>
        </p:nvSpPr>
        <p:spPr>
          <a:xfrm xmlns:a="http://schemas.openxmlformats.org/drawingml/2006/main">
            <a:off x="2667000" y="3905250"/>
            <a:ext cx="33337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microsoft-security.example</a:t>
            </a:r>
          </a:p>
        </p:txBody>
      </p:sp>
      <p:sp>
        <p:nvSpPr>
          <p:cNvPr id="20" name="">
            <a:extLst xmlns:a="http://schemas.openxmlformats.org/drawingml/2006/main">
              <a:ext uri="{FF2B5EF4-FFF2-40B4-BE49-F238E27FC236}">
                <a16:creationId xmlns:a16="http://schemas.microsoft.com/office/drawing/2014/main" id="{23807B3E-B1E3-486B-BD33-DC09B0618ADA}"/>
              </a:ext>
            </a:extLst>
          </p:cNvPr>
          <p:cNvSpPr>
            <a:spLocks xmlns:a="http://schemas.openxmlformats.org/drawingml/2006/main" noGrp="1"/>
          </p:cNvSpPr>
          <p:nvPr/>
        </p:nvSpPr>
        <p:spPr>
          <a:xfrm xmlns:a="http://schemas.openxmlformats.org/drawingml/2006/main">
            <a:off x="6191250" y="3905250"/>
            <a:ext cx="5048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Unrelated registered domain</a:t>
            </a:r>
          </a:p>
        </p:txBody>
      </p:sp>
      <p:sp>
        <p:nvSpPr>
          <p:cNvPr id="21" name="">
            <a:extLst xmlns:a="http://schemas.openxmlformats.org/drawingml/2006/main">
              <a:ext uri="{FF2B5EF4-FFF2-40B4-BE49-F238E27FC236}">
                <a16:creationId xmlns:a16="http://schemas.microsoft.com/office/drawing/2014/main" id="{7878ABA4-0BBE-4155-944B-AA3125981B92}"/>
              </a:ext>
            </a:extLst>
          </p:cNvPr>
          <p:cNvSpPr>
            <a:spLocks xmlns:a="http://schemas.openxmlformats.org/drawingml/2006/main" noGrp="1"/>
          </p:cNvSpPr>
          <p:nvPr/>
        </p:nvSpPr>
        <p:spPr>
          <a:xfrm xmlns:a="http://schemas.openxmlformats.org/drawingml/2006/main">
            <a:off x="514350" y="4457700"/>
            <a:ext cx="2000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IP address</a:t>
            </a:r>
          </a:p>
        </p:txBody>
      </p:sp>
      <p:sp>
        <p:nvSpPr>
          <p:cNvPr id="22" name="">
            <a:extLst xmlns:a="http://schemas.openxmlformats.org/drawingml/2006/main">
              <a:ext uri="{FF2B5EF4-FFF2-40B4-BE49-F238E27FC236}">
                <a16:creationId xmlns:a16="http://schemas.microsoft.com/office/drawing/2014/main" id="{C73381A2-8BC4-481F-8D16-2ACA6CCCF519}"/>
              </a:ext>
            </a:extLst>
          </p:cNvPr>
          <p:cNvSpPr>
            <a:spLocks xmlns:a="http://schemas.openxmlformats.org/drawingml/2006/main" noGrp="1"/>
          </p:cNvSpPr>
          <p:nvPr/>
        </p:nvSpPr>
        <p:spPr>
          <a:xfrm xmlns:a="http://schemas.openxmlformats.org/drawingml/2006/main">
            <a:off x="2667000" y="4457700"/>
            <a:ext cx="33337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192.0.2.25/login</a:t>
            </a:r>
          </a:p>
        </p:txBody>
      </p:sp>
      <p:sp>
        <p:nvSpPr>
          <p:cNvPr id="23" name="">
            <a:extLst xmlns:a="http://schemas.openxmlformats.org/drawingml/2006/main">
              <a:ext uri="{FF2B5EF4-FFF2-40B4-BE49-F238E27FC236}">
                <a16:creationId xmlns:a16="http://schemas.microsoft.com/office/drawing/2014/main" id="{B89CF7F3-1D6B-4279-B3F5-A1B91DA02D09}"/>
              </a:ext>
            </a:extLst>
          </p:cNvPr>
          <p:cNvSpPr>
            <a:spLocks xmlns:a="http://schemas.openxmlformats.org/drawingml/2006/main" noGrp="1"/>
          </p:cNvSpPr>
          <p:nvPr/>
        </p:nvSpPr>
        <p:spPr>
          <a:xfrm xmlns:a="http://schemas.openxmlformats.org/drawingml/2006/main">
            <a:off x="6191250" y="4457700"/>
            <a:ext cx="5048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No expected company domain</a:t>
            </a:r>
          </a:p>
        </p:txBody>
      </p:sp>
      <p:sp>
        <p:nvSpPr>
          <p:cNvPr id="24" name="">
            <a:extLst xmlns:a="http://schemas.openxmlformats.org/drawingml/2006/main">
              <a:ext uri="{FF2B5EF4-FFF2-40B4-BE49-F238E27FC236}">
                <a16:creationId xmlns:a16="http://schemas.microsoft.com/office/drawing/2014/main" id="{1132C9AF-128E-4B79-95DD-D3A37FC97040}"/>
              </a:ext>
            </a:extLst>
          </p:cNvPr>
          <p:cNvSpPr>
            <a:spLocks xmlns:a="http://schemas.openxmlformats.org/drawingml/2006/main" noGrp="1"/>
          </p:cNvSpPr>
          <p:nvPr/>
        </p:nvSpPr>
        <p:spPr>
          <a:xfrm xmlns:a="http://schemas.openxmlformats.org/drawingml/2006/main">
            <a:off x="3429000" y="5429250"/>
            <a:ext cx="5334000" cy="609600"/>
          </a:xfrm>
          <a:prstGeom xmlns:a="http://schemas.openxmlformats.org/drawingml/2006/main" prst="rect">
            <a:avLst/>
          </a:prstGeom>
          <a:solidFill xmlns:a="http://schemas.openxmlformats.org/drawingml/2006/main">
            <a:srgbClr val="1CC8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9695963-E542-4061-8745-C59984937B0D}"/>
              </a:ext>
            </a:extLst>
          </p:cNvPr>
          <p:cNvSpPr>
            <a:spLocks xmlns:a="http://schemas.openxmlformats.org/drawingml/2006/main" noGrp="1"/>
          </p:cNvSpPr>
          <p:nvPr/>
        </p:nvSpPr>
        <p:spPr>
          <a:xfrm xmlns:a="http://schemas.openxmlformats.org/drawingml/2006/main">
            <a:off x="3600450" y="5524500"/>
            <a:ext cx="4991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800" b="1">
                <a:solidFill>
                  <a:srgbClr val="081A2E"/>
                </a:solidFill>
                <a:latin typeface="DejaVu Sans"/>
                <a:ea typeface="DejaVu Sans"/>
                <a:cs typeface="DejaVu Sans"/>
              </a:defRPr>
            </a:pPr>
            <a:r>
              <a:rPr sz="1800" b="1">
                <a:solidFill>
                  <a:srgbClr val="081A2E"/>
                </a:solidFill>
                <a:latin typeface="DejaVu Sans"/>
                <a:ea typeface="DejaVu Sans"/>
                <a:cs typeface="DejaVu Sans"/>
              </a:rPr>
              <a:t>Read domain names from right to left</a:t>
            </a:r>
          </a:p>
        </p:txBody>
      </p:sp>
    </p:spTree>
    <p:extLst>
      <p:ext uri="{BB962C8B-B14F-4D97-AF65-F5344CB8AC3E}">
        <p14:creationId xmlns:p14="http://schemas.microsoft.com/office/powerpoint/2010/main" val="1526649764"/>
      </p:ext>
    </p:extLst>
  </p:cSld>
</p:sld>
</file>

<file path=ppt/slides/slide2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87C46E-49FC-462F-9B7B-AC794918490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A9A044-18B5-488E-971F-2BAC085CEF1C}"/>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EMAIL INSPECTION</a:t>
            </a:r>
          </a:p>
        </p:txBody>
      </p:sp>
      <p:sp>
        <p:nvSpPr>
          <p:cNvPr id="3" name="">
            <a:extLst xmlns:a="http://schemas.openxmlformats.org/drawingml/2006/main">
              <a:ext uri="{FF2B5EF4-FFF2-40B4-BE49-F238E27FC236}">
                <a16:creationId xmlns:a16="http://schemas.microsoft.com/office/drawing/2014/main" id="{FD096120-D0B6-417C-875D-A576F2CDF096}"/>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23</a:t>
            </a:r>
          </a:p>
        </p:txBody>
      </p:sp>
      <p:sp>
        <p:nvSpPr>
          <p:cNvPr id="4" name="">
            <a:extLst xmlns:a="http://schemas.openxmlformats.org/drawingml/2006/main">
              <a:ext uri="{FF2B5EF4-FFF2-40B4-BE49-F238E27FC236}">
                <a16:creationId xmlns:a16="http://schemas.microsoft.com/office/drawing/2014/main" id="{9720D52A-C62D-4BBD-A942-045FC6EB3C49}"/>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3552F3A-EED1-43D3-B4EF-7146A8470CFE}"/>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Attachments</a:t>
            </a:r>
          </a:p>
        </p:txBody>
      </p:sp>
      <p:sp>
        <p:nvSpPr>
          <p:cNvPr id="6" name="">
            <a:extLst xmlns:a="http://schemas.openxmlformats.org/drawingml/2006/main">
              <a:ext uri="{FF2B5EF4-FFF2-40B4-BE49-F238E27FC236}">
                <a16:creationId xmlns:a16="http://schemas.microsoft.com/office/drawing/2014/main" id="{9A2F1D72-C84B-48CA-B076-5548DEB82880}"/>
              </a:ext>
            </a:extLst>
          </p:cNvPr>
          <p:cNvSpPr>
            <a:spLocks xmlns:a="http://schemas.openxmlformats.org/drawingml/2006/main" noGrp="1"/>
          </p:cNvSpPr>
          <p:nvPr/>
        </p:nvSpPr>
        <p:spPr>
          <a:xfrm xmlns:a="http://schemas.openxmlformats.org/drawingml/2006/main">
            <a:off x="49530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A9BD3CD0-5154-4134-A6CD-ACADE079FB3D}"/>
              </a:ext>
            </a:extLst>
          </p:cNvPr>
          <p:cNvSpPr>
            <a:spLocks xmlns:a="http://schemas.openxmlformats.org/drawingml/2006/main" noGrp="1"/>
          </p:cNvSpPr>
          <p:nvPr/>
        </p:nvSpPr>
        <p:spPr>
          <a:xfrm xmlns:a="http://schemas.openxmlformats.org/drawingml/2006/main">
            <a:off x="596265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8" name="">
            <a:extLst xmlns:a="http://schemas.openxmlformats.org/drawingml/2006/main">
              <a:ext uri="{FF2B5EF4-FFF2-40B4-BE49-F238E27FC236}">
                <a16:creationId xmlns:a16="http://schemas.microsoft.com/office/drawing/2014/main" id="{30F10AFE-A213-4089-A7A3-B14A907272B9}"/>
              </a:ext>
            </a:extLst>
          </p:cNvPr>
          <p:cNvSpPr>
            <a:spLocks xmlns:a="http://schemas.openxmlformats.org/drawingml/2006/main" noGrp="1"/>
          </p:cNvSpPr>
          <p:nvPr/>
        </p:nvSpPr>
        <p:spPr>
          <a:xfrm xmlns:a="http://schemas.openxmlformats.org/drawingml/2006/main">
            <a:off x="74295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E54B4B"/>
                </a:solidFill>
                <a:latin typeface="DejaVu Sans"/>
                <a:ea typeface="DejaVu Sans"/>
                <a:cs typeface="DejaVu Sans"/>
              </a:defRPr>
            </a:pPr>
            <a:r>
              <a:rPr sz="2025" b="1">
                <a:solidFill>
                  <a:srgbClr val="E54B4B"/>
                </a:solidFill>
                <a:latin typeface="DejaVu Sans"/>
                <a:ea typeface="DejaVu Sans"/>
                <a:cs typeface="DejaVu Sans"/>
              </a:rPr>
              <a:t>High-risk indicators</a:t>
            </a:r>
          </a:p>
        </p:txBody>
      </p:sp>
      <p:sp>
        <p:nvSpPr>
          <p:cNvPr id="9" name="">
            <a:extLst xmlns:a="http://schemas.openxmlformats.org/drawingml/2006/main">
              <a:ext uri="{FF2B5EF4-FFF2-40B4-BE49-F238E27FC236}">
                <a16:creationId xmlns:a16="http://schemas.microsoft.com/office/drawing/2014/main" id="{85090E9B-51DD-47F9-92B9-74CDD60DF5A9}"/>
              </a:ext>
            </a:extLst>
          </p:cNvPr>
          <p:cNvSpPr>
            <a:spLocks xmlns:a="http://schemas.openxmlformats.org/drawingml/2006/main" noGrp="1"/>
          </p:cNvSpPr>
          <p:nvPr/>
        </p:nvSpPr>
        <p:spPr>
          <a:xfrm xmlns:a="http://schemas.openxmlformats.org/drawingml/2006/main">
            <a:off x="621030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2AA876"/>
                </a:solidFill>
                <a:latin typeface="DejaVu Sans"/>
                <a:ea typeface="DejaVu Sans"/>
                <a:cs typeface="DejaVu Sans"/>
              </a:defRPr>
            </a:pPr>
            <a:r>
              <a:rPr sz="2025" b="1">
                <a:solidFill>
                  <a:srgbClr val="2AA876"/>
                </a:solidFill>
                <a:latin typeface="DejaVu Sans"/>
                <a:ea typeface="DejaVu Sans"/>
                <a:cs typeface="DejaVu Sans"/>
              </a:rPr>
              <a:t>Safe handling</a:t>
            </a:r>
          </a:p>
        </p:txBody>
      </p:sp>
      <p:sp>
        <p:nvSpPr>
          <p:cNvPr id="10" name="">
            <a:extLst xmlns:a="http://schemas.openxmlformats.org/drawingml/2006/main">
              <a:ext uri="{FF2B5EF4-FFF2-40B4-BE49-F238E27FC236}">
                <a16:creationId xmlns:a16="http://schemas.microsoft.com/office/drawing/2014/main" id="{04C54B56-BF78-4038-80EF-4FA1DB33ED26}"/>
              </a:ext>
            </a:extLst>
          </p:cNvPr>
          <p:cNvSpPr>
            <a:spLocks xmlns:a="http://schemas.openxmlformats.org/drawingml/2006/main" noGrp="1"/>
          </p:cNvSpPr>
          <p:nvPr/>
        </p:nvSpPr>
        <p:spPr>
          <a:xfrm xmlns:a="http://schemas.openxmlformats.org/drawingml/2006/main">
            <a:off x="714375"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Double extensions such as Invoice.pdf.exe</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Unexpected ZIP or password-protected archive</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Macro-enabled Office documents</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ISO, IMG, LNK, JS, MSI or executable files</a:t>
            </a:r>
          </a:p>
        </p:txBody>
      </p:sp>
      <p:sp>
        <p:nvSpPr>
          <p:cNvPr id="11" name="">
            <a:extLst xmlns:a="http://schemas.openxmlformats.org/drawingml/2006/main">
              <a:ext uri="{FF2B5EF4-FFF2-40B4-BE49-F238E27FC236}">
                <a16:creationId xmlns:a16="http://schemas.microsoft.com/office/drawing/2014/main" id="{0A7C1BC2-8FFC-4030-99DB-B37B8E3A14D1}"/>
              </a:ext>
            </a:extLst>
          </p:cNvPr>
          <p:cNvSpPr>
            <a:spLocks xmlns:a="http://schemas.openxmlformats.org/drawingml/2006/main" noGrp="1"/>
          </p:cNvSpPr>
          <p:nvPr/>
        </p:nvSpPr>
        <p:spPr>
          <a:xfrm xmlns:a="http://schemas.openxmlformats.org/drawingml/2006/main">
            <a:off x="6191250"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Confirm the file through a separate channel</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Show complete file extensions</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Scan using approved security tools</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Preserve the original message for investigation</a:t>
            </a:r>
          </a:p>
        </p:txBody>
      </p:sp>
    </p:spTree>
    <p:extLst>
      <p:ext uri="{BB962C8B-B14F-4D97-AF65-F5344CB8AC3E}">
        <p14:creationId xmlns:p14="http://schemas.microsoft.com/office/powerpoint/2010/main" val="1987468499"/>
      </p:ext>
    </p:extLst>
  </p:cSld>
</p:sld>
</file>

<file path=ppt/slides/slide2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A5B5CF4-DA3E-47AB-BAFF-A14FEDB0C9E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5D3025-7462-4207-AECA-4194923870F1}"/>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EMAIL INSPECTION</a:t>
            </a:r>
          </a:p>
        </p:txBody>
      </p:sp>
      <p:sp>
        <p:nvSpPr>
          <p:cNvPr id="3" name="">
            <a:extLst xmlns:a="http://schemas.openxmlformats.org/drawingml/2006/main">
              <a:ext uri="{FF2B5EF4-FFF2-40B4-BE49-F238E27FC236}">
                <a16:creationId xmlns:a16="http://schemas.microsoft.com/office/drawing/2014/main" id="{11063689-D319-47E0-8816-F12A214113A0}"/>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24</a:t>
            </a:r>
          </a:p>
        </p:txBody>
      </p:sp>
      <p:sp>
        <p:nvSpPr>
          <p:cNvPr id="4" name="">
            <a:extLst xmlns:a="http://schemas.openxmlformats.org/drawingml/2006/main">
              <a:ext uri="{FF2B5EF4-FFF2-40B4-BE49-F238E27FC236}">
                <a16:creationId xmlns:a16="http://schemas.microsoft.com/office/drawing/2014/main" id="{FA9B5F6F-1DD8-4B51-BDD8-05B9ED0EFECB}"/>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8AC56B-13BF-4BE3-8701-1BB5A2AD6F05}"/>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Credential and MFA requests</a:t>
            </a:r>
          </a:p>
        </p:txBody>
      </p:sp>
      <p:sp>
        <p:nvSpPr>
          <p:cNvPr id="6" name="">
            <a:extLst xmlns:a="http://schemas.openxmlformats.org/drawingml/2006/main">
              <a:ext uri="{FF2B5EF4-FFF2-40B4-BE49-F238E27FC236}">
                <a16:creationId xmlns:a16="http://schemas.microsoft.com/office/drawing/2014/main" id="{D14A96DA-EB5D-45FC-BC04-C440C5097F54}"/>
              </a:ext>
            </a:extLst>
          </p:cNvPr>
          <p:cNvSpPr>
            <a:spLocks xmlns:a="http://schemas.openxmlformats.org/drawingml/2006/main" noGrp="1"/>
          </p:cNvSpPr>
          <p:nvPr/>
        </p:nvSpPr>
        <p:spPr>
          <a:xfrm xmlns:a="http://schemas.openxmlformats.org/drawingml/2006/main">
            <a:off x="762000" y="1714500"/>
            <a:ext cx="3714750" cy="666750"/>
          </a:xfrm>
          <a:prstGeom xmlns:a="http://schemas.openxmlformats.org/drawingml/2006/main" prst="rect">
            <a:avLst/>
          </a:prstGeom>
          <a:solidFill xmlns:a="http://schemas.openxmlformats.org/drawingml/2006/main">
            <a:srgbClr val="E54B4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69CC907-5FDC-41CF-9D3A-976D314C11AA}"/>
              </a:ext>
            </a:extLst>
          </p:cNvPr>
          <p:cNvSpPr>
            <a:spLocks xmlns:a="http://schemas.openxmlformats.org/drawingml/2006/main" noGrp="1"/>
          </p:cNvSpPr>
          <p:nvPr/>
        </p:nvSpPr>
        <p:spPr>
          <a:xfrm xmlns:a="http://schemas.openxmlformats.org/drawingml/2006/main">
            <a:off x="933450" y="1809750"/>
            <a:ext cx="3371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High-risk requests</a:t>
            </a:r>
          </a:p>
        </p:txBody>
      </p:sp>
      <p:sp>
        <p:nvSpPr>
          <p:cNvPr id="8" name="">
            <a:extLst xmlns:a="http://schemas.openxmlformats.org/drawingml/2006/main">
              <a:ext uri="{FF2B5EF4-FFF2-40B4-BE49-F238E27FC236}">
                <a16:creationId xmlns:a16="http://schemas.microsoft.com/office/drawing/2014/main" id="{729D9783-C49D-472B-9F2C-271E7221871B}"/>
              </a:ext>
            </a:extLst>
          </p:cNvPr>
          <p:cNvSpPr>
            <a:spLocks xmlns:a="http://schemas.openxmlformats.org/drawingml/2006/main" noGrp="1"/>
          </p:cNvSpPr>
          <p:nvPr/>
        </p:nvSpPr>
        <p:spPr>
          <a:xfrm xmlns:a="http://schemas.openxmlformats.org/drawingml/2006/main">
            <a:off x="762000" y="2571750"/>
            <a:ext cx="4286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Password or PIN</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OTP or recovery code</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Unexpected MFA approval</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Remote-access code</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Security-question answers</a:t>
            </a:r>
          </a:p>
        </p:txBody>
      </p:sp>
      <p:sp>
        <p:nvSpPr>
          <p:cNvPr id="9" name="">
            <a:extLst xmlns:a="http://schemas.openxmlformats.org/drawingml/2006/main">
              <a:ext uri="{FF2B5EF4-FFF2-40B4-BE49-F238E27FC236}">
                <a16:creationId xmlns:a16="http://schemas.microsoft.com/office/drawing/2014/main" id="{FEC52754-0FFC-4A36-8D95-E71308FE2A41}"/>
              </a:ext>
            </a:extLst>
          </p:cNvPr>
          <p:cNvSpPr>
            <a:spLocks xmlns:a="http://schemas.openxmlformats.org/drawingml/2006/main" noGrp="1"/>
          </p:cNvSpPr>
          <p:nvPr/>
        </p:nvSpPr>
        <p:spPr>
          <a:xfrm xmlns:a="http://schemas.openxmlformats.org/drawingml/2006/main">
            <a:off x="6667500" y="1714500"/>
            <a:ext cx="3714750" cy="666750"/>
          </a:xfrm>
          <a:prstGeom xmlns:a="http://schemas.openxmlformats.org/drawingml/2006/main" prst="rect">
            <a:avLst/>
          </a:prstGeom>
          <a:solidFill xmlns:a="http://schemas.openxmlformats.org/drawingml/2006/main">
            <a:srgbClr val="2AA87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86E599E-BB0B-4855-ACCC-714A3A9D2C4B}"/>
              </a:ext>
            </a:extLst>
          </p:cNvPr>
          <p:cNvSpPr>
            <a:spLocks xmlns:a="http://schemas.openxmlformats.org/drawingml/2006/main" noGrp="1"/>
          </p:cNvSpPr>
          <p:nvPr/>
        </p:nvSpPr>
        <p:spPr>
          <a:xfrm xmlns:a="http://schemas.openxmlformats.org/drawingml/2006/main">
            <a:off x="6838950" y="1809750"/>
            <a:ext cx="3371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Safe alternatives</a:t>
            </a:r>
          </a:p>
        </p:txBody>
      </p:sp>
      <p:sp>
        <p:nvSpPr>
          <p:cNvPr id="11" name="">
            <a:extLst xmlns:a="http://schemas.openxmlformats.org/drawingml/2006/main">
              <a:ext uri="{FF2B5EF4-FFF2-40B4-BE49-F238E27FC236}">
                <a16:creationId xmlns:a16="http://schemas.microsoft.com/office/drawing/2014/main" id="{A00324B5-12D0-44FA-B165-59FFA17F1E5F}"/>
              </a:ext>
            </a:extLst>
          </p:cNvPr>
          <p:cNvSpPr>
            <a:spLocks xmlns:a="http://schemas.openxmlformats.org/drawingml/2006/main" noGrp="1"/>
          </p:cNvSpPr>
          <p:nvPr/>
        </p:nvSpPr>
        <p:spPr>
          <a:xfrm xmlns:a="http://schemas.openxmlformats.org/drawingml/2006/main">
            <a:off x="6477000" y="2571750"/>
            <a:ext cx="4572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Open the official application</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Type the known address manually</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Deny unrequested MFA prompts</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Contact IT using a known number</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Report the message immediately</a:t>
            </a:r>
          </a:p>
        </p:txBody>
      </p:sp>
    </p:spTree>
    <p:extLst>
      <p:ext uri="{BB962C8B-B14F-4D97-AF65-F5344CB8AC3E}">
        <p14:creationId xmlns:p14="http://schemas.microsoft.com/office/powerpoint/2010/main" val="1685319825"/>
      </p:ext>
    </p:extLst>
  </p:cSld>
</p:sld>
</file>

<file path=ppt/slides/slide2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9C044CB-4418-49AF-B03F-45E4F14C587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D86DD6-540C-4C3A-97AE-C8C5D04693C0}"/>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EMAIL INSPECTION</a:t>
            </a:r>
          </a:p>
        </p:txBody>
      </p:sp>
      <p:sp>
        <p:nvSpPr>
          <p:cNvPr id="3" name="">
            <a:extLst xmlns:a="http://schemas.openxmlformats.org/drawingml/2006/main">
              <a:ext uri="{FF2B5EF4-FFF2-40B4-BE49-F238E27FC236}">
                <a16:creationId xmlns:a16="http://schemas.microsoft.com/office/drawing/2014/main" id="{2788226E-2781-48CA-B92E-721FD409A985}"/>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25</a:t>
            </a:r>
          </a:p>
        </p:txBody>
      </p:sp>
      <p:sp>
        <p:nvSpPr>
          <p:cNvPr id="4" name="">
            <a:extLst xmlns:a="http://schemas.openxmlformats.org/drawingml/2006/main">
              <a:ext uri="{FF2B5EF4-FFF2-40B4-BE49-F238E27FC236}">
                <a16:creationId xmlns:a16="http://schemas.microsoft.com/office/drawing/2014/main" id="{FCB86F33-BE85-46DE-BD14-8539F27F83CA}"/>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73F3656-E572-4A5A-ADB2-BAA85B3E2A20}"/>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Payment-related requests</a:t>
            </a:r>
          </a:p>
        </p:txBody>
      </p:sp>
      <p:sp>
        <p:nvSpPr>
          <p:cNvPr id="6" name="">
            <a:extLst xmlns:a="http://schemas.openxmlformats.org/drawingml/2006/main">
              <a:ext uri="{FF2B5EF4-FFF2-40B4-BE49-F238E27FC236}">
                <a16:creationId xmlns:a16="http://schemas.microsoft.com/office/drawing/2014/main" id="{B9B3C5C9-A983-4A54-9F30-E9888E9B9B7B}"/>
              </a:ext>
            </a:extLst>
          </p:cNvPr>
          <p:cNvSpPr>
            <a:spLocks xmlns:a="http://schemas.openxmlformats.org/drawingml/2006/main" noGrp="1"/>
          </p:cNvSpPr>
          <p:nvPr/>
        </p:nvSpPr>
        <p:spPr>
          <a:xfrm xmlns:a="http://schemas.openxmlformats.org/drawingml/2006/main">
            <a:off x="666750" y="166687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98214"/>
          </a:bodyPr>
          <a:lstStyle xmlns:a="http://schemas.openxmlformats.org/drawingml/2006/main"/>
          <a:p xmlns:a="http://schemas.openxmlformats.org/drawingml/2006/main">
            <a:pPr algn="l">
              <a:defRPr sz="2100" b="1">
                <a:solidFill>
                  <a:srgbClr val="E54B4B"/>
                </a:solidFill>
                <a:latin typeface="DejaVu Sans"/>
                <a:ea typeface="DejaVu Sans"/>
                <a:cs typeface="DejaVu Sans"/>
              </a:defRPr>
            </a:pPr>
            <a:r>
              <a:rPr sz="2100" b="1">
                <a:solidFill>
                  <a:srgbClr val="E54B4B"/>
                </a:solidFill>
                <a:latin typeface="DejaVu Sans"/>
                <a:ea typeface="DejaVu Sans"/>
                <a:cs typeface="DejaVu Sans"/>
              </a:rPr>
              <a:t>Common patterns</a:t>
            </a:r>
          </a:p>
        </p:txBody>
      </p:sp>
      <p:sp>
        <p:nvSpPr>
          <p:cNvPr id="7" name="">
            <a:extLst xmlns:a="http://schemas.openxmlformats.org/drawingml/2006/main">
              <a:ext uri="{FF2B5EF4-FFF2-40B4-BE49-F238E27FC236}">
                <a16:creationId xmlns:a16="http://schemas.microsoft.com/office/drawing/2014/main" id="{51833C15-1FB8-4AED-BCE1-43759C1DC588}"/>
              </a:ext>
            </a:extLst>
          </p:cNvPr>
          <p:cNvSpPr>
            <a:spLocks xmlns:a="http://schemas.openxmlformats.org/drawingml/2006/main" noGrp="1"/>
          </p:cNvSpPr>
          <p:nvPr/>
        </p:nvSpPr>
        <p:spPr>
          <a:xfrm xmlns:a="http://schemas.openxmlformats.org/drawingml/2006/main">
            <a:off x="571500" y="2238375"/>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New supplier bank details</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Urgent executive instruction</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Gift-card purchase</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Unexpected invoice</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Request to bypass approval</a:t>
            </a:r>
          </a:p>
        </p:txBody>
      </p:sp>
      <p:sp>
        <p:nvSpPr>
          <p:cNvPr id="8" name="">
            <a:extLst xmlns:a="http://schemas.openxmlformats.org/drawingml/2006/main">
              <a:ext uri="{FF2B5EF4-FFF2-40B4-BE49-F238E27FC236}">
                <a16:creationId xmlns:a16="http://schemas.microsoft.com/office/drawing/2014/main" id="{897668B0-6B4B-4492-B4BF-FECFEBB3614B}"/>
              </a:ext>
            </a:extLst>
          </p:cNvPr>
          <p:cNvSpPr>
            <a:spLocks xmlns:a="http://schemas.openxmlformats.org/drawingml/2006/main" noGrp="1"/>
          </p:cNvSpPr>
          <p:nvPr/>
        </p:nvSpPr>
        <p:spPr>
          <a:xfrm xmlns:a="http://schemas.openxmlformats.org/drawingml/2006/main">
            <a:off x="6477000" y="1666875"/>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98214"/>
          </a:bodyPr>
          <a:lstStyle xmlns:a="http://schemas.openxmlformats.org/drawingml/2006/main"/>
          <a:p xmlns:a="http://schemas.openxmlformats.org/drawingml/2006/main">
            <a:pPr algn="l">
              <a:defRPr sz="2100" b="1">
                <a:solidFill>
                  <a:srgbClr val="2AA876"/>
                </a:solidFill>
                <a:latin typeface="DejaVu Sans"/>
                <a:ea typeface="DejaVu Sans"/>
                <a:cs typeface="DejaVu Sans"/>
              </a:defRPr>
            </a:pPr>
            <a:r>
              <a:rPr sz="2100" b="1">
                <a:solidFill>
                  <a:srgbClr val="2AA876"/>
                </a:solidFill>
                <a:latin typeface="DejaVu Sans"/>
                <a:ea typeface="DejaVu Sans"/>
                <a:cs typeface="DejaVu Sans"/>
              </a:rPr>
              <a:t>Verification controls</a:t>
            </a:r>
          </a:p>
        </p:txBody>
      </p:sp>
      <p:sp>
        <p:nvSpPr>
          <p:cNvPr id="9" name="">
            <a:extLst xmlns:a="http://schemas.openxmlformats.org/drawingml/2006/main">
              <a:ext uri="{FF2B5EF4-FFF2-40B4-BE49-F238E27FC236}">
                <a16:creationId xmlns:a16="http://schemas.microsoft.com/office/drawing/2014/main" id="{3C19882E-BD55-4F98-8FE0-8AB5C87D6221}"/>
              </a:ext>
            </a:extLst>
          </p:cNvPr>
          <p:cNvSpPr>
            <a:spLocks xmlns:a="http://schemas.openxmlformats.org/drawingml/2006/main" noGrp="1"/>
          </p:cNvSpPr>
          <p:nvPr/>
        </p:nvSpPr>
        <p:spPr>
          <a:xfrm xmlns:a="http://schemas.openxmlformats.org/drawingml/2006/main">
            <a:off x="6286500" y="2238375"/>
            <a:ext cx="49530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Known-number callback</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Independent supplier confirmation</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Two-person approval</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Review Reply-To and account history</a:t>
            </a:r>
          </a:p>
          <a:p xmlns:a="http://schemas.openxmlformats.org/drawingml/2006/main">
            <a:pPr marL="241300" indent="-114300" algn="l">
              <a:spcAft>
                <a:spcPts val="1100"/>
              </a:spcAft>
              <a:buChar char="•"/>
              <a:defRPr sz="1800" b="0">
                <a:solidFill>
                  <a:srgbClr val="183247"/>
                </a:solidFill>
                <a:latin typeface="DejaVu Sans"/>
                <a:ea typeface="DejaVu Sans"/>
                <a:cs typeface="DejaVu Sans"/>
              </a:defRPr>
            </a:pPr>
            <a:r>
              <a:rPr sz="1800" b="0">
                <a:solidFill>
                  <a:srgbClr val="183247"/>
                </a:solidFill>
                <a:latin typeface="DejaVu Sans"/>
                <a:ea typeface="DejaVu Sans"/>
                <a:cs typeface="DejaVu Sans"/>
              </a:rPr>
              <a:t>Preserve the message and payment details</a:t>
            </a:r>
          </a:p>
        </p:txBody>
      </p:sp>
      <p:sp>
        <p:nvSpPr>
          <p:cNvPr id="10" name="">
            <a:extLst xmlns:a="http://schemas.openxmlformats.org/drawingml/2006/main">
              <a:ext uri="{FF2B5EF4-FFF2-40B4-BE49-F238E27FC236}">
                <a16:creationId xmlns:a16="http://schemas.microsoft.com/office/drawing/2014/main" id="{7CFDEFF3-1912-4684-B934-A80168D3D41F}"/>
              </a:ext>
            </a:extLst>
          </p:cNvPr>
          <p:cNvSpPr>
            <a:spLocks xmlns:a="http://schemas.openxmlformats.org/drawingml/2006/main" noGrp="1"/>
          </p:cNvSpPr>
          <p:nvPr/>
        </p:nvSpPr>
        <p:spPr>
          <a:xfrm xmlns:a="http://schemas.openxmlformats.org/drawingml/2006/main">
            <a:off x="2000250" y="5619750"/>
            <a:ext cx="8191500" cy="619125"/>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5F7CB32-5516-47B5-9721-952336CC98EF}"/>
              </a:ext>
            </a:extLst>
          </p:cNvPr>
          <p:cNvSpPr>
            <a:spLocks xmlns:a="http://schemas.openxmlformats.org/drawingml/2006/main" noGrp="1"/>
          </p:cNvSpPr>
          <p:nvPr/>
        </p:nvSpPr>
        <p:spPr>
          <a:xfrm xmlns:a="http://schemas.openxmlformats.org/drawingml/2006/main">
            <a:off x="2171700" y="5715000"/>
            <a:ext cx="7848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8233"/>
          </a:bodyPr>
          <a:lstStyle xmlns:a="http://schemas.openxmlformats.org/drawingml/2006/main"/>
          <a:p xmlns:a="http://schemas.openxmlformats.org/drawingml/2006/main">
            <a:pPr algn="ct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A passing DMARC result does not validate the business request</a:t>
            </a:r>
          </a:p>
        </p:txBody>
      </p:sp>
    </p:spTree>
    <p:extLst>
      <p:ext uri="{BB962C8B-B14F-4D97-AF65-F5344CB8AC3E}">
        <p14:creationId xmlns:p14="http://schemas.microsoft.com/office/powerpoint/2010/main" val="168413744"/>
      </p:ext>
    </p:extLst>
  </p:cSld>
</p:sld>
</file>

<file path=ppt/slides/slide2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9F04AFA-D25A-4346-A690-194C92296F99}"/>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351E14-7B55-4606-9838-6B6DE7D11A72}"/>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EMAIL INSPECTION</a:t>
            </a:r>
          </a:p>
        </p:txBody>
      </p:sp>
      <p:sp>
        <p:nvSpPr>
          <p:cNvPr id="3" name="">
            <a:extLst xmlns:a="http://schemas.openxmlformats.org/drawingml/2006/main">
              <a:ext uri="{FF2B5EF4-FFF2-40B4-BE49-F238E27FC236}">
                <a16:creationId xmlns:a16="http://schemas.microsoft.com/office/drawing/2014/main" id="{40A5271C-BD86-4745-8719-99147FB0F9A5}"/>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26</a:t>
            </a:r>
          </a:p>
        </p:txBody>
      </p:sp>
      <p:sp>
        <p:nvSpPr>
          <p:cNvPr id="4" name="">
            <a:extLst xmlns:a="http://schemas.openxmlformats.org/drawingml/2006/main">
              <a:ext uri="{FF2B5EF4-FFF2-40B4-BE49-F238E27FC236}">
                <a16:creationId xmlns:a16="http://schemas.microsoft.com/office/drawing/2014/main" id="{9098D4A2-0C9D-43B7-BD6E-68EA9443EF57}"/>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65189E-9F2D-4D07-BB5C-0481F5D82650}"/>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Fake login pages</a:t>
            </a:r>
          </a:p>
        </p:txBody>
      </p:sp>
      <p:sp>
        <p:nvSpPr>
          <p:cNvPr id="6" name="">
            <a:extLst xmlns:a="http://schemas.openxmlformats.org/drawingml/2006/main">
              <a:ext uri="{FF2B5EF4-FFF2-40B4-BE49-F238E27FC236}">
                <a16:creationId xmlns:a16="http://schemas.microsoft.com/office/drawing/2014/main" id="{25C04B77-21C1-4E37-A5FA-6F1D1B6C06AC}"/>
              </a:ext>
            </a:extLst>
          </p:cNvPr>
          <p:cNvSpPr>
            <a:spLocks xmlns:a="http://schemas.openxmlformats.org/drawingml/2006/main" noGrp="1"/>
          </p:cNvSpPr>
          <p:nvPr/>
        </p:nvSpPr>
        <p:spPr>
          <a:xfrm xmlns:a="http://schemas.openxmlformats.org/drawingml/2006/main">
            <a:off x="666750" y="1619250"/>
            <a:ext cx="59055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0BD4FD54-9D01-4678-B6B6-C483008B3231}"/>
              </a:ext>
            </a:extLst>
          </p:cNvPr>
          <p:cNvSpPr>
            <a:spLocks xmlns:a="http://schemas.openxmlformats.org/drawingml/2006/main" noGrp="1"/>
          </p:cNvSpPr>
          <p:nvPr/>
        </p:nvSpPr>
        <p:spPr>
          <a:xfrm xmlns:a="http://schemas.openxmlformats.org/drawingml/2006/main">
            <a:off x="1000125" y="1952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550" b="1">
                <a:solidFill>
                  <a:srgbClr val="2F80ED"/>
                </a:solidFill>
                <a:latin typeface="DejaVu Sans"/>
                <a:ea typeface="DejaVu Sans"/>
                <a:cs typeface="DejaVu Sans"/>
              </a:defRPr>
            </a:pPr>
            <a:r>
              <a:rPr sz="2550" b="1">
                <a:solidFill>
                  <a:srgbClr val="2F80ED"/>
                </a:solidFill>
                <a:latin typeface="DejaVu Sans"/>
                <a:ea typeface="DejaVu Sans"/>
                <a:cs typeface="DejaVu Sans"/>
              </a:rPr>
              <a:t>Microsoft</a:t>
            </a:r>
          </a:p>
        </p:txBody>
      </p:sp>
      <p:sp>
        <p:nvSpPr>
          <p:cNvPr id="8" name="">
            <a:extLst xmlns:a="http://schemas.openxmlformats.org/drawingml/2006/main">
              <a:ext uri="{FF2B5EF4-FFF2-40B4-BE49-F238E27FC236}">
                <a16:creationId xmlns:a16="http://schemas.microsoft.com/office/drawing/2014/main" id="{94508485-BCF4-4A8D-855B-06A2120C353D}"/>
              </a:ext>
            </a:extLst>
          </p:cNvPr>
          <p:cNvSpPr>
            <a:spLocks xmlns:a="http://schemas.openxmlformats.org/drawingml/2006/main" noGrp="1"/>
          </p:cNvSpPr>
          <p:nvPr/>
        </p:nvSpPr>
        <p:spPr>
          <a:xfrm xmlns:a="http://schemas.openxmlformats.org/drawingml/2006/main">
            <a:off x="1000125" y="266700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100" b="1">
                <a:solidFill>
                  <a:srgbClr val="081A2E"/>
                </a:solidFill>
                <a:latin typeface="DejaVu Sans"/>
                <a:ea typeface="DejaVu Sans"/>
                <a:cs typeface="DejaVu Sans"/>
              </a:defRPr>
            </a:pPr>
            <a:r>
              <a:rPr sz="2100" b="1">
                <a:solidFill>
                  <a:srgbClr val="081A2E"/>
                </a:solidFill>
                <a:latin typeface="DejaVu Sans"/>
                <a:ea typeface="DejaVu Sans"/>
                <a:cs typeface="DejaVu Sans"/>
              </a:rPr>
              <a:t>Sign in</a:t>
            </a:r>
          </a:p>
        </p:txBody>
      </p:sp>
      <p:sp>
        <p:nvSpPr>
          <p:cNvPr id="9" name="">
            <a:extLst xmlns:a="http://schemas.openxmlformats.org/drawingml/2006/main">
              <a:ext uri="{FF2B5EF4-FFF2-40B4-BE49-F238E27FC236}">
                <a16:creationId xmlns:a16="http://schemas.microsoft.com/office/drawing/2014/main" id="{BEEEB5BF-47F9-44E1-B7B9-0D51E537A5D8}"/>
              </a:ext>
            </a:extLst>
          </p:cNvPr>
          <p:cNvSpPr>
            <a:spLocks xmlns:a="http://schemas.openxmlformats.org/drawingml/2006/main" noGrp="1"/>
          </p:cNvSpPr>
          <p:nvPr/>
        </p:nvSpPr>
        <p:spPr>
          <a:xfrm xmlns:a="http://schemas.openxmlformats.org/drawingml/2006/main">
            <a:off x="1000125" y="3286125"/>
            <a:ext cx="4762500" cy="495300"/>
          </a:xfrm>
          <a:prstGeom xmlns:a="http://schemas.openxmlformats.org/drawingml/2006/main" prst="rect">
            <a:avLst/>
          </a:prstGeom>
          <a:solidFill xmlns:a="http://schemas.openxmlformats.org/drawingml/2006/main">
            <a:srgbClr val="EAF2F5"/>
          </a:solidFill>
          <a:ln xmlns:a="http://schemas.openxmlformats.org/drawingml/2006/main" w="9525">
            <a:solidFill>
              <a:srgbClr val="DCE8ED"/>
            </a:solid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75" b="0">
                <a:solidFill>
                  <a:srgbClr val="607385"/>
                </a:solidFill>
                <a:latin typeface="DejaVu Sans"/>
                <a:ea typeface="DejaVu Sans"/>
                <a:cs typeface="DejaVu Sans"/>
              </a:defRPr>
            </a:pPr>
            <a:r>
              <a:rPr sz="1575" b="0">
                <a:solidFill>
                  <a:srgbClr val="607385"/>
                </a:solidFill>
                <a:latin typeface="DejaVu Sans"/>
                <a:ea typeface="DejaVu Sans"/>
                <a:cs typeface="DejaVu Sans"/>
              </a:rPr>
              <a:t>Email address</a:t>
            </a:r>
          </a:p>
        </p:txBody>
      </p:sp>
      <p:sp>
        <p:nvSpPr>
          <p:cNvPr id="10" name="">
            <a:extLst xmlns:a="http://schemas.openxmlformats.org/drawingml/2006/main">
              <a:ext uri="{FF2B5EF4-FFF2-40B4-BE49-F238E27FC236}">
                <a16:creationId xmlns:a16="http://schemas.microsoft.com/office/drawing/2014/main" id="{29163D0D-B3C8-4E76-936E-2A445E5ADED7}"/>
              </a:ext>
            </a:extLst>
          </p:cNvPr>
          <p:cNvSpPr>
            <a:spLocks xmlns:a="http://schemas.openxmlformats.org/drawingml/2006/main" noGrp="1"/>
          </p:cNvSpPr>
          <p:nvPr/>
        </p:nvSpPr>
        <p:spPr>
          <a:xfrm xmlns:a="http://schemas.openxmlformats.org/drawingml/2006/main">
            <a:off x="1000125" y="3952875"/>
            <a:ext cx="4762500" cy="495300"/>
          </a:xfrm>
          <a:prstGeom xmlns:a="http://schemas.openxmlformats.org/drawingml/2006/main" prst="rect">
            <a:avLst/>
          </a:prstGeom>
          <a:solidFill xmlns:a="http://schemas.openxmlformats.org/drawingml/2006/main">
            <a:srgbClr val="EAF2F5"/>
          </a:solidFill>
          <a:ln xmlns:a="http://schemas.openxmlformats.org/drawingml/2006/main" w="9525">
            <a:solidFill>
              <a:srgbClr val="DCE8ED"/>
            </a:solid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75" b="0">
                <a:solidFill>
                  <a:srgbClr val="607385"/>
                </a:solidFill>
                <a:latin typeface="DejaVu Sans"/>
                <a:ea typeface="DejaVu Sans"/>
                <a:cs typeface="DejaVu Sans"/>
              </a:defRPr>
            </a:pPr>
            <a:r>
              <a:rPr sz="1575" b="0">
                <a:solidFill>
                  <a:srgbClr val="607385"/>
                </a:solidFill>
                <a:latin typeface="DejaVu Sans"/>
                <a:ea typeface="DejaVu Sans"/>
                <a:cs typeface="DejaVu Sans"/>
              </a:rPr>
              <a:t>Password</a:t>
            </a:r>
          </a:p>
        </p:txBody>
      </p:sp>
      <p:sp>
        <p:nvSpPr>
          <p:cNvPr id="11" name="">
            <a:extLst xmlns:a="http://schemas.openxmlformats.org/drawingml/2006/main">
              <a:ext uri="{FF2B5EF4-FFF2-40B4-BE49-F238E27FC236}">
                <a16:creationId xmlns:a16="http://schemas.microsoft.com/office/drawing/2014/main" id="{BC8606B9-9AE7-427A-B73D-3C9AF4C3BFE5}"/>
              </a:ext>
            </a:extLst>
          </p:cNvPr>
          <p:cNvSpPr>
            <a:spLocks xmlns:a="http://schemas.openxmlformats.org/drawingml/2006/main" noGrp="1"/>
          </p:cNvSpPr>
          <p:nvPr/>
        </p:nvSpPr>
        <p:spPr>
          <a:xfrm xmlns:a="http://schemas.openxmlformats.org/drawingml/2006/main">
            <a:off x="3857625" y="4857750"/>
            <a:ext cx="1905000" cy="514350"/>
          </a:xfrm>
          <a:prstGeom xmlns:a="http://schemas.openxmlformats.org/drawingml/2006/main" prst="rect">
            <a:avLst/>
          </a:prstGeom>
          <a:solidFill xmlns:a="http://schemas.openxmlformats.org/drawingml/2006/main">
            <a:srgbClr val="2F80E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938A41D-814E-46E5-9DC4-F8CB63F0D0C9}"/>
              </a:ext>
            </a:extLst>
          </p:cNvPr>
          <p:cNvSpPr>
            <a:spLocks xmlns:a="http://schemas.openxmlformats.org/drawingml/2006/main" noGrp="1"/>
          </p:cNvSpPr>
          <p:nvPr/>
        </p:nvSpPr>
        <p:spPr>
          <a:xfrm xmlns:a="http://schemas.openxmlformats.org/drawingml/2006/main">
            <a:off x="4029075" y="4953000"/>
            <a:ext cx="1562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7302"/>
          </a:bodyPr>
          <a:lstStyle xmlns:a="http://schemas.openxmlformats.org/drawingml/2006/main"/>
          <a:p xmlns:a="http://schemas.openxmlformats.org/drawingml/2006/main">
            <a:pPr algn="ctr">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Sign in</a:t>
            </a:r>
          </a:p>
        </p:txBody>
      </p:sp>
      <p:sp>
        <p:nvSpPr>
          <p:cNvPr id="13" name="">
            <a:extLst xmlns:a="http://schemas.openxmlformats.org/drawingml/2006/main">
              <a:ext uri="{FF2B5EF4-FFF2-40B4-BE49-F238E27FC236}">
                <a16:creationId xmlns:a16="http://schemas.microsoft.com/office/drawing/2014/main" id="{9CE52AF6-862B-488A-BCA9-2E36780E779C}"/>
              </a:ext>
            </a:extLst>
          </p:cNvPr>
          <p:cNvSpPr>
            <a:spLocks xmlns:a="http://schemas.openxmlformats.org/drawingml/2006/main" noGrp="1"/>
          </p:cNvSpPr>
          <p:nvPr/>
        </p:nvSpPr>
        <p:spPr>
          <a:xfrm xmlns:a="http://schemas.openxmlformats.org/drawingml/2006/main">
            <a:off x="6953250" y="166687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950" b="1">
                <a:solidFill>
                  <a:srgbClr val="081A2E"/>
                </a:solidFill>
                <a:latin typeface="DejaVu Sans"/>
                <a:ea typeface="DejaVu Sans"/>
                <a:cs typeface="DejaVu Sans"/>
              </a:defRPr>
            </a:pPr>
            <a:r>
              <a:rPr sz="1950" b="1">
                <a:solidFill>
                  <a:srgbClr val="081A2E"/>
                </a:solidFill>
                <a:latin typeface="DejaVu Sans"/>
                <a:ea typeface="DejaVu Sans"/>
                <a:cs typeface="DejaVu Sans"/>
              </a:rPr>
              <a:t>Checks before entry</a:t>
            </a:r>
          </a:p>
        </p:txBody>
      </p:sp>
      <p:sp>
        <p:nvSpPr>
          <p:cNvPr id="14" name="">
            <a:extLst xmlns:a="http://schemas.openxmlformats.org/drawingml/2006/main">
              <a:ext uri="{FF2B5EF4-FFF2-40B4-BE49-F238E27FC236}">
                <a16:creationId xmlns:a16="http://schemas.microsoft.com/office/drawing/2014/main" id="{EEAB9F4D-C217-4D87-A33D-3230335A71E5}"/>
              </a:ext>
            </a:extLst>
          </p:cNvPr>
          <p:cNvSpPr>
            <a:spLocks xmlns:a="http://schemas.openxmlformats.org/drawingml/2006/main" noGrp="1"/>
          </p:cNvSpPr>
          <p:nvPr/>
        </p:nvSpPr>
        <p:spPr>
          <a:xfrm xmlns:a="http://schemas.openxmlformats.org/drawingml/2006/main">
            <a:off x="6762750" y="223837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Complete domain in the address bar</a:t>
            </a:r>
          </a:p>
          <a:p xmlns:a="http://schemas.openxmlformats.org/drawingml/2006/main">
            <a:pPr marL="241300" indent="-114300" algn="l">
              <a:spcAft>
                <a:spcPts val="1100"/>
              </a:spcAft>
              <a:buChar char="•"/>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Whether the login was expected</a:t>
            </a:r>
          </a:p>
          <a:p xmlns:a="http://schemas.openxmlformats.org/drawingml/2006/main">
            <a:pPr marL="241300" indent="-114300" algn="l">
              <a:spcAft>
                <a:spcPts val="1100"/>
              </a:spcAft>
              <a:buChar char="•"/>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Browser warning or unusual redirect</a:t>
            </a:r>
          </a:p>
          <a:p xmlns:a="http://schemas.openxmlformats.org/drawingml/2006/main">
            <a:pPr marL="241300" indent="-114300" algn="l">
              <a:spcAft>
                <a:spcPts val="1100"/>
              </a:spcAft>
              <a:buChar char="•"/>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Password manager recognition</a:t>
            </a:r>
          </a:p>
          <a:p xmlns:a="http://schemas.openxmlformats.org/drawingml/2006/main">
            <a:pPr marL="241300" indent="-114300" algn="l">
              <a:spcAft>
                <a:spcPts val="1100"/>
              </a:spcAft>
              <a:buChar char="•"/>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Unexpected request for OTP or recovery code</a:t>
            </a:r>
          </a:p>
        </p:txBody>
      </p:sp>
    </p:spTree>
    <p:extLst>
      <p:ext uri="{BB962C8B-B14F-4D97-AF65-F5344CB8AC3E}">
        <p14:creationId xmlns:p14="http://schemas.microsoft.com/office/powerpoint/2010/main" val="610719123"/>
      </p:ext>
    </p:extLst>
  </p:cSld>
</p:sld>
</file>

<file path=ppt/slides/slide2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EF56E55-82CC-4D21-8113-DF88689E7BB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007E97-BD1F-4CCA-B6B1-834D552C2423}"/>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EMAIL INSPECTION</a:t>
            </a:r>
          </a:p>
        </p:txBody>
      </p:sp>
      <p:sp>
        <p:nvSpPr>
          <p:cNvPr id="3" name="">
            <a:extLst xmlns:a="http://schemas.openxmlformats.org/drawingml/2006/main">
              <a:ext uri="{FF2B5EF4-FFF2-40B4-BE49-F238E27FC236}">
                <a16:creationId xmlns:a16="http://schemas.microsoft.com/office/drawing/2014/main" id="{A9B63654-5817-4697-9433-13D29007C700}"/>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27</a:t>
            </a:r>
          </a:p>
        </p:txBody>
      </p:sp>
      <p:sp>
        <p:nvSpPr>
          <p:cNvPr id="4" name="">
            <a:extLst xmlns:a="http://schemas.openxmlformats.org/drawingml/2006/main">
              <a:ext uri="{FF2B5EF4-FFF2-40B4-BE49-F238E27FC236}">
                <a16:creationId xmlns:a16="http://schemas.microsoft.com/office/drawing/2014/main" id="{D43BF39B-B320-4F70-9F87-D0D6C739565D}"/>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11CB607-7004-4FE3-AAD3-0C3CF3808878}"/>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SPF, DKIM and DMARC</a:t>
            </a:r>
          </a:p>
        </p:txBody>
      </p:sp>
      <p:sp>
        <p:nvSpPr>
          <p:cNvPr id="6" name="">
            <a:extLst xmlns:a="http://schemas.openxmlformats.org/drawingml/2006/main">
              <a:ext uri="{FF2B5EF4-FFF2-40B4-BE49-F238E27FC236}">
                <a16:creationId xmlns:a16="http://schemas.microsoft.com/office/drawing/2014/main" id="{96AC3B44-8E34-461A-9BF6-4E20C8D2B222}"/>
              </a:ext>
            </a:extLst>
          </p:cNvPr>
          <p:cNvSpPr>
            <a:spLocks xmlns:a="http://schemas.openxmlformats.org/drawingml/2006/main" noGrp="1"/>
          </p:cNvSpPr>
          <p:nvPr/>
        </p:nvSpPr>
        <p:spPr>
          <a:xfrm xmlns:a="http://schemas.openxmlformats.org/drawingml/2006/main">
            <a:off x="514350" y="2000250"/>
            <a:ext cx="2000250" cy="400050"/>
          </a:xfrm>
          <a:prstGeom xmlns:a="http://schemas.openxmlformats.org/drawingml/2006/main" prst="rect">
            <a:avLst/>
          </a:prstGeom>
          <a:solidFill xmlns:a="http://schemas.openxmlformats.org/drawingml/2006/main">
            <a:srgbClr val="081A2E"/>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CONTROL</a:t>
            </a:r>
          </a:p>
        </p:txBody>
      </p:sp>
      <p:sp>
        <p:nvSpPr>
          <p:cNvPr id="7" name="">
            <a:extLst xmlns:a="http://schemas.openxmlformats.org/drawingml/2006/main">
              <a:ext uri="{FF2B5EF4-FFF2-40B4-BE49-F238E27FC236}">
                <a16:creationId xmlns:a16="http://schemas.microsoft.com/office/drawing/2014/main" id="{03D5FAE0-2C85-4F16-A13F-FA8D85522FC7}"/>
              </a:ext>
            </a:extLst>
          </p:cNvPr>
          <p:cNvSpPr>
            <a:spLocks xmlns:a="http://schemas.openxmlformats.org/drawingml/2006/main" noGrp="1"/>
          </p:cNvSpPr>
          <p:nvPr/>
        </p:nvSpPr>
        <p:spPr>
          <a:xfrm xmlns:a="http://schemas.openxmlformats.org/drawingml/2006/main">
            <a:off x="2667000" y="2000250"/>
            <a:ext cx="3333750" cy="400050"/>
          </a:xfrm>
          <a:prstGeom xmlns:a="http://schemas.openxmlformats.org/drawingml/2006/main" prst="rect">
            <a:avLst/>
          </a:prstGeom>
          <a:solidFill xmlns:a="http://schemas.openxmlformats.org/drawingml/2006/main">
            <a:srgbClr val="081A2E"/>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WHAT IT CHECKS</a:t>
            </a:r>
          </a:p>
        </p:txBody>
      </p:sp>
      <p:sp>
        <p:nvSpPr>
          <p:cNvPr id="8" name="">
            <a:extLst xmlns:a="http://schemas.openxmlformats.org/drawingml/2006/main">
              <a:ext uri="{FF2B5EF4-FFF2-40B4-BE49-F238E27FC236}">
                <a16:creationId xmlns:a16="http://schemas.microsoft.com/office/drawing/2014/main" id="{D5899321-CB4A-4D25-9DD3-060DBFF444C6}"/>
              </a:ext>
            </a:extLst>
          </p:cNvPr>
          <p:cNvSpPr>
            <a:spLocks xmlns:a="http://schemas.openxmlformats.org/drawingml/2006/main" noGrp="1"/>
          </p:cNvSpPr>
          <p:nvPr/>
        </p:nvSpPr>
        <p:spPr>
          <a:xfrm xmlns:a="http://schemas.openxmlformats.org/drawingml/2006/main">
            <a:off x="6191250" y="2000250"/>
            <a:ext cx="5048250" cy="400050"/>
          </a:xfrm>
          <a:prstGeom xmlns:a="http://schemas.openxmlformats.org/drawingml/2006/main" prst="rect">
            <a:avLst/>
          </a:prstGeom>
          <a:solidFill xmlns:a="http://schemas.openxmlformats.org/drawingml/2006/main">
            <a:srgbClr val="081A2E"/>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QUESTION ANSWERED</a:t>
            </a:r>
          </a:p>
        </p:txBody>
      </p:sp>
      <p:sp>
        <p:nvSpPr>
          <p:cNvPr id="9" name="">
            <a:extLst xmlns:a="http://schemas.openxmlformats.org/drawingml/2006/main">
              <a:ext uri="{FF2B5EF4-FFF2-40B4-BE49-F238E27FC236}">
                <a16:creationId xmlns:a16="http://schemas.microsoft.com/office/drawing/2014/main" id="{A0F15621-6AE2-4BEE-A1F6-61A034521093}"/>
              </a:ext>
            </a:extLst>
          </p:cNvPr>
          <p:cNvSpPr>
            <a:spLocks xmlns:a="http://schemas.openxmlformats.org/drawingml/2006/main" noGrp="1"/>
          </p:cNvSpPr>
          <p:nvPr/>
        </p:nvSpPr>
        <p:spPr>
          <a:xfrm xmlns:a="http://schemas.openxmlformats.org/drawingml/2006/main">
            <a:off x="514350" y="2438400"/>
            <a:ext cx="2000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SPF</a:t>
            </a:r>
          </a:p>
        </p:txBody>
      </p:sp>
      <p:sp>
        <p:nvSpPr>
          <p:cNvPr id="10" name="">
            <a:extLst xmlns:a="http://schemas.openxmlformats.org/drawingml/2006/main">
              <a:ext uri="{FF2B5EF4-FFF2-40B4-BE49-F238E27FC236}">
                <a16:creationId xmlns:a16="http://schemas.microsoft.com/office/drawing/2014/main" id="{DF58B26E-61D2-4AE5-9838-C40667998398}"/>
              </a:ext>
            </a:extLst>
          </p:cNvPr>
          <p:cNvSpPr>
            <a:spLocks xmlns:a="http://schemas.openxmlformats.org/drawingml/2006/main" noGrp="1"/>
          </p:cNvSpPr>
          <p:nvPr/>
        </p:nvSpPr>
        <p:spPr>
          <a:xfrm xmlns:a="http://schemas.openxmlformats.org/drawingml/2006/main">
            <a:off x="2667000" y="2438400"/>
            <a:ext cx="33337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Checks the sending server</a:t>
            </a:r>
          </a:p>
        </p:txBody>
      </p:sp>
      <p:sp>
        <p:nvSpPr>
          <p:cNvPr id="11" name="">
            <a:extLst xmlns:a="http://schemas.openxmlformats.org/drawingml/2006/main">
              <a:ext uri="{FF2B5EF4-FFF2-40B4-BE49-F238E27FC236}">
                <a16:creationId xmlns:a16="http://schemas.microsoft.com/office/drawing/2014/main" id="{5B919817-51F7-4FD4-9B4D-0AF6079A70D8}"/>
              </a:ext>
            </a:extLst>
          </p:cNvPr>
          <p:cNvSpPr>
            <a:spLocks xmlns:a="http://schemas.openxmlformats.org/drawingml/2006/main" noGrp="1"/>
          </p:cNvSpPr>
          <p:nvPr/>
        </p:nvSpPr>
        <p:spPr>
          <a:xfrm xmlns:a="http://schemas.openxmlformats.org/drawingml/2006/main">
            <a:off x="6191250" y="2438400"/>
            <a:ext cx="5048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97972"/>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Was this server authorized for the envelope domain?</a:t>
            </a:r>
          </a:p>
        </p:txBody>
      </p:sp>
      <p:sp>
        <p:nvSpPr>
          <p:cNvPr id="12" name="">
            <a:extLst xmlns:a="http://schemas.openxmlformats.org/drawingml/2006/main">
              <a:ext uri="{FF2B5EF4-FFF2-40B4-BE49-F238E27FC236}">
                <a16:creationId xmlns:a16="http://schemas.microsoft.com/office/drawing/2014/main" id="{A5C664B2-0677-4F42-AB2C-F52E2DFCECB1}"/>
              </a:ext>
            </a:extLst>
          </p:cNvPr>
          <p:cNvSpPr>
            <a:spLocks xmlns:a="http://schemas.openxmlformats.org/drawingml/2006/main" noGrp="1"/>
          </p:cNvSpPr>
          <p:nvPr/>
        </p:nvSpPr>
        <p:spPr>
          <a:xfrm xmlns:a="http://schemas.openxmlformats.org/drawingml/2006/main">
            <a:off x="514350" y="2990850"/>
            <a:ext cx="2000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DKIM</a:t>
            </a:r>
          </a:p>
        </p:txBody>
      </p:sp>
      <p:sp>
        <p:nvSpPr>
          <p:cNvPr id="13" name="">
            <a:extLst xmlns:a="http://schemas.openxmlformats.org/drawingml/2006/main">
              <a:ext uri="{FF2B5EF4-FFF2-40B4-BE49-F238E27FC236}">
                <a16:creationId xmlns:a16="http://schemas.microsoft.com/office/drawing/2014/main" id="{357F4DF0-ED0A-423A-87D0-F54D1732F7A0}"/>
              </a:ext>
            </a:extLst>
          </p:cNvPr>
          <p:cNvSpPr>
            <a:spLocks xmlns:a="http://schemas.openxmlformats.org/drawingml/2006/main" noGrp="1"/>
          </p:cNvSpPr>
          <p:nvPr/>
        </p:nvSpPr>
        <p:spPr>
          <a:xfrm xmlns:a="http://schemas.openxmlformats.org/drawingml/2006/main">
            <a:off x="2667000" y="2990850"/>
            <a:ext cx="33337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Checks a cryptographic signature</a:t>
            </a:r>
          </a:p>
        </p:txBody>
      </p:sp>
      <p:sp>
        <p:nvSpPr>
          <p:cNvPr id="14" name="">
            <a:extLst xmlns:a="http://schemas.openxmlformats.org/drawingml/2006/main">
              <a:ext uri="{FF2B5EF4-FFF2-40B4-BE49-F238E27FC236}">
                <a16:creationId xmlns:a16="http://schemas.microsoft.com/office/drawing/2014/main" id="{51E813D3-2B53-4AF5-B3F5-23CADE334D60}"/>
              </a:ext>
            </a:extLst>
          </p:cNvPr>
          <p:cNvSpPr>
            <a:spLocks xmlns:a="http://schemas.openxmlformats.org/drawingml/2006/main" noGrp="1"/>
          </p:cNvSpPr>
          <p:nvPr/>
        </p:nvSpPr>
        <p:spPr>
          <a:xfrm xmlns:a="http://schemas.openxmlformats.org/drawingml/2006/main">
            <a:off x="6191250" y="2990850"/>
            <a:ext cx="5048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Did the signing domain authorize this message?</a:t>
            </a:r>
          </a:p>
        </p:txBody>
      </p:sp>
      <p:sp>
        <p:nvSpPr>
          <p:cNvPr id="15" name="">
            <a:extLst xmlns:a="http://schemas.openxmlformats.org/drawingml/2006/main">
              <a:ext uri="{FF2B5EF4-FFF2-40B4-BE49-F238E27FC236}">
                <a16:creationId xmlns:a16="http://schemas.microsoft.com/office/drawing/2014/main" id="{08D8AC38-088C-49B5-B815-0F93C044ECE9}"/>
              </a:ext>
            </a:extLst>
          </p:cNvPr>
          <p:cNvSpPr>
            <a:spLocks xmlns:a="http://schemas.openxmlformats.org/drawingml/2006/main" noGrp="1"/>
          </p:cNvSpPr>
          <p:nvPr/>
        </p:nvSpPr>
        <p:spPr>
          <a:xfrm xmlns:a="http://schemas.openxmlformats.org/drawingml/2006/main">
            <a:off x="514350" y="3543300"/>
            <a:ext cx="2000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DMARC</a:t>
            </a:r>
          </a:p>
        </p:txBody>
      </p:sp>
      <p:sp>
        <p:nvSpPr>
          <p:cNvPr id="16" name="">
            <a:extLst xmlns:a="http://schemas.openxmlformats.org/drawingml/2006/main">
              <a:ext uri="{FF2B5EF4-FFF2-40B4-BE49-F238E27FC236}">
                <a16:creationId xmlns:a16="http://schemas.microsoft.com/office/drawing/2014/main" id="{3C4E6E87-34C8-41CA-9107-09749AF1F588}"/>
              </a:ext>
            </a:extLst>
          </p:cNvPr>
          <p:cNvSpPr>
            <a:spLocks xmlns:a="http://schemas.openxmlformats.org/drawingml/2006/main" noGrp="1"/>
          </p:cNvSpPr>
          <p:nvPr/>
        </p:nvSpPr>
        <p:spPr>
          <a:xfrm xmlns:a="http://schemas.openxmlformats.org/drawingml/2006/main">
            <a:off x="2667000" y="3543300"/>
            <a:ext cx="33337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Checks domain alignment</a:t>
            </a:r>
          </a:p>
        </p:txBody>
      </p:sp>
      <p:sp>
        <p:nvSpPr>
          <p:cNvPr id="17" name="">
            <a:extLst xmlns:a="http://schemas.openxmlformats.org/drawingml/2006/main">
              <a:ext uri="{FF2B5EF4-FFF2-40B4-BE49-F238E27FC236}">
                <a16:creationId xmlns:a16="http://schemas.microsoft.com/office/drawing/2014/main" id="{5ED69234-0756-4F7A-9E48-FBF0F9C97CB5}"/>
              </a:ext>
            </a:extLst>
          </p:cNvPr>
          <p:cNvSpPr>
            <a:spLocks xmlns:a="http://schemas.openxmlformats.org/drawingml/2006/main" noGrp="1"/>
          </p:cNvSpPr>
          <p:nvPr/>
        </p:nvSpPr>
        <p:spPr>
          <a:xfrm xmlns:a="http://schemas.openxmlformats.org/drawingml/2006/main">
            <a:off x="6191250" y="3543300"/>
            <a:ext cx="5048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91957"/>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Does authentication align with the visible From domain?</a:t>
            </a:r>
          </a:p>
        </p:txBody>
      </p:sp>
      <p:sp>
        <p:nvSpPr>
          <p:cNvPr id="18" name="">
            <a:extLst xmlns:a="http://schemas.openxmlformats.org/drawingml/2006/main">
              <a:ext uri="{FF2B5EF4-FFF2-40B4-BE49-F238E27FC236}">
                <a16:creationId xmlns:a16="http://schemas.microsoft.com/office/drawing/2014/main" id="{27E57694-F5F9-489C-A2C7-1AE42BF408DD}"/>
              </a:ext>
            </a:extLst>
          </p:cNvPr>
          <p:cNvSpPr>
            <a:spLocks xmlns:a="http://schemas.openxmlformats.org/drawingml/2006/main" noGrp="1"/>
          </p:cNvSpPr>
          <p:nvPr/>
        </p:nvSpPr>
        <p:spPr>
          <a:xfrm xmlns:a="http://schemas.openxmlformats.org/drawingml/2006/main">
            <a:off x="1381125" y="4381500"/>
            <a:ext cx="9429750" cy="1047750"/>
          </a:xfrm>
          <a:prstGeom xmlns:a="http://schemas.openxmlformats.org/drawingml/2006/main" prst="rect">
            <a:avLst/>
          </a:prstGeom>
          <a:solidFill xmlns:a="http://schemas.openxmlformats.org/drawingml/2006/main">
            <a:srgbClr val="FF8A3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7FCBAEE-8E18-4F72-B97C-AEDEF5F6B5BE}"/>
              </a:ext>
            </a:extLst>
          </p:cNvPr>
          <p:cNvSpPr>
            <a:spLocks xmlns:a="http://schemas.openxmlformats.org/drawingml/2006/main" noGrp="1"/>
          </p:cNvSpPr>
          <p:nvPr/>
        </p:nvSpPr>
        <p:spPr>
          <a:xfrm xmlns:a="http://schemas.openxmlformats.org/drawingml/2006/main">
            <a:off x="1552575" y="4476750"/>
            <a:ext cx="9086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875" b="1">
                <a:solidFill>
                  <a:srgbClr val="081A2E"/>
                </a:solidFill>
                <a:latin typeface="DejaVu Sans"/>
                <a:ea typeface="DejaVu Sans"/>
                <a:cs typeface="DejaVu Sans"/>
              </a:defRPr>
            </a:pPr>
            <a:r>
              <a:rPr sz="1875" b="1">
                <a:solidFill>
                  <a:srgbClr val="081A2E"/>
                </a:solidFill>
                <a:latin typeface="DejaVu Sans"/>
                <a:ea typeface="DejaVu Sans"/>
                <a:cs typeface="DejaVu Sans"/>
              </a:rPr>
              <a:t>Authentication confirms domain authorization. It does not prove that the message is wanted or harmless</a:t>
            </a:r>
          </a:p>
        </p:txBody>
      </p:sp>
    </p:spTree>
    <p:extLst>
      <p:ext uri="{BB962C8B-B14F-4D97-AF65-F5344CB8AC3E}">
        <p14:creationId xmlns:p14="http://schemas.microsoft.com/office/powerpoint/2010/main" val="1609319394"/>
      </p:ext>
    </p:extLst>
  </p:cSld>
</p:sld>
</file>

<file path=ppt/slides/slide2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6E556D0-A3AF-4C4D-A92B-8908DB00A0FA}"/>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34F100-9771-4762-A5BF-B9FA6DED6391}"/>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EMAIL INSPECTION</a:t>
            </a:r>
          </a:p>
        </p:txBody>
      </p:sp>
      <p:sp>
        <p:nvSpPr>
          <p:cNvPr id="3" name="">
            <a:extLst xmlns:a="http://schemas.openxmlformats.org/drawingml/2006/main">
              <a:ext uri="{FF2B5EF4-FFF2-40B4-BE49-F238E27FC236}">
                <a16:creationId xmlns:a16="http://schemas.microsoft.com/office/drawing/2014/main" id="{48B5B994-A996-43FF-8134-0172C31E14F3}"/>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28</a:t>
            </a:r>
          </a:p>
        </p:txBody>
      </p:sp>
      <p:sp>
        <p:nvSpPr>
          <p:cNvPr id="4" name="">
            <a:extLst xmlns:a="http://schemas.openxmlformats.org/drawingml/2006/main">
              <a:ext uri="{FF2B5EF4-FFF2-40B4-BE49-F238E27FC236}">
                <a16:creationId xmlns:a16="http://schemas.microsoft.com/office/drawing/2014/main" id="{47269BF5-4658-41A1-A243-3991D585F4FB}"/>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4BD7321-F58E-452E-97DB-B6A0937D9DA9}"/>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Checking email on mobile</a:t>
            </a:r>
          </a:p>
        </p:txBody>
      </p:sp>
      <p:sp>
        <p:nvSpPr>
          <p:cNvPr id="6" name="">
            <a:extLst xmlns:a="http://schemas.openxmlformats.org/drawingml/2006/main">
              <a:ext uri="{FF2B5EF4-FFF2-40B4-BE49-F238E27FC236}">
                <a16:creationId xmlns:a16="http://schemas.microsoft.com/office/drawing/2014/main" id="{19345660-59B0-43C9-BC9D-C643AB3AB702}"/>
              </a:ext>
            </a:extLst>
          </p:cNvPr>
          <p:cNvSpPr>
            <a:spLocks xmlns:a="http://schemas.openxmlformats.org/drawingml/2006/main" noGrp="1"/>
          </p:cNvSpPr>
          <p:nvPr/>
        </p:nvSpPr>
        <p:spPr>
          <a:xfrm xmlns:a="http://schemas.openxmlformats.org/drawingml/2006/main">
            <a:off x="49530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49F77635-4AE5-4D72-8364-4922CC581121}"/>
              </a:ext>
            </a:extLst>
          </p:cNvPr>
          <p:cNvSpPr>
            <a:spLocks xmlns:a="http://schemas.openxmlformats.org/drawingml/2006/main" noGrp="1"/>
          </p:cNvSpPr>
          <p:nvPr/>
        </p:nvSpPr>
        <p:spPr>
          <a:xfrm xmlns:a="http://schemas.openxmlformats.org/drawingml/2006/main">
            <a:off x="596265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8" name="">
            <a:extLst xmlns:a="http://schemas.openxmlformats.org/drawingml/2006/main">
              <a:ext uri="{FF2B5EF4-FFF2-40B4-BE49-F238E27FC236}">
                <a16:creationId xmlns:a16="http://schemas.microsoft.com/office/drawing/2014/main" id="{6DAD607A-7739-4F88-B02F-311C09275288}"/>
              </a:ext>
            </a:extLst>
          </p:cNvPr>
          <p:cNvSpPr>
            <a:spLocks xmlns:a="http://schemas.openxmlformats.org/drawingml/2006/main" noGrp="1"/>
          </p:cNvSpPr>
          <p:nvPr/>
        </p:nvSpPr>
        <p:spPr>
          <a:xfrm xmlns:a="http://schemas.openxmlformats.org/drawingml/2006/main">
            <a:off x="74295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2F80ED"/>
                </a:solidFill>
                <a:latin typeface="DejaVu Sans"/>
                <a:ea typeface="DejaVu Sans"/>
                <a:cs typeface="DejaVu Sans"/>
              </a:defRPr>
            </a:pPr>
            <a:r>
              <a:rPr sz="2025" b="1">
                <a:solidFill>
                  <a:srgbClr val="2F80ED"/>
                </a:solidFill>
                <a:latin typeface="DejaVu Sans"/>
                <a:ea typeface="DejaVu Sans"/>
                <a:cs typeface="DejaVu Sans"/>
              </a:rPr>
              <a:t>Gmail security details</a:t>
            </a:r>
          </a:p>
        </p:txBody>
      </p:sp>
      <p:sp>
        <p:nvSpPr>
          <p:cNvPr id="9" name="">
            <a:extLst xmlns:a="http://schemas.openxmlformats.org/drawingml/2006/main">
              <a:ext uri="{FF2B5EF4-FFF2-40B4-BE49-F238E27FC236}">
                <a16:creationId xmlns:a16="http://schemas.microsoft.com/office/drawing/2014/main" id="{BB610145-7DD3-4EB2-A86F-B6B2913C2A02}"/>
              </a:ext>
            </a:extLst>
          </p:cNvPr>
          <p:cNvSpPr>
            <a:spLocks xmlns:a="http://schemas.openxmlformats.org/drawingml/2006/main" noGrp="1"/>
          </p:cNvSpPr>
          <p:nvPr/>
        </p:nvSpPr>
        <p:spPr>
          <a:xfrm xmlns:a="http://schemas.openxmlformats.org/drawingml/2006/main">
            <a:off x="621030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FF8A34"/>
                </a:solidFill>
                <a:latin typeface="DejaVu Sans"/>
                <a:ea typeface="DejaVu Sans"/>
                <a:cs typeface="DejaVu Sans"/>
              </a:defRPr>
            </a:pPr>
            <a:r>
              <a:rPr sz="2025" b="1">
                <a:solidFill>
                  <a:srgbClr val="FF8A34"/>
                </a:solidFill>
                <a:latin typeface="DejaVu Sans"/>
                <a:ea typeface="DejaVu Sans"/>
                <a:cs typeface="DejaVu Sans"/>
              </a:rPr>
              <a:t>Mobile inspection habits</a:t>
            </a:r>
          </a:p>
        </p:txBody>
      </p:sp>
      <p:sp>
        <p:nvSpPr>
          <p:cNvPr id="10" name="">
            <a:extLst xmlns:a="http://schemas.openxmlformats.org/drawingml/2006/main">
              <a:ext uri="{FF2B5EF4-FFF2-40B4-BE49-F238E27FC236}">
                <a16:creationId xmlns:a16="http://schemas.microsoft.com/office/drawing/2014/main" id="{39299FAB-836E-41D1-96BB-07B53311962C}"/>
              </a:ext>
            </a:extLst>
          </p:cNvPr>
          <p:cNvSpPr>
            <a:spLocks xmlns:a="http://schemas.openxmlformats.org/drawingml/2006/main" noGrp="1"/>
          </p:cNvSpPr>
          <p:nvPr/>
        </p:nvSpPr>
        <p:spPr>
          <a:xfrm xmlns:a="http://schemas.openxmlformats.org/drawingml/2006/main">
            <a:off x="714375"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Open the message and expand View details</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Open View security details</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Check Mailed by and Signed by domains</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Treat a question mark beside the sender cautiously</a:t>
            </a:r>
          </a:p>
        </p:txBody>
      </p:sp>
      <p:sp>
        <p:nvSpPr>
          <p:cNvPr id="11" name="">
            <a:extLst xmlns:a="http://schemas.openxmlformats.org/drawingml/2006/main">
              <a:ext uri="{FF2B5EF4-FFF2-40B4-BE49-F238E27FC236}">
                <a16:creationId xmlns:a16="http://schemas.microsoft.com/office/drawing/2014/main" id="{BEE5A9D0-AD76-4AA4-A125-9D8D30DA958A}"/>
              </a:ext>
            </a:extLst>
          </p:cNvPr>
          <p:cNvSpPr>
            <a:spLocks xmlns:a="http://schemas.openxmlformats.org/drawingml/2006/main" noGrp="1"/>
          </p:cNvSpPr>
          <p:nvPr/>
        </p:nvSpPr>
        <p:spPr>
          <a:xfrm xmlns:a="http://schemas.openxmlformats.org/drawingml/2006/main">
            <a:off x="6191250"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Expand the complete sender address</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Press and hold a link to preview it</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Avoid opening unexpected attachments</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Move complex header analysis to a desktop or web view</a:t>
            </a:r>
          </a:p>
        </p:txBody>
      </p:sp>
    </p:spTree>
    <p:extLst>
      <p:ext uri="{BB962C8B-B14F-4D97-AF65-F5344CB8AC3E}">
        <p14:creationId xmlns:p14="http://schemas.microsoft.com/office/powerpoint/2010/main" val="481966542"/>
      </p:ext>
    </p:extLst>
  </p:cSld>
</p:sld>
</file>

<file path=ppt/slides/slide2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D6DB1A3-E725-49DA-B945-B8FF46575D8A}"/>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15E64D-A11C-4267-87FA-EFB940084C6A}"/>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EMAIL INSPECTION</a:t>
            </a:r>
          </a:p>
        </p:txBody>
      </p:sp>
      <p:sp>
        <p:nvSpPr>
          <p:cNvPr id="3" name="">
            <a:extLst xmlns:a="http://schemas.openxmlformats.org/drawingml/2006/main">
              <a:ext uri="{FF2B5EF4-FFF2-40B4-BE49-F238E27FC236}">
                <a16:creationId xmlns:a16="http://schemas.microsoft.com/office/drawing/2014/main" id="{FB4E3542-672B-427C-8751-BC4C30ACC354}"/>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29</a:t>
            </a:r>
          </a:p>
        </p:txBody>
      </p:sp>
      <p:sp>
        <p:nvSpPr>
          <p:cNvPr id="4" name="">
            <a:extLst xmlns:a="http://schemas.openxmlformats.org/drawingml/2006/main">
              <a:ext uri="{FF2B5EF4-FFF2-40B4-BE49-F238E27FC236}">
                <a16:creationId xmlns:a16="http://schemas.microsoft.com/office/drawing/2014/main" id="{5BDC0A4C-AEFB-413E-867B-26CDC3A705F5}"/>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DAD235-326A-4434-B9F1-4EAB590023E9}"/>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Case study: account verification</a:t>
            </a:r>
          </a:p>
        </p:txBody>
      </p:sp>
      <p:sp>
        <p:nvSpPr>
          <p:cNvPr id="6" name="">
            <a:extLst xmlns:a="http://schemas.openxmlformats.org/drawingml/2006/main">
              <a:ext uri="{FF2B5EF4-FFF2-40B4-BE49-F238E27FC236}">
                <a16:creationId xmlns:a16="http://schemas.microsoft.com/office/drawing/2014/main" id="{E2F6491D-C5C2-405F-AE6C-286A6D4E8463}"/>
              </a:ext>
            </a:extLst>
          </p:cNvPr>
          <p:cNvSpPr>
            <a:spLocks xmlns:a="http://schemas.openxmlformats.org/drawingml/2006/main" noGrp="1"/>
          </p:cNvSpPr>
          <p:nvPr/>
        </p:nvSpPr>
        <p:spPr>
          <a:xfrm xmlns:a="http://schemas.openxmlformats.org/drawingml/2006/main">
            <a:off x="428625" y="1571625"/>
            <a:ext cx="7239000" cy="4143375"/>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3143AF92-081E-40DE-9DF0-ACA9EABD1036}"/>
              </a:ext>
            </a:extLst>
          </p:cNvPr>
          <p:cNvSpPr>
            <a:spLocks xmlns:a="http://schemas.openxmlformats.org/drawingml/2006/main" noGrp="1"/>
          </p:cNvSpPr>
          <p:nvPr/>
        </p:nvSpPr>
        <p:spPr>
          <a:xfrm xmlns:a="http://schemas.openxmlformats.org/drawingml/2006/main">
            <a:off x="428625" y="1571625"/>
            <a:ext cx="7239000" cy="4572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6C0F465-D1FB-4F29-ACB9-94F31B496F11}"/>
              </a:ext>
            </a:extLst>
          </p:cNvPr>
          <p:cNvSpPr>
            <a:spLocks xmlns:a="http://schemas.openxmlformats.org/drawingml/2006/main" noGrp="1"/>
          </p:cNvSpPr>
          <p:nvPr/>
        </p:nvSpPr>
        <p:spPr>
          <a:xfrm xmlns:a="http://schemas.openxmlformats.org/drawingml/2006/main">
            <a:off x="600075" y="1647825"/>
            <a:ext cx="6896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2593"/>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Message preview</a:t>
            </a:r>
          </a:p>
        </p:txBody>
      </p:sp>
      <p:sp>
        <p:nvSpPr>
          <p:cNvPr id="9" name="">
            <a:extLst xmlns:a="http://schemas.openxmlformats.org/drawingml/2006/main">
              <a:ext uri="{FF2B5EF4-FFF2-40B4-BE49-F238E27FC236}">
                <a16:creationId xmlns:a16="http://schemas.microsoft.com/office/drawing/2014/main" id="{DDFB9A26-51BC-46CE-A307-C7BB5FAAC071}"/>
              </a:ext>
            </a:extLst>
          </p:cNvPr>
          <p:cNvSpPr>
            <a:spLocks xmlns:a="http://schemas.openxmlformats.org/drawingml/2006/main" noGrp="1"/>
          </p:cNvSpPr>
          <p:nvPr/>
        </p:nvSpPr>
        <p:spPr>
          <a:xfrm xmlns:a="http://schemas.openxmlformats.org/drawingml/2006/main">
            <a:off x="600075" y="216217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275" b="1">
                <a:solidFill>
                  <a:srgbClr val="607385"/>
                </a:solidFill>
                <a:latin typeface="DejaVu Sans"/>
                <a:ea typeface="DejaVu Sans"/>
                <a:cs typeface="DejaVu Sans"/>
              </a:defRPr>
            </a:pPr>
            <a:r>
              <a:rPr sz="1275" b="1">
                <a:solidFill>
                  <a:srgbClr val="607385"/>
                </a:solidFill>
                <a:latin typeface="DejaVu Sans"/>
                <a:ea typeface="DejaVu Sans"/>
                <a:cs typeface="DejaVu Sans"/>
              </a:rPr>
              <a:t>From</a:t>
            </a:r>
          </a:p>
        </p:txBody>
      </p:sp>
      <p:sp>
        <p:nvSpPr>
          <p:cNvPr id="10" name="">
            <a:extLst xmlns:a="http://schemas.openxmlformats.org/drawingml/2006/main">
              <a:ext uri="{FF2B5EF4-FFF2-40B4-BE49-F238E27FC236}">
                <a16:creationId xmlns:a16="http://schemas.microsoft.com/office/drawing/2014/main" id="{CC867801-1527-4FBF-8A60-26DF32DB6A80}"/>
              </a:ext>
            </a:extLst>
          </p:cNvPr>
          <p:cNvSpPr>
            <a:spLocks xmlns:a="http://schemas.openxmlformats.org/drawingml/2006/main" noGrp="1"/>
          </p:cNvSpPr>
          <p:nvPr/>
        </p:nvSpPr>
        <p:spPr>
          <a:xfrm xmlns:a="http://schemas.openxmlformats.org/drawingml/2006/main">
            <a:off x="1552575" y="216217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0">
                <a:solidFill>
                  <a:srgbClr val="183247"/>
                </a:solidFill>
                <a:latin typeface="DejaVu Sans"/>
                <a:ea typeface="DejaVu Sans"/>
                <a:cs typeface="DejaVu Sans"/>
              </a:defRPr>
            </a:pPr>
            <a:r>
              <a:rPr sz="1350" b="0">
                <a:solidFill>
                  <a:srgbClr val="183247"/>
                </a:solidFill>
                <a:latin typeface="DejaVu Sans"/>
                <a:ea typeface="DejaVu Sans"/>
                <a:cs typeface="DejaVu Sans"/>
              </a:rPr>
              <a:t>IT Help Desk &lt;helpdesk@company-support.example&gt;</a:t>
            </a:r>
          </a:p>
        </p:txBody>
      </p:sp>
      <p:sp>
        <p:nvSpPr>
          <p:cNvPr id="11" name="">
            <a:extLst xmlns:a="http://schemas.openxmlformats.org/drawingml/2006/main">
              <a:ext uri="{FF2B5EF4-FFF2-40B4-BE49-F238E27FC236}">
                <a16:creationId xmlns:a16="http://schemas.microsoft.com/office/drawing/2014/main" id="{74802AFA-0A7B-40C6-BA8A-972400249D5B}"/>
              </a:ext>
            </a:extLst>
          </p:cNvPr>
          <p:cNvSpPr>
            <a:spLocks xmlns:a="http://schemas.openxmlformats.org/drawingml/2006/main" noGrp="1"/>
          </p:cNvSpPr>
          <p:nvPr/>
        </p:nvSpPr>
        <p:spPr>
          <a:xfrm xmlns:a="http://schemas.openxmlformats.org/drawingml/2006/main">
            <a:off x="600075" y="261937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275" b="1">
                <a:solidFill>
                  <a:srgbClr val="607385"/>
                </a:solidFill>
                <a:latin typeface="DejaVu Sans"/>
                <a:ea typeface="DejaVu Sans"/>
                <a:cs typeface="DejaVu Sans"/>
              </a:defRPr>
            </a:pPr>
            <a:r>
              <a:rPr sz="1275" b="1">
                <a:solidFill>
                  <a:srgbClr val="607385"/>
                </a:solidFill>
                <a:latin typeface="DejaVu Sans"/>
                <a:ea typeface="DejaVu Sans"/>
                <a:cs typeface="DejaVu Sans"/>
              </a:rPr>
              <a:t>Reply-To</a:t>
            </a:r>
          </a:p>
        </p:txBody>
      </p:sp>
      <p:sp>
        <p:nvSpPr>
          <p:cNvPr id="12" name="">
            <a:extLst xmlns:a="http://schemas.openxmlformats.org/drawingml/2006/main">
              <a:ext uri="{FF2B5EF4-FFF2-40B4-BE49-F238E27FC236}">
                <a16:creationId xmlns:a16="http://schemas.microsoft.com/office/drawing/2014/main" id="{E709BD68-D739-4EA0-A003-2AC50E8BDC90}"/>
              </a:ext>
            </a:extLst>
          </p:cNvPr>
          <p:cNvSpPr>
            <a:spLocks xmlns:a="http://schemas.openxmlformats.org/drawingml/2006/main" noGrp="1"/>
          </p:cNvSpPr>
          <p:nvPr/>
        </p:nvSpPr>
        <p:spPr>
          <a:xfrm xmlns:a="http://schemas.openxmlformats.org/drawingml/2006/main">
            <a:off x="1552575" y="261937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0">
                <a:solidFill>
                  <a:srgbClr val="E54B4B"/>
                </a:solidFill>
                <a:latin typeface="DejaVu Sans"/>
                <a:ea typeface="DejaVu Sans"/>
                <a:cs typeface="DejaVu Sans"/>
              </a:defRPr>
            </a:pPr>
            <a:r>
              <a:rPr sz="1350" b="0">
                <a:solidFill>
                  <a:srgbClr val="E54B4B"/>
                </a:solidFill>
                <a:latin typeface="DejaVu Sans"/>
                <a:ea typeface="DejaVu Sans"/>
                <a:cs typeface="DejaVu Sans"/>
              </a:rPr>
              <a:t>account-recovery@outlook.com</a:t>
            </a:r>
          </a:p>
        </p:txBody>
      </p:sp>
      <p:sp>
        <p:nvSpPr>
          <p:cNvPr id="13" name="">
            <a:extLst xmlns:a="http://schemas.openxmlformats.org/drawingml/2006/main">
              <a:ext uri="{FF2B5EF4-FFF2-40B4-BE49-F238E27FC236}">
                <a16:creationId xmlns:a16="http://schemas.microsoft.com/office/drawing/2014/main" id="{5DDE7CCB-B318-4B16-96AE-D57A1F741686}"/>
              </a:ext>
            </a:extLst>
          </p:cNvPr>
          <p:cNvSpPr>
            <a:spLocks xmlns:a="http://schemas.openxmlformats.org/drawingml/2006/main" noGrp="1"/>
          </p:cNvSpPr>
          <p:nvPr/>
        </p:nvSpPr>
        <p:spPr>
          <a:xfrm xmlns:a="http://schemas.openxmlformats.org/drawingml/2006/main">
            <a:off x="600075" y="307657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275" b="1">
                <a:solidFill>
                  <a:srgbClr val="607385"/>
                </a:solidFill>
                <a:latin typeface="DejaVu Sans"/>
                <a:ea typeface="DejaVu Sans"/>
                <a:cs typeface="DejaVu Sans"/>
              </a:defRPr>
            </a:pPr>
            <a:r>
              <a:rPr sz="1275" b="1">
                <a:solidFill>
                  <a:srgbClr val="607385"/>
                </a:solidFill>
                <a:latin typeface="DejaVu Sans"/>
                <a:ea typeface="DejaVu Sans"/>
                <a:cs typeface="DejaVu Sans"/>
              </a:rPr>
              <a:t>Subject</a:t>
            </a:r>
          </a:p>
        </p:txBody>
      </p:sp>
      <p:sp>
        <p:nvSpPr>
          <p:cNvPr id="14" name="">
            <a:extLst xmlns:a="http://schemas.openxmlformats.org/drawingml/2006/main">
              <a:ext uri="{FF2B5EF4-FFF2-40B4-BE49-F238E27FC236}">
                <a16:creationId xmlns:a16="http://schemas.microsoft.com/office/drawing/2014/main" id="{56205FFA-F8EE-4607-BBB8-2940761DE94F}"/>
              </a:ext>
            </a:extLst>
          </p:cNvPr>
          <p:cNvSpPr>
            <a:spLocks xmlns:a="http://schemas.openxmlformats.org/drawingml/2006/main" noGrp="1"/>
          </p:cNvSpPr>
          <p:nvPr/>
        </p:nvSpPr>
        <p:spPr>
          <a:xfrm xmlns:a="http://schemas.openxmlformats.org/drawingml/2006/main">
            <a:off x="1552575" y="307657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0">
                <a:solidFill>
                  <a:srgbClr val="183247"/>
                </a:solidFill>
                <a:latin typeface="DejaVu Sans"/>
                <a:ea typeface="DejaVu Sans"/>
                <a:cs typeface="DejaVu Sans"/>
              </a:defRPr>
            </a:pPr>
            <a:r>
              <a:rPr sz="1350" b="0">
                <a:solidFill>
                  <a:srgbClr val="183247"/>
                </a:solidFill>
                <a:latin typeface="DejaVu Sans"/>
                <a:ea typeface="DejaVu Sans"/>
                <a:cs typeface="DejaVu Sans"/>
              </a:rPr>
              <a:t>URGENT: Mailbox disabled in 30 minutes</a:t>
            </a:r>
          </a:p>
        </p:txBody>
      </p:sp>
      <p:sp>
        <p:nvSpPr>
          <p:cNvPr id="15" name="">
            <a:extLst xmlns:a="http://schemas.openxmlformats.org/drawingml/2006/main">
              <a:ext uri="{FF2B5EF4-FFF2-40B4-BE49-F238E27FC236}">
                <a16:creationId xmlns:a16="http://schemas.microsoft.com/office/drawing/2014/main" id="{901BF58C-20ED-4BE0-AC18-25404603C424}"/>
              </a:ext>
            </a:extLst>
          </p:cNvPr>
          <p:cNvSpPr>
            <a:spLocks xmlns:a="http://schemas.openxmlformats.org/drawingml/2006/main" noGrp="1"/>
          </p:cNvSpPr>
          <p:nvPr/>
        </p:nvSpPr>
        <p:spPr>
          <a:xfrm xmlns:a="http://schemas.openxmlformats.org/drawingml/2006/main">
            <a:off x="600075" y="3571875"/>
            <a:ext cx="689610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D0004A6-DA2C-4003-B013-BC1A44C83CB0}"/>
              </a:ext>
            </a:extLst>
          </p:cNvPr>
          <p:cNvSpPr>
            <a:spLocks xmlns:a="http://schemas.openxmlformats.org/drawingml/2006/main" noGrp="1"/>
          </p:cNvSpPr>
          <p:nvPr/>
        </p:nvSpPr>
        <p:spPr>
          <a:xfrm xmlns:a="http://schemas.openxmlformats.org/drawingml/2006/main">
            <a:off x="657225" y="3724275"/>
            <a:ext cx="678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Dear employee, verify your password and MFA code immediately. Failure to complete verification will permanently delete your mailbox.</a:t>
            </a:r>
          </a:p>
        </p:txBody>
      </p:sp>
      <p:sp>
        <p:nvSpPr>
          <p:cNvPr id="17" name="">
            <a:extLst xmlns:a="http://schemas.openxmlformats.org/drawingml/2006/main">
              <a:ext uri="{FF2B5EF4-FFF2-40B4-BE49-F238E27FC236}">
                <a16:creationId xmlns:a16="http://schemas.microsoft.com/office/drawing/2014/main" id="{5B1F7461-59E9-4665-B865-EAE4AE6C3F4E}"/>
              </a:ext>
            </a:extLst>
          </p:cNvPr>
          <p:cNvSpPr>
            <a:spLocks xmlns:a="http://schemas.openxmlformats.org/drawingml/2006/main" noGrp="1"/>
          </p:cNvSpPr>
          <p:nvPr/>
        </p:nvSpPr>
        <p:spPr>
          <a:xfrm xmlns:a="http://schemas.openxmlformats.org/drawingml/2006/main">
            <a:off x="657225" y="4905375"/>
            <a:ext cx="6781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2F80ED"/>
                </a:solidFill>
                <a:latin typeface="DejaVu Sans"/>
                <a:ea typeface="DejaVu Sans"/>
                <a:cs typeface="DejaVu Sans"/>
              </a:defRPr>
            </a:pPr>
            <a:r>
              <a:rPr sz="1350" b="1">
                <a:solidFill>
                  <a:srgbClr val="2F80ED"/>
                </a:solidFill>
                <a:latin typeface="DejaVu Sans"/>
                <a:ea typeface="DejaVu Sans"/>
                <a:cs typeface="DejaVu Sans"/>
              </a:rPr>
              <a:t>https://company.com.security-check.example/login</a:t>
            </a:r>
          </a:p>
        </p:txBody>
      </p:sp>
      <p:sp>
        <p:nvSpPr>
          <p:cNvPr id="18" name="">
            <a:extLst xmlns:a="http://schemas.openxmlformats.org/drawingml/2006/main">
              <a:ext uri="{FF2B5EF4-FFF2-40B4-BE49-F238E27FC236}">
                <a16:creationId xmlns:a16="http://schemas.microsoft.com/office/drawing/2014/main" id="{A549FECC-167D-4D97-BE30-5B062BC701C4}"/>
              </a:ext>
            </a:extLst>
          </p:cNvPr>
          <p:cNvSpPr>
            <a:spLocks xmlns:a="http://schemas.openxmlformats.org/drawingml/2006/main" noGrp="1"/>
          </p:cNvSpPr>
          <p:nvPr/>
        </p:nvSpPr>
        <p:spPr>
          <a:xfrm xmlns:a="http://schemas.openxmlformats.org/drawingml/2006/main">
            <a:off x="657225" y="5219700"/>
            <a:ext cx="6781800" cy="323850"/>
          </a:xfrm>
          <a:prstGeom xmlns:a="http://schemas.openxmlformats.org/drawingml/2006/main" prst="rect">
            <a:avLst/>
          </a:prstGeom>
          <a:solidFill xmlns:a="http://schemas.openxmlformats.org/drawingml/2006/main">
            <a:srgbClr val="FFF1F1"/>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E54B4B"/>
                </a:solidFill>
                <a:latin typeface="DejaVu Sans"/>
                <a:ea typeface="DejaVu Sans"/>
                <a:cs typeface="DejaVu Sans"/>
              </a:defRPr>
            </a:pPr>
            <a:r>
              <a:rPr sz="1350" b="1">
                <a:solidFill>
                  <a:srgbClr val="E54B4B"/>
                </a:solidFill>
                <a:latin typeface="DejaVu Sans"/>
                <a:ea typeface="DejaVu Sans"/>
                <a:cs typeface="DejaVu Sans"/>
              </a:rPr>
              <a:t>Attachment: Security_Update.pdf.exe</a:t>
            </a:r>
          </a:p>
        </p:txBody>
      </p:sp>
      <p:sp>
        <p:nvSpPr>
          <p:cNvPr id="19" name="">
            <a:extLst xmlns:a="http://schemas.openxmlformats.org/drawingml/2006/main">
              <a:ext uri="{FF2B5EF4-FFF2-40B4-BE49-F238E27FC236}">
                <a16:creationId xmlns:a16="http://schemas.microsoft.com/office/drawing/2014/main" id="{FA4A191B-8F18-4469-B36B-DC4AB0FD8C29}"/>
              </a:ext>
            </a:extLst>
          </p:cNvPr>
          <p:cNvSpPr>
            <a:spLocks xmlns:a="http://schemas.openxmlformats.org/drawingml/2006/main" noGrp="1"/>
          </p:cNvSpPr>
          <p:nvPr/>
        </p:nvSpPr>
        <p:spPr>
          <a:xfrm xmlns:a="http://schemas.openxmlformats.org/drawingml/2006/main">
            <a:off x="7953375" y="16668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98765"/>
          </a:bodyPr>
          <a:lstStyle xmlns:a="http://schemas.openxmlformats.org/drawingml/2006/main"/>
          <a:p xmlns:a="http://schemas.openxmlformats.org/drawingml/2006/main">
            <a:pPr algn="l">
              <a:defRPr sz="2025" b="1">
                <a:solidFill>
                  <a:srgbClr val="081A2E"/>
                </a:solidFill>
                <a:latin typeface="DejaVu Sans"/>
                <a:ea typeface="DejaVu Sans"/>
                <a:cs typeface="DejaVu Sans"/>
              </a:defRPr>
            </a:pPr>
            <a:r>
              <a:rPr sz="2025" b="1">
                <a:solidFill>
                  <a:srgbClr val="081A2E"/>
                </a:solidFill>
                <a:latin typeface="DejaVu Sans"/>
                <a:ea typeface="DejaVu Sans"/>
                <a:cs typeface="DejaVu Sans"/>
              </a:rPr>
              <a:t>Participant task</a:t>
            </a:r>
          </a:p>
        </p:txBody>
      </p:sp>
      <p:sp>
        <p:nvSpPr>
          <p:cNvPr id="20" name="">
            <a:extLst xmlns:a="http://schemas.openxmlformats.org/drawingml/2006/main">
              <a:ext uri="{FF2B5EF4-FFF2-40B4-BE49-F238E27FC236}">
                <a16:creationId xmlns:a16="http://schemas.microsoft.com/office/drawing/2014/main" id="{016650F8-56B2-4894-8C2B-663EED781736}"/>
              </a:ext>
            </a:extLst>
          </p:cNvPr>
          <p:cNvSpPr>
            <a:spLocks xmlns:a="http://schemas.openxmlformats.org/drawingml/2006/main" noGrp="1"/>
          </p:cNvSpPr>
          <p:nvPr/>
        </p:nvSpPr>
        <p:spPr>
          <a:xfrm xmlns:a="http://schemas.openxmlformats.org/drawingml/2006/main">
            <a:off x="7858125" y="2238375"/>
            <a:ext cx="3619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Identify at least six warning signs</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State the likely attacker objective</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Choose a safe verification method</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Describe what should be reported</a:t>
            </a:r>
          </a:p>
        </p:txBody>
      </p:sp>
    </p:spTree>
    <p:extLst>
      <p:ext uri="{BB962C8B-B14F-4D97-AF65-F5344CB8AC3E}">
        <p14:creationId xmlns:p14="http://schemas.microsoft.com/office/powerpoint/2010/main" val="985187827"/>
      </p:ext>
    </p:extLst>
  </p:cSld>
</p:sld>
</file>

<file path=ppt/slides/slide30.xml><?xml version="1.0" encoding="utf-8"?>
<p:sld xmlns:p="http://schemas.openxmlformats.org/presentationml/2006/main">
  <p:cSld>
    <p:bg>
      <p:bgPr>
        <a:solidFill xmlns:a="http://schemas.openxmlformats.org/drawingml/2006/main">
          <a:srgbClr val="081A2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7C95B48-D585-4DCD-9F7C-7A0C4136E59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CC8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40CDC7-4AE8-4690-8C7D-F9A540DA3743}"/>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A8F1EF"/>
                </a:solidFill>
                <a:latin typeface="DejaVu Sans"/>
                <a:ea typeface="DejaVu Sans"/>
                <a:cs typeface="DejaVu Sans"/>
              </a:defRPr>
            </a:pPr>
            <a:r>
              <a:rPr sz="1125" b="1">
                <a:solidFill>
                  <a:srgbClr val="A8F1EF"/>
                </a:solidFill>
                <a:latin typeface="DejaVu Sans"/>
                <a:ea typeface="DejaVu Sans"/>
                <a:cs typeface="DejaVu Sans"/>
              </a:rPr>
              <a:t>MODULE 3</a:t>
            </a:r>
          </a:p>
        </p:txBody>
      </p:sp>
      <p:sp>
        <p:nvSpPr>
          <p:cNvPr id="3" name="">
            <a:extLst xmlns:a="http://schemas.openxmlformats.org/drawingml/2006/main">
              <a:ext uri="{FF2B5EF4-FFF2-40B4-BE49-F238E27FC236}">
                <a16:creationId xmlns:a16="http://schemas.microsoft.com/office/drawing/2014/main" id="{22AC9250-0F43-4F23-A0FB-1F6CA30F6860}"/>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A8F1EF"/>
                </a:solidFill>
                <a:latin typeface="DejaVu Sans"/>
                <a:ea typeface="DejaVu Sans"/>
                <a:cs typeface="DejaVu Sans"/>
              </a:defRPr>
            </a:pPr>
            <a:r>
              <a:rPr sz="1050" b="1">
                <a:solidFill>
                  <a:srgbClr val="A8F1EF"/>
                </a:solidFill>
                <a:latin typeface="DejaVu Sans"/>
                <a:ea typeface="DejaVu Sans"/>
                <a:cs typeface="DejaVu Sans"/>
              </a:rPr>
              <a:t>30</a:t>
            </a:r>
          </a:p>
        </p:txBody>
      </p:sp>
      <p:sp>
        <p:nvSpPr>
          <p:cNvPr id="4" name="">
            <a:extLst xmlns:a="http://schemas.openxmlformats.org/drawingml/2006/main">
              <a:ext uri="{FF2B5EF4-FFF2-40B4-BE49-F238E27FC236}">
                <a16:creationId xmlns:a16="http://schemas.microsoft.com/office/drawing/2014/main" id="{F1C6AE34-BDA4-4389-BE7B-F663124CD955}"/>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09A014B-B9C0-494A-9947-6958A515651A}"/>
              </a:ext>
            </a:extLst>
          </p:cNvPr>
          <p:cNvSpPr>
            <a:spLocks xmlns:a="http://schemas.openxmlformats.org/drawingml/2006/main" noGrp="1"/>
          </p:cNvSpPr>
          <p:nvPr/>
        </p:nvSpPr>
        <p:spPr>
          <a:xfrm xmlns:a="http://schemas.openxmlformats.org/drawingml/2006/main">
            <a:off x="495300" y="1047750"/>
            <a:ext cx="1238250" cy="76200"/>
          </a:xfrm>
          <a:prstGeom xmlns:a="http://schemas.openxmlformats.org/drawingml/2006/main" prst="rect">
            <a:avLst/>
          </a:prstGeom>
          <a:solidFill xmlns:a="http://schemas.openxmlformats.org/drawingml/2006/main">
            <a:srgbClr val="E54B4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8B4DB67-5FF7-4893-B654-1C50E247C642}"/>
              </a:ext>
            </a:extLst>
          </p:cNvPr>
          <p:cNvSpPr>
            <a:spLocks xmlns:a="http://schemas.openxmlformats.org/drawingml/2006/main" noGrp="1"/>
          </p:cNvSpPr>
          <p:nvPr/>
        </p:nvSpPr>
        <p:spPr>
          <a:xfrm xmlns:a="http://schemas.openxmlformats.org/drawingml/2006/main">
            <a:off x="495300" y="1428750"/>
            <a:ext cx="1028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Social engineering</a:t>
            </a:r>
          </a:p>
        </p:txBody>
      </p:sp>
      <p:sp>
        <p:nvSpPr>
          <p:cNvPr id="7" name="">
            <a:extLst xmlns:a="http://schemas.openxmlformats.org/drawingml/2006/main">
              <a:ext uri="{FF2B5EF4-FFF2-40B4-BE49-F238E27FC236}">
                <a16:creationId xmlns:a16="http://schemas.microsoft.com/office/drawing/2014/main" id="{123E2851-5A5E-40DF-A2E8-475327E670E8}"/>
              </a:ext>
            </a:extLst>
          </p:cNvPr>
          <p:cNvSpPr>
            <a:spLocks xmlns:a="http://schemas.openxmlformats.org/drawingml/2006/main" noGrp="1"/>
          </p:cNvSpPr>
          <p:nvPr/>
        </p:nvSpPr>
        <p:spPr>
          <a:xfrm xmlns:a="http://schemas.openxmlformats.org/drawingml/2006/main">
            <a:off x="514350" y="3190875"/>
            <a:ext cx="9334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100" b="0">
                <a:solidFill>
                  <a:srgbClr val="A8F1EF"/>
                </a:solidFill>
                <a:latin typeface="DejaVu Sans"/>
                <a:ea typeface="DejaVu Sans"/>
                <a:cs typeface="DejaVu Sans"/>
              </a:defRPr>
            </a:pPr>
            <a:r>
              <a:rPr sz="2100" b="0">
                <a:solidFill>
                  <a:srgbClr val="A8F1EF"/>
                </a:solidFill>
                <a:latin typeface="DejaVu Sans"/>
                <a:ea typeface="DejaVu Sans"/>
                <a:cs typeface="DejaVu Sans"/>
              </a:rPr>
              <a:t>How attackers use trust, stories, authority and emotion to influence decisions</a:t>
            </a:r>
          </a:p>
        </p:txBody>
      </p:sp>
      <p:sp>
        <p:nvSpPr>
          <p:cNvPr id="8" name="">
            <a:extLst xmlns:a="http://schemas.openxmlformats.org/drawingml/2006/main">
              <a:ext uri="{FF2B5EF4-FFF2-40B4-BE49-F238E27FC236}">
                <a16:creationId xmlns:a16="http://schemas.microsoft.com/office/drawing/2014/main" id="{E9510B2D-A8D5-4065-BC6C-2063B9E6F681}"/>
              </a:ext>
            </a:extLst>
          </p:cNvPr>
          <p:cNvSpPr>
            <a:spLocks xmlns:a="http://schemas.openxmlformats.org/drawingml/2006/main" noGrp="1"/>
          </p:cNvSpPr>
          <p:nvPr/>
        </p:nvSpPr>
        <p:spPr>
          <a:xfrm xmlns:a="http://schemas.openxmlformats.org/drawingml/2006/main">
            <a:off x="10001250" y="1428750"/>
            <a:ext cx="1143000" cy="1143000"/>
          </a:xfrm>
          <a:prstGeom xmlns:a="http://schemas.openxmlformats.org/drawingml/2006/main" prst="ellipse">
            <a:avLst/>
          </a:prstGeom>
          <a:noFill xmlns:a="http://schemas.openxmlformats.org/drawingml/2006/main"/>
          <a:ln xmlns:a="http://schemas.openxmlformats.org/drawingml/2006/main" w="9525">
            <a:solidFill>
              <a:srgbClr val="E54B4B"/>
            </a:solidFill>
          </a:ln>
        </p:spPr>
      </p:sp>
      <p:sp>
        <p:nvSpPr>
          <p:cNvPr id="9" name="">
            <a:extLst xmlns:a="http://schemas.openxmlformats.org/drawingml/2006/main">
              <a:ext uri="{FF2B5EF4-FFF2-40B4-BE49-F238E27FC236}">
                <a16:creationId xmlns:a16="http://schemas.microsoft.com/office/drawing/2014/main" id="{480044D4-4C23-458D-B0A9-08C9A990491C}"/>
              </a:ext>
            </a:extLst>
          </p:cNvPr>
          <p:cNvSpPr>
            <a:spLocks xmlns:a="http://schemas.openxmlformats.org/drawingml/2006/main" noGrp="1"/>
          </p:cNvSpPr>
          <p:nvPr/>
        </p:nvSpPr>
        <p:spPr>
          <a:xfrm xmlns:a="http://schemas.openxmlformats.org/drawingml/2006/main">
            <a:off x="10001250" y="1428750"/>
            <a:ext cx="114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3300" b="1">
                <a:solidFill>
                  <a:srgbClr val="E54B4B"/>
                </a:solidFill>
                <a:latin typeface="DejaVu Sans"/>
                <a:ea typeface="DejaVu Sans"/>
                <a:cs typeface="DejaVu Sans"/>
              </a:defRPr>
            </a:pPr>
            <a:r>
              <a:rPr sz="3300" b="1">
                <a:solidFill>
                  <a:srgbClr val="E54B4B"/>
                </a:solidFill>
                <a:latin typeface="DejaVu Sans"/>
                <a:ea typeface="DejaVu Sans"/>
                <a:cs typeface="DejaVu Sans"/>
              </a:rPr>
              <a:t>30</a:t>
            </a:r>
          </a:p>
        </p:txBody>
      </p:sp>
    </p:spTree>
    <p:extLst>
      <p:ext uri="{BB962C8B-B14F-4D97-AF65-F5344CB8AC3E}">
        <p14:creationId xmlns:p14="http://schemas.microsoft.com/office/powerpoint/2010/main" val="538933003"/>
      </p:ext>
    </p:extLst>
  </p:cSld>
</p:sld>
</file>

<file path=ppt/slides/slide3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D2B19F5-67F3-425F-87EA-C4EA0107B07A}"/>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285A70-DA3D-45D7-BC11-939AD0404C9B}"/>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SOCIAL ENGINEERING</a:t>
            </a:r>
          </a:p>
        </p:txBody>
      </p:sp>
      <p:sp>
        <p:nvSpPr>
          <p:cNvPr id="3" name="">
            <a:extLst xmlns:a="http://schemas.openxmlformats.org/drawingml/2006/main">
              <a:ext uri="{FF2B5EF4-FFF2-40B4-BE49-F238E27FC236}">
                <a16:creationId xmlns:a16="http://schemas.microsoft.com/office/drawing/2014/main" id="{41DA312B-34B5-4960-B53B-75FDFE098931}"/>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31</a:t>
            </a:r>
          </a:p>
        </p:txBody>
      </p:sp>
      <p:sp>
        <p:nvSpPr>
          <p:cNvPr id="4" name="">
            <a:extLst xmlns:a="http://schemas.openxmlformats.org/drawingml/2006/main">
              <a:ext uri="{FF2B5EF4-FFF2-40B4-BE49-F238E27FC236}">
                <a16:creationId xmlns:a16="http://schemas.microsoft.com/office/drawing/2014/main" id="{2F194526-8DC1-42A0-834D-BB71BE93F75E}"/>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424F19E-D79B-4DCE-A316-2D2E08C2BA23}"/>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Human manipulation techniques</a:t>
            </a:r>
          </a:p>
        </p:txBody>
      </p:sp>
      <p:sp>
        <p:nvSpPr>
          <p:cNvPr id="6" name="">
            <a:extLst xmlns:a="http://schemas.openxmlformats.org/drawingml/2006/main">
              <a:ext uri="{FF2B5EF4-FFF2-40B4-BE49-F238E27FC236}">
                <a16:creationId xmlns:a16="http://schemas.microsoft.com/office/drawing/2014/main" id="{8903AB51-88E4-4787-8396-42F99FCF30C4}"/>
              </a:ext>
            </a:extLst>
          </p:cNvPr>
          <p:cNvSpPr>
            <a:spLocks xmlns:a="http://schemas.openxmlformats.org/drawingml/2006/main" noGrp="1"/>
          </p:cNvSpPr>
          <p:nvPr/>
        </p:nvSpPr>
        <p:spPr>
          <a:xfrm xmlns:a="http://schemas.openxmlformats.org/drawingml/2006/main">
            <a:off x="514350" y="1762125"/>
            <a:ext cx="2000250" cy="400050"/>
          </a:xfrm>
          <a:prstGeom xmlns:a="http://schemas.openxmlformats.org/drawingml/2006/main" prst="rect">
            <a:avLst/>
          </a:prstGeom>
          <a:solidFill xmlns:a="http://schemas.openxmlformats.org/drawingml/2006/main">
            <a:srgbClr val="081A2E"/>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PRESSURE</a:t>
            </a:r>
          </a:p>
        </p:txBody>
      </p:sp>
      <p:sp>
        <p:nvSpPr>
          <p:cNvPr id="7" name="">
            <a:extLst xmlns:a="http://schemas.openxmlformats.org/drawingml/2006/main">
              <a:ext uri="{FF2B5EF4-FFF2-40B4-BE49-F238E27FC236}">
                <a16:creationId xmlns:a16="http://schemas.microsoft.com/office/drawing/2014/main" id="{C11BA777-2637-4FFD-B341-A7EDDFE0A03A}"/>
              </a:ext>
            </a:extLst>
          </p:cNvPr>
          <p:cNvSpPr>
            <a:spLocks xmlns:a="http://schemas.openxmlformats.org/drawingml/2006/main" noGrp="1"/>
          </p:cNvSpPr>
          <p:nvPr/>
        </p:nvSpPr>
        <p:spPr>
          <a:xfrm xmlns:a="http://schemas.openxmlformats.org/drawingml/2006/main">
            <a:off x="2667000" y="1762125"/>
            <a:ext cx="3333750" cy="400050"/>
          </a:xfrm>
          <a:prstGeom xmlns:a="http://schemas.openxmlformats.org/drawingml/2006/main" prst="rect">
            <a:avLst/>
          </a:prstGeom>
          <a:solidFill xmlns:a="http://schemas.openxmlformats.org/drawingml/2006/main">
            <a:srgbClr val="081A2E"/>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HOW IT APPEARS</a:t>
            </a:r>
          </a:p>
        </p:txBody>
      </p:sp>
      <p:sp>
        <p:nvSpPr>
          <p:cNvPr id="8" name="">
            <a:extLst xmlns:a="http://schemas.openxmlformats.org/drawingml/2006/main">
              <a:ext uri="{FF2B5EF4-FFF2-40B4-BE49-F238E27FC236}">
                <a16:creationId xmlns:a16="http://schemas.microsoft.com/office/drawing/2014/main" id="{F56722FE-11C4-4F47-8D4E-1374FA8E70EE}"/>
              </a:ext>
            </a:extLst>
          </p:cNvPr>
          <p:cNvSpPr>
            <a:spLocks xmlns:a="http://schemas.openxmlformats.org/drawingml/2006/main" noGrp="1"/>
          </p:cNvSpPr>
          <p:nvPr/>
        </p:nvSpPr>
        <p:spPr>
          <a:xfrm xmlns:a="http://schemas.openxmlformats.org/drawingml/2006/main">
            <a:off x="6191250" y="1762125"/>
            <a:ext cx="5048250" cy="400050"/>
          </a:xfrm>
          <a:prstGeom xmlns:a="http://schemas.openxmlformats.org/drawingml/2006/main" prst="rect">
            <a:avLst/>
          </a:prstGeom>
          <a:solidFill xmlns:a="http://schemas.openxmlformats.org/drawingml/2006/main">
            <a:srgbClr val="081A2E"/>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EXAMPLE PHRASE</a:t>
            </a:r>
          </a:p>
        </p:txBody>
      </p:sp>
      <p:sp>
        <p:nvSpPr>
          <p:cNvPr id="9" name="">
            <a:extLst xmlns:a="http://schemas.openxmlformats.org/drawingml/2006/main">
              <a:ext uri="{FF2B5EF4-FFF2-40B4-BE49-F238E27FC236}">
                <a16:creationId xmlns:a16="http://schemas.microsoft.com/office/drawing/2014/main" id="{40A7E0D9-23E2-4318-BC45-6E914E88478A}"/>
              </a:ext>
            </a:extLst>
          </p:cNvPr>
          <p:cNvSpPr>
            <a:spLocks xmlns:a="http://schemas.openxmlformats.org/drawingml/2006/main" noGrp="1"/>
          </p:cNvSpPr>
          <p:nvPr/>
        </p:nvSpPr>
        <p:spPr>
          <a:xfrm xmlns:a="http://schemas.openxmlformats.org/drawingml/2006/main">
            <a:off x="514350" y="2200275"/>
            <a:ext cx="2000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Trust</a:t>
            </a:r>
          </a:p>
        </p:txBody>
      </p:sp>
      <p:sp>
        <p:nvSpPr>
          <p:cNvPr id="10" name="">
            <a:extLst xmlns:a="http://schemas.openxmlformats.org/drawingml/2006/main">
              <a:ext uri="{FF2B5EF4-FFF2-40B4-BE49-F238E27FC236}">
                <a16:creationId xmlns:a16="http://schemas.microsoft.com/office/drawing/2014/main" id="{1411A986-5DF8-47C7-8680-E26CD70B4C70}"/>
              </a:ext>
            </a:extLst>
          </p:cNvPr>
          <p:cNvSpPr>
            <a:spLocks xmlns:a="http://schemas.openxmlformats.org/drawingml/2006/main" noGrp="1"/>
          </p:cNvSpPr>
          <p:nvPr/>
        </p:nvSpPr>
        <p:spPr>
          <a:xfrm xmlns:a="http://schemas.openxmlformats.org/drawingml/2006/main">
            <a:off x="2667000" y="2200275"/>
            <a:ext cx="33337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Familiar person or brand</a:t>
            </a:r>
          </a:p>
        </p:txBody>
      </p:sp>
      <p:sp>
        <p:nvSpPr>
          <p:cNvPr id="11" name="">
            <a:extLst xmlns:a="http://schemas.openxmlformats.org/drawingml/2006/main">
              <a:ext uri="{FF2B5EF4-FFF2-40B4-BE49-F238E27FC236}">
                <a16:creationId xmlns:a16="http://schemas.microsoft.com/office/drawing/2014/main" id="{65B0AECA-D41B-46EF-9333-D976649B403F}"/>
              </a:ext>
            </a:extLst>
          </p:cNvPr>
          <p:cNvSpPr>
            <a:spLocks xmlns:a="http://schemas.openxmlformats.org/drawingml/2006/main" noGrp="1"/>
          </p:cNvSpPr>
          <p:nvPr/>
        </p:nvSpPr>
        <p:spPr>
          <a:xfrm xmlns:a="http://schemas.openxmlformats.org/drawingml/2006/main">
            <a:off x="6191250" y="2200275"/>
            <a:ext cx="5048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I am calling from your IT team</a:t>
            </a:r>
          </a:p>
        </p:txBody>
      </p:sp>
      <p:sp>
        <p:nvSpPr>
          <p:cNvPr id="12" name="">
            <a:extLst xmlns:a="http://schemas.openxmlformats.org/drawingml/2006/main">
              <a:ext uri="{FF2B5EF4-FFF2-40B4-BE49-F238E27FC236}">
                <a16:creationId xmlns:a16="http://schemas.microsoft.com/office/drawing/2014/main" id="{1A513EF6-6EC9-47FD-88F5-84611BB1AE6A}"/>
              </a:ext>
            </a:extLst>
          </p:cNvPr>
          <p:cNvSpPr>
            <a:spLocks xmlns:a="http://schemas.openxmlformats.org/drawingml/2006/main" noGrp="1"/>
          </p:cNvSpPr>
          <p:nvPr/>
        </p:nvSpPr>
        <p:spPr>
          <a:xfrm xmlns:a="http://schemas.openxmlformats.org/drawingml/2006/main">
            <a:off x="514350" y="2752725"/>
            <a:ext cx="2000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Fear</a:t>
            </a:r>
          </a:p>
        </p:txBody>
      </p:sp>
      <p:sp>
        <p:nvSpPr>
          <p:cNvPr id="13" name="">
            <a:extLst xmlns:a="http://schemas.openxmlformats.org/drawingml/2006/main">
              <a:ext uri="{FF2B5EF4-FFF2-40B4-BE49-F238E27FC236}">
                <a16:creationId xmlns:a16="http://schemas.microsoft.com/office/drawing/2014/main" id="{6E164951-54BA-4AE0-B545-9B22A2330B9D}"/>
              </a:ext>
            </a:extLst>
          </p:cNvPr>
          <p:cNvSpPr>
            <a:spLocks xmlns:a="http://schemas.openxmlformats.org/drawingml/2006/main" noGrp="1"/>
          </p:cNvSpPr>
          <p:nvPr/>
        </p:nvSpPr>
        <p:spPr>
          <a:xfrm xmlns:a="http://schemas.openxmlformats.org/drawingml/2006/main">
            <a:off x="2667000" y="2752725"/>
            <a:ext cx="33337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Threat of loss or punishment</a:t>
            </a:r>
          </a:p>
        </p:txBody>
      </p:sp>
      <p:sp>
        <p:nvSpPr>
          <p:cNvPr id="14" name="">
            <a:extLst xmlns:a="http://schemas.openxmlformats.org/drawingml/2006/main">
              <a:ext uri="{FF2B5EF4-FFF2-40B4-BE49-F238E27FC236}">
                <a16:creationId xmlns:a16="http://schemas.microsoft.com/office/drawing/2014/main" id="{F16B5F2E-835A-4448-A440-2117E5404C74}"/>
              </a:ext>
            </a:extLst>
          </p:cNvPr>
          <p:cNvSpPr>
            <a:spLocks xmlns:a="http://schemas.openxmlformats.org/drawingml/2006/main" noGrp="1"/>
          </p:cNvSpPr>
          <p:nvPr/>
        </p:nvSpPr>
        <p:spPr>
          <a:xfrm xmlns:a="http://schemas.openxmlformats.org/drawingml/2006/main">
            <a:off x="6191250" y="2752725"/>
            <a:ext cx="5048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Your account will be blocked</a:t>
            </a:r>
          </a:p>
        </p:txBody>
      </p:sp>
      <p:sp>
        <p:nvSpPr>
          <p:cNvPr id="15" name="">
            <a:extLst xmlns:a="http://schemas.openxmlformats.org/drawingml/2006/main">
              <a:ext uri="{FF2B5EF4-FFF2-40B4-BE49-F238E27FC236}">
                <a16:creationId xmlns:a16="http://schemas.microsoft.com/office/drawing/2014/main" id="{E8440BDF-6151-4BCB-845D-518526D7F10D}"/>
              </a:ext>
            </a:extLst>
          </p:cNvPr>
          <p:cNvSpPr>
            <a:spLocks xmlns:a="http://schemas.openxmlformats.org/drawingml/2006/main" noGrp="1"/>
          </p:cNvSpPr>
          <p:nvPr/>
        </p:nvSpPr>
        <p:spPr>
          <a:xfrm xmlns:a="http://schemas.openxmlformats.org/drawingml/2006/main">
            <a:off x="514350" y="3305175"/>
            <a:ext cx="2000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Curiosity</a:t>
            </a:r>
          </a:p>
        </p:txBody>
      </p:sp>
      <p:sp>
        <p:nvSpPr>
          <p:cNvPr id="16" name="">
            <a:extLst xmlns:a="http://schemas.openxmlformats.org/drawingml/2006/main">
              <a:ext uri="{FF2B5EF4-FFF2-40B4-BE49-F238E27FC236}">
                <a16:creationId xmlns:a16="http://schemas.microsoft.com/office/drawing/2014/main" id="{E7702B36-7E1D-414E-8AA4-4D0D83764390}"/>
              </a:ext>
            </a:extLst>
          </p:cNvPr>
          <p:cNvSpPr>
            <a:spLocks xmlns:a="http://schemas.openxmlformats.org/drawingml/2006/main" noGrp="1"/>
          </p:cNvSpPr>
          <p:nvPr/>
        </p:nvSpPr>
        <p:spPr>
          <a:xfrm xmlns:a="http://schemas.openxmlformats.org/drawingml/2006/main">
            <a:off x="2667000" y="3305175"/>
            <a:ext cx="33337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98827"/>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Interesting or confidential content</a:t>
            </a:r>
          </a:p>
        </p:txBody>
      </p:sp>
      <p:sp>
        <p:nvSpPr>
          <p:cNvPr id="17" name="">
            <a:extLst xmlns:a="http://schemas.openxmlformats.org/drawingml/2006/main">
              <a:ext uri="{FF2B5EF4-FFF2-40B4-BE49-F238E27FC236}">
                <a16:creationId xmlns:a16="http://schemas.microsoft.com/office/drawing/2014/main" id="{92C79FF3-8B70-4E28-AE9E-DC9C8C123A23}"/>
              </a:ext>
            </a:extLst>
          </p:cNvPr>
          <p:cNvSpPr>
            <a:spLocks xmlns:a="http://schemas.openxmlformats.org/drawingml/2006/main" noGrp="1"/>
          </p:cNvSpPr>
          <p:nvPr/>
        </p:nvSpPr>
        <p:spPr>
          <a:xfrm xmlns:a="http://schemas.openxmlformats.org/drawingml/2006/main">
            <a:off x="6191250" y="3305175"/>
            <a:ext cx="5048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View the salary list</a:t>
            </a:r>
          </a:p>
        </p:txBody>
      </p:sp>
      <p:sp>
        <p:nvSpPr>
          <p:cNvPr id="18" name="">
            <a:extLst xmlns:a="http://schemas.openxmlformats.org/drawingml/2006/main">
              <a:ext uri="{FF2B5EF4-FFF2-40B4-BE49-F238E27FC236}">
                <a16:creationId xmlns:a16="http://schemas.microsoft.com/office/drawing/2014/main" id="{37763D60-22B8-404C-A40D-EC9C73F609E1}"/>
              </a:ext>
            </a:extLst>
          </p:cNvPr>
          <p:cNvSpPr>
            <a:spLocks xmlns:a="http://schemas.openxmlformats.org/drawingml/2006/main" noGrp="1"/>
          </p:cNvSpPr>
          <p:nvPr/>
        </p:nvSpPr>
        <p:spPr>
          <a:xfrm xmlns:a="http://schemas.openxmlformats.org/drawingml/2006/main">
            <a:off x="514350" y="3857625"/>
            <a:ext cx="2000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Helpfulness</a:t>
            </a:r>
          </a:p>
        </p:txBody>
      </p:sp>
      <p:sp>
        <p:nvSpPr>
          <p:cNvPr id="19" name="">
            <a:extLst xmlns:a="http://schemas.openxmlformats.org/drawingml/2006/main">
              <a:ext uri="{FF2B5EF4-FFF2-40B4-BE49-F238E27FC236}">
                <a16:creationId xmlns:a16="http://schemas.microsoft.com/office/drawing/2014/main" id="{CD306A52-F405-4A8A-893A-BD82764862A3}"/>
              </a:ext>
            </a:extLst>
          </p:cNvPr>
          <p:cNvSpPr>
            <a:spLocks xmlns:a="http://schemas.openxmlformats.org/drawingml/2006/main" noGrp="1"/>
          </p:cNvSpPr>
          <p:nvPr/>
        </p:nvSpPr>
        <p:spPr>
          <a:xfrm xmlns:a="http://schemas.openxmlformats.org/drawingml/2006/main">
            <a:off x="2667000" y="3857625"/>
            <a:ext cx="33337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Request for assistance</a:t>
            </a:r>
          </a:p>
        </p:txBody>
      </p:sp>
      <p:sp>
        <p:nvSpPr>
          <p:cNvPr id="20" name="">
            <a:extLst xmlns:a="http://schemas.openxmlformats.org/drawingml/2006/main">
              <a:ext uri="{FF2B5EF4-FFF2-40B4-BE49-F238E27FC236}">
                <a16:creationId xmlns:a16="http://schemas.microsoft.com/office/drawing/2014/main" id="{2045748A-67C2-426A-AE19-DABC2EF586C4}"/>
              </a:ext>
            </a:extLst>
          </p:cNvPr>
          <p:cNvSpPr>
            <a:spLocks xmlns:a="http://schemas.openxmlformats.org/drawingml/2006/main" noGrp="1"/>
          </p:cNvSpPr>
          <p:nvPr/>
        </p:nvSpPr>
        <p:spPr>
          <a:xfrm xmlns:a="http://schemas.openxmlformats.org/drawingml/2006/main">
            <a:off x="6191250" y="3857625"/>
            <a:ext cx="5048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I am new and cannot access the system</a:t>
            </a:r>
          </a:p>
        </p:txBody>
      </p:sp>
      <p:sp>
        <p:nvSpPr>
          <p:cNvPr id="21" name="">
            <a:extLst xmlns:a="http://schemas.openxmlformats.org/drawingml/2006/main">
              <a:ext uri="{FF2B5EF4-FFF2-40B4-BE49-F238E27FC236}">
                <a16:creationId xmlns:a16="http://schemas.microsoft.com/office/drawing/2014/main" id="{0C2E194D-67C9-41E7-9828-0884AC8DC7E9}"/>
              </a:ext>
            </a:extLst>
          </p:cNvPr>
          <p:cNvSpPr>
            <a:spLocks xmlns:a="http://schemas.openxmlformats.org/drawingml/2006/main" noGrp="1"/>
          </p:cNvSpPr>
          <p:nvPr/>
        </p:nvSpPr>
        <p:spPr>
          <a:xfrm xmlns:a="http://schemas.openxmlformats.org/drawingml/2006/main">
            <a:off x="514350" y="4410075"/>
            <a:ext cx="2000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Reward</a:t>
            </a:r>
          </a:p>
        </p:txBody>
      </p:sp>
      <p:sp>
        <p:nvSpPr>
          <p:cNvPr id="22" name="">
            <a:extLst xmlns:a="http://schemas.openxmlformats.org/drawingml/2006/main">
              <a:ext uri="{FF2B5EF4-FFF2-40B4-BE49-F238E27FC236}">
                <a16:creationId xmlns:a16="http://schemas.microsoft.com/office/drawing/2014/main" id="{FE4F4E09-330B-4BBD-92ED-995B2B55602F}"/>
              </a:ext>
            </a:extLst>
          </p:cNvPr>
          <p:cNvSpPr>
            <a:spLocks xmlns:a="http://schemas.openxmlformats.org/drawingml/2006/main" noGrp="1"/>
          </p:cNvSpPr>
          <p:nvPr/>
        </p:nvSpPr>
        <p:spPr>
          <a:xfrm xmlns:a="http://schemas.openxmlformats.org/drawingml/2006/main">
            <a:off x="2667000" y="4410075"/>
            <a:ext cx="33337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Promise of benefit</a:t>
            </a:r>
          </a:p>
        </p:txBody>
      </p:sp>
      <p:sp>
        <p:nvSpPr>
          <p:cNvPr id="23" name="">
            <a:extLst xmlns:a="http://schemas.openxmlformats.org/drawingml/2006/main">
              <a:ext uri="{FF2B5EF4-FFF2-40B4-BE49-F238E27FC236}">
                <a16:creationId xmlns:a16="http://schemas.microsoft.com/office/drawing/2014/main" id="{777EDB9E-AB90-48C9-96BF-146C4CCB7912}"/>
              </a:ext>
            </a:extLst>
          </p:cNvPr>
          <p:cNvSpPr>
            <a:spLocks xmlns:a="http://schemas.openxmlformats.org/drawingml/2006/main" noGrp="1"/>
          </p:cNvSpPr>
          <p:nvPr/>
        </p:nvSpPr>
        <p:spPr>
          <a:xfrm xmlns:a="http://schemas.openxmlformats.org/drawingml/2006/main">
            <a:off x="6191250" y="4410075"/>
            <a:ext cx="5048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You won a prize</a:t>
            </a:r>
          </a:p>
        </p:txBody>
      </p:sp>
    </p:spTree>
    <p:extLst>
      <p:ext uri="{BB962C8B-B14F-4D97-AF65-F5344CB8AC3E}">
        <p14:creationId xmlns:p14="http://schemas.microsoft.com/office/powerpoint/2010/main" val="432594438"/>
      </p:ext>
    </p:extLst>
  </p:cSld>
</p:sld>
</file>

<file path=ppt/slides/slide3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754882A-6DFA-4700-A7D7-FF22C085525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9F46B1-8192-42B2-8F8D-D22684F02CA0}"/>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SOCIAL ENGINEERING</a:t>
            </a:r>
          </a:p>
        </p:txBody>
      </p:sp>
      <p:sp>
        <p:nvSpPr>
          <p:cNvPr id="3" name="">
            <a:extLst xmlns:a="http://schemas.openxmlformats.org/drawingml/2006/main">
              <a:ext uri="{FF2B5EF4-FFF2-40B4-BE49-F238E27FC236}">
                <a16:creationId xmlns:a16="http://schemas.microsoft.com/office/drawing/2014/main" id="{BE873E6C-0F5B-4DBD-90CB-6126DCF4A269}"/>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32</a:t>
            </a:r>
          </a:p>
        </p:txBody>
      </p:sp>
      <p:sp>
        <p:nvSpPr>
          <p:cNvPr id="4" name="">
            <a:extLst xmlns:a="http://schemas.openxmlformats.org/drawingml/2006/main">
              <a:ext uri="{FF2B5EF4-FFF2-40B4-BE49-F238E27FC236}">
                <a16:creationId xmlns:a16="http://schemas.microsoft.com/office/drawing/2014/main" id="{36083576-ED77-479B-9054-D76DAE54D3AF}"/>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3E5205-7AEB-41B6-89F8-F03393DFD659}"/>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Impersonation and pretexting</a:t>
            </a:r>
          </a:p>
        </p:txBody>
      </p:sp>
      <p:sp>
        <p:nvSpPr>
          <p:cNvPr id="6" name="">
            <a:extLst xmlns:a="http://schemas.openxmlformats.org/drawingml/2006/main">
              <a:ext uri="{FF2B5EF4-FFF2-40B4-BE49-F238E27FC236}">
                <a16:creationId xmlns:a16="http://schemas.microsoft.com/office/drawing/2014/main" id="{B9932989-A5B8-4403-88AB-10345588497A}"/>
              </a:ext>
            </a:extLst>
          </p:cNvPr>
          <p:cNvSpPr>
            <a:spLocks xmlns:a="http://schemas.openxmlformats.org/drawingml/2006/main" noGrp="1"/>
          </p:cNvSpPr>
          <p:nvPr/>
        </p:nvSpPr>
        <p:spPr>
          <a:xfrm xmlns:a="http://schemas.openxmlformats.org/drawingml/2006/main">
            <a:off x="49530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D625AEBA-0DC8-4194-8E64-7844407F48EE}"/>
              </a:ext>
            </a:extLst>
          </p:cNvPr>
          <p:cNvSpPr>
            <a:spLocks xmlns:a="http://schemas.openxmlformats.org/drawingml/2006/main" noGrp="1"/>
          </p:cNvSpPr>
          <p:nvPr/>
        </p:nvSpPr>
        <p:spPr>
          <a:xfrm xmlns:a="http://schemas.openxmlformats.org/drawingml/2006/main">
            <a:off x="596265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8" name="">
            <a:extLst xmlns:a="http://schemas.openxmlformats.org/drawingml/2006/main">
              <a:ext uri="{FF2B5EF4-FFF2-40B4-BE49-F238E27FC236}">
                <a16:creationId xmlns:a16="http://schemas.microsoft.com/office/drawing/2014/main" id="{4DB58726-52E9-464E-AF01-DAFC746B9B02}"/>
              </a:ext>
            </a:extLst>
          </p:cNvPr>
          <p:cNvSpPr>
            <a:spLocks xmlns:a="http://schemas.openxmlformats.org/drawingml/2006/main" noGrp="1"/>
          </p:cNvSpPr>
          <p:nvPr/>
        </p:nvSpPr>
        <p:spPr>
          <a:xfrm xmlns:a="http://schemas.openxmlformats.org/drawingml/2006/main">
            <a:off x="74295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2F80ED"/>
                </a:solidFill>
                <a:latin typeface="DejaVu Sans"/>
                <a:ea typeface="DejaVu Sans"/>
                <a:cs typeface="DejaVu Sans"/>
              </a:defRPr>
            </a:pPr>
            <a:r>
              <a:rPr sz="2025" b="1">
                <a:solidFill>
                  <a:srgbClr val="2F80ED"/>
                </a:solidFill>
                <a:latin typeface="DejaVu Sans"/>
                <a:ea typeface="DejaVu Sans"/>
                <a:cs typeface="DejaVu Sans"/>
              </a:rPr>
              <a:t>Impersonation</a:t>
            </a:r>
          </a:p>
        </p:txBody>
      </p:sp>
      <p:sp>
        <p:nvSpPr>
          <p:cNvPr id="9" name="">
            <a:extLst xmlns:a="http://schemas.openxmlformats.org/drawingml/2006/main">
              <a:ext uri="{FF2B5EF4-FFF2-40B4-BE49-F238E27FC236}">
                <a16:creationId xmlns:a16="http://schemas.microsoft.com/office/drawing/2014/main" id="{32D4991A-91A8-48E7-803B-80CD67BE6A6E}"/>
              </a:ext>
            </a:extLst>
          </p:cNvPr>
          <p:cNvSpPr>
            <a:spLocks xmlns:a="http://schemas.openxmlformats.org/drawingml/2006/main" noGrp="1"/>
          </p:cNvSpPr>
          <p:nvPr/>
        </p:nvSpPr>
        <p:spPr>
          <a:xfrm xmlns:a="http://schemas.openxmlformats.org/drawingml/2006/main">
            <a:off x="621030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FF8A34"/>
                </a:solidFill>
                <a:latin typeface="DejaVu Sans"/>
                <a:ea typeface="DejaVu Sans"/>
                <a:cs typeface="DejaVu Sans"/>
              </a:defRPr>
            </a:pPr>
            <a:r>
              <a:rPr sz="2025" b="1">
                <a:solidFill>
                  <a:srgbClr val="FF8A34"/>
                </a:solidFill>
                <a:latin typeface="DejaVu Sans"/>
                <a:ea typeface="DejaVu Sans"/>
                <a:cs typeface="DejaVu Sans"/>
              </a:rPr>
              <a:t>Pretexting</a:t>
            </a:r>
          </a:p>
        </p:txBody>
      </p:sp>
      <p:sp>
        <p:nvSpPr>
          <p:cNvPr id="10" name="">
            <a:extLst xmlns:a="http://schemas.openxmlformats.org/drawingml/2006/main">
              <a:ext uri="{FF2B5EF4-FFF2-40B4-BE49-F238E27FC236}">
                <a16:creationId xmlns:a16="http://schemas.microsoft.com/office/drawing/2014/main" id="{0DED31E7-401B-48D4-BF70-8289ED2147ED}"/>
              </a:ext>
            </a:extLst>
          </p:cNvPr>
          <p:cNvSpPr>
            <a:spLocks xmlns:a="http://schemas.openxmlformats.org/drawingml/2006/main" noGrp="1"/>
          </p:cNvSpPr>
          <p:nvPr/>
        </p:nvSpPr>
        <p:spPr>
          <a:xfrm xmlns:a="http://schemas.openxmlformats.org/drawingml/2006/main">
            <a:off x="714375"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575" b="0">
                <a:solidFill>
                  <a:srgbClr val="183247"/>
                </a:solidFill>
                <a:latin typeface="DejaVu Sans"/>
                <a:ea typeface="DejaVu Sans"/>
                <a:cs typeface="DejaVu Sans"/>
              </a:defRPr>
            </a:pPr>
            <a:r>
              <a:rPr sz="1575" b="0">
                <a:solidFill>
                  <a:srgbClr val="183247"/>
                </a:solidFill>
                <a:latin typeface="DejaVu Sans"/>
                <a:ea typeface="DejaVu Sans"/>
                <a:cs typeface="DejaVu Sans"/>
              </a:rPr>
              <a:t>Pretending to be a trusted person or organization</a:t>
            </a:r>
          </a:p>
          <a:p xmlns:a="http://schemas.openxmlformats.org/drawingml/2006/main">
            <a:pPr marL="241300" indent="-114300" algn="l">
              <a:spcAft>
                <a:spcPts val="1100"/>
              </a:spcAft>
              <a:buChar char="•"/>
              <a:defRPr sz="1575" b="0">
                <a:solidFill>
                  <a:srgbClr val="183247"/>
                </a:solidFill>
                <a:latin typeface="DejaVu Sans"/>
                <a:ea typeface="DejaVu Sans"/>
                <a:cs typeface="DejaVu Sans"/>
              </a:defRPr>
            </a:pPr>
            <a:r>
              <a:rPr sz="1575" b="0">
                <a:solidFill>
                  <a:srgbClr val="183247"/>
                </a:solidFill>
                <a:latin typeface="DejaVu Sans"/>
                <a:ea typeface="DejaVu Sans"/>
                <a:cs typeface="DejaVu Sans"/>
              </a:rPr>
              <a:t>Examples: IT support, bank, supplier or senior manager</a:t>
            </a:r>
          </a:p>
          <a:p xmlns:a="http://schemas.openxmlformats.org/drawingml/2006/main">
            <a:pPr marL="241300" indent="-114300" algn="l">
              <a:spcAft>
                <a:spcPts val="1100"/>
              </a:spcAft>
              <a:buChar char="•"/>
              <a:defRPr sz="1575" b="0">
                <a:solidFill>
                  <a:srgbClr val="183247"/>
                </a:solidFill>
                <a:latin typeface="DejaVu Sans"/>
                <a:ea typeface="DejaVu Sans"/>
                <a:cs typeface="DejaVu Sans"/>
              </a:defRPr>
            </a:pPr>
            <a:r>
              <a:rPr sz="1575" b="0">
                <a:solidFill>
                  <a:srgbClr val="183247"/>
                </a:solidFill>
                <a:latin typeface="DejaVu Sans"/>
                <a:ea typeface="DejaVu Sans"/>
                <a:cs typeface="DejaVu Sans"/>
              </a:rPr>
              <a:t>The attacker borrows the authority of the claimed identity</a:t>
            </a:r>
          </a:p>
          <a:p xmlns:a="http://schemas.openxmlformats.org/drawingml/2006/main">
            <a:pPr marL="241300" indent="-114300" algn="l">
              <a:spcAft>
                <a:spcPts val="1100"/>
              </a:spcAft>
              <a:buChar char="•"/>
              <a:defRPr sz="1575" b="0">
                <a:solidFill>
                  <a:srgbClr val="183247"/>
                </a:solidFill>
                <a:latin typeface="DejaVu Sans"/>
                <a:ea typeface="DejaVu Sans"/>
                <a:cs typeface="DejaVu Sans"/>
              </a:defRPr>
            </a:pPr>
            <a:r>
              <a:rPr sz="1575" b="0">
                <a:solidFill>
                  <a:srgbClr val="183247"/>
                </a:solidFill>
                <a:latin typeface="DejaVu Sans"/>
                <a:ea typeface="DejaVu Sans"/>
                <a:cs typeface="DejaVu Sans"/>
              </a:rPr>
              <a:t>Verification focuses on who is making the request</a:t>
            </a:r>
          </a:p>
        </p:txBody>
      </p:sp>
      <p:sp>
        <p:nvSpPr>
          <p:cNvPr id="11" name="">
            <a:extLst xmlns:a="http://schemas.openxmlformats.org/drawingml/2006/main">
              <a:ext uri="{FF2B5EF4-FFF2-40B4-BE49-F238E27FC236}">
                <a16:creationId xmlns:a16="http://schemas.microsoft.com/office/drawing/2014/main" id="{173A7009-C28C-498D-9962-BC58ED283B61}"/>
              </a:ext>
            </a:extLst>
          </p:cNvPr>
          <p:cNvSpPr>
            <a:spLocks xmlns:a="http://schemas.openxmlformats.org/drawingml/2006/main" noGrp="1"/>
          </p:cNvSpPr>
          <p:nvPr/>
        </p:nvSpPr>
        <p:spPr>
          <a:xfrm xmlns:a="http://schemas.openxmlformats.org/drawingml/2006/main">
            <a:off x="6191250"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575" b="0">
                <a:solidFill>
                  <a:srgbClr val="183247"/>
                </a:solidFill>
                <a:latin typeface="DejaVu Sans"/>
                <a:ea typeface="DejaVu Sans"/>
                <a:cs typeface="DejaVu Sans"/>
              </a:defRPr>
            </a:pPr>
            <a:r>
              <a:rPr sz="1575" b="0">
                <a:solidFill>
                  <a:srgbClr val="183247"/>
                </a:solidFill>
                <a:latin typeface="DejaVu Sans"/>
                <a:ea typeface="DejaVu Sans"/>
                <a:cs typeface="DejaVu Sans"/>
              </a:rPr>
              <a:t>Creating a believable false story</a:t>
            </a:r>
          </a:p>
          <a:p xmlns:a="http://schemas.openxmlformats.org/drawingml/2006/main">
            <a:pPr marL="241300" indent="-114300" algn="l">
              <a:spcAft>
                <a:spcPts val="1100"/>
              </a:spcAft>
              <a:buChar char="•"/>
              <a:defRPr sz="1575" b="0">
                <a:solidFill>
                  <a:srgbClr val="183247"/>
                </a:solidFill>
                <a:latin typeface="DejaVu Sans"/>
                <a:ea typeface="DejaVu Sans"/>
                <a:cs typeface="DejaVu Sans"/>
              </a:defRPr>
            </a:pPr>
            <a:r>
              <a:rPr sz="1575" b="0">
                <a:solidFill>
                  <a:srgbClr val="183247"/>
                </a:solidFill>
                <a:latin typeface="DejaVu Sans"/>
                <a:ea typeface="DejaVu Sans"/>
                <a:cs typeface="DejaVu Sans"/>
              </a:rPr>
              <a:t>Examples: licence renewal, emergency patient or audit</a:t>
            </a:r>
          </a:p>
          <a:p xmlns:a="http://schemas.openxmlformats.org/drawingml/2006/main">
            <a:pPr marL="241300" indent="-114300" algn="l">
              <a:spcAft>
                <a:spcPts val="1100"/>
              </a:spcAft>
              <a:buChar char="•"/>
              <a:defRPr sz="1575" b="0">
                <a:solidFill>
                  <a:srgbClr val="183247"/>
                </a:solidFill>
                <a:latin typeface="DejaVu Sans"/>
                <a:ea typeface="DejaVu Sans"/>
                <a:cs typeface="DejaVu Sans"/>
              </a:defRPr>
            </a:pPr>
            <a:r>
              <a:rPr sz="1575" b="0">
                <a:solidFill>
                  <a:srgbClr val="183247"/>
                </a:solidFill>
                <a:latin typeface="DejaVu Sans"/>
                <a:ea typeface="DejaVu Sans"/>
                <a:cs typeface="DejaVu Sans"/>
              </a:rPr>
              <a:t>The story explains why normal procedure should be bypassed</a:t>
            </a:r>
          </a:p>
          <a:p xmlns:a="http://schemas.openxmlformats.org/drawingml/2006/main">
            <a:pPr marL="241300" indent="-114300" algn="l">
              <a:spcAft>
                <a:spcPts val="1100"/>
              </a:spcAft>
              <a:buChar char="•"/>
              <a:defRPr sz="1575" b="0">
                <a:solidFill>
                  <a:srgbClr val="183247"/>
                </a:solidFill>
                <a:latin typeface="DejaVu Sans"/>
                <a:ea typeface="DejaVu Sans"/>
                <a:cs typeface="DejaVu Sans"/>
              </a:defRPr>
            </a:pPr>
            <a:r>
              <a:rPr sz="1575" b="0">
                <a:solidFill>
                  <a:srgbClr val="183247"/>
                </a:solidFill>
                <a:latin typeface="DejaVu Sans"/>
                <a:ea typeface="DejaVu Sans"/>
                <a:cs typeface="DejaVu Sans"/>
              </a:rPr>
              <a:t>Verification focuses on whether the situation is genuine</a:t>
            </a:r>
          </a:p>
        </p:txBody>
      </p:sp>
    </p:spTree>
    <p:extLst>
      <p:ext uri="{BB962C8B-B14F-4D97-AF65-F5344CB8AC3E}">
        <p14:creationId xmlns:p14="http://schemas.microsoft.com/office/powerpoint/2010/main" val="233115240"/>
      </p:ext>
    </p:extLst>
  </p:cSld>
</p:sld>
</file>

<file path=ppt/slides/slide3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606AB87-ED64-4FB2-97C7-4C44D344E8A9}"/>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DDFBD4-B187-4166-B70C-9AB6D584DB94}"/>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SOCIAL ENGINEERING</a:t>
            </a:r>
          </a:p>
        </p:txBody>
      </p:sp>
      <p:sp>
        <p:nvSpPr>
          <p:cNvPr id="3" name="">
            <a:extLst xmlns:a="http://schemas.openxmlformats.org/drawingml/2006/main">
              <a:ext uri="{FF2B5EF4-FFF2-40B4-BE49-F238E27FC236}">
                <a16:creationId xmlns:a16="http://schemas.microsoft.com/office/drawing/2014/main" id="{C935ABAC-F47C-4B1B-A4EB-35B9A909FB78}"/>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33</a:t>
            </a:r>
          </a:p>
        </p:txBody>
      </p:sp>
      <p:sp>
        <p:nvSpPr>
          <p:cNvPr id="4" name="">
            <a:extLst xmlns:a="http://schemas.openxmlformats.org/drawingml/2006/main">
              <a:ext uri="{FF2B5EF4-FFF2-40B4-BE49-F238E27FC236}">
                <a16:creationId xmlns:a16="http://schemas.microsoft.com/office/drawing/2014/main" id="{645E6890-7130-4EB6-83BC-E5778C3EAC07}"/>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45A5C27-7DB3-4763-8EFA-C995B6A02E4C}"/>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Authority and urgency</a:t>
            </a:r>
          </a:p>
        </p:txBody>
      </p:sp>
      <p:sp>
        <p:nvSpPr>
          <p:cNvPr id="6" name="">
            <a:extLst xmlns:a="http://schemas.openxmlformats.org/drawingml/2006/main">
              <a:ext uri="{FF2B5EF4-FFF2-40B4-BE49-F238E27FC236}">
                <a16:creationId xmlns:a16="http://schemas.microsoft.com/office/drawing/2014/main" id="{9CA7EA19-40ED-49DA-87FC-56DEE2E2D6CE}"/>
              </a:ext>
            </a:extLst>
          </p:cNvPr>
          <p:cNvSpPr>
            <a:spLocks xmlns:a="http://schemas.openxmlformats.org/drawingml/2006/main" noGrp="1"/>
          </p:cNvSpPr>
          <p:nvPr/>
        </p:nvSpPr>
        <p:spPr>
          <a:xfrm xmlns:a="http://schemas.openxmlformats.org/drawingml/2006/main">
            <a:off x="1143000" y="1619250"/>
            <a:ext cx="9906000" cy="838200"/>
          </a:xfrm>
          <a:prstGeom xmlns:a="http://schemas.openxmlformats.org/drawingml/2006/main" prst="rect">
            <a:avLst/>
          </a:prstGeom>
          <a:solidFill xmlns:a="http://schemas.openxmlformats.org/drawingml/2006/main">
            <a:srgbClr val="081A2E"/>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This is the Managing Director. Send the patient report within ten minutes. Do not involve anyone else.</a:t>
            </a:r>
          </a:p>
        </p:txBody>
      </p:sp>
      <p:sp>
        <p:nvSpPr>
          <p:cNvPr id="7" name="">
            <a:extLst xmlns:a="http://schemas.openxmlformats.org/drawingml/2006/main">
              <a:ext uri="{FF2B5EF4-FFF2-40B4-BE49-F238E27FC236}">
                <a16:creationId xmlns:a16="http://schemas.microsoft.com/office/drawing/2014/main" id="{47929514-7FCC-4BAC-A5B5-90A0DED536F3}"/>
              </a:ext>
            </a:extLst>
          </p:cNvPr>
          <p:cNvSpPr>
            <a:spLocks xmlns:a="http://schemas.openxmlformats.org/drawingml/2006/main" noGrp="1"/>
          </p:cNvSpPr>
          <p:nvPr/>
        </p:nvSpPr>
        <p:spPr>
          <a:xfrm xmlns:a="http://schemas.openxmlformats.org/drawingml/2006/main">
            <a:off x="495300" y="2857500"/>
            <a:ext cx="523875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8" name="">
            <a:extLst xmlns:a="http://schemas.openxmlformats.org/drawingml/2006/main">
              <a:ext uri="{FF2B5EF4-FFF2-40B4-BE49-F238E27FC236}">
                <a16:creationId xmlns:a16="http://schemas.microsoft.com/office/drawing/2014/main" id="{2597C2FF-8B7A-4324-B31C-2457AF6C8774}"/>
              </a:ext>
            </a:extLst>
          </p:cNvPr>
          <p:cNvSpPr>
            <a:spLocks xmlns:a="http://schemas.openxmlformats.org/drawingml/2006/main" noGrp="1"/>
          </p:cNvSpPr>
          <p:nvPr/>
        </p:nvSpPr>
        <p:spPr>
          <a:xfrm xmlns:a="http://schemas.openxmlformats.org/drawingml/2006/main">
            <a:off x="5962650" y="2857500"/>
            <a:ext cx="523875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9" name="">
            <a:extLst xmlns:a="http://schemas.openxmlformats.org/drawingml/2006/main">
              <a:ext uri="{FF2B5EF4-FFF2-40B4-BE49-F238E27FC236}">
                <a16:creationId xmlns:a16="http://schemas.microsoft.com/office/drawing/2014/main" id="{E046EFCD-F209-483E-9E62-AE776478E62A}"/>
              </a:ext>
            </a:extLst>
          </p:cNvPr>
          <p:cNvSpPr>
            <a:spLocks xmlns:a="http://schemas.openxmlformats.org/drawingml/2006/main" noGrp="1"/>
          </p:cNvSpPr>
          <p:nvPr/>
        </p:nvSpPr>
        <p:spPr>
          <a:xfrm xmlns:a="http://schemas.openxmlformats.org/drawingml/2006/main">
            <a:off x="742950" y="30480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2F80ED"/>
                </a:solidFill>
                <a:latin typeface="DejaVu Sans"/>
                <a:ea typeface="DejaVu Sans"/>
                <a:cs typeface="DejaVu Sans"/>
              </a:defRPr>
            </a:pPr>
            <a:r>
              <a:rPr sz="2025" b="1">
                <a:solidFill>
                  <a:srgbClr val="2F80ED"/>
                </a:solidFill>
                <a:latin typeface="DejaVu Sans"/>
                <a:ea typeface="DejaVu Sans"/>
                <a:cs typeface="DejaVu Sans"/>
              </a:rPr>
              <a:t>Authority signal</a:t>
            </a:r>
          </a:p>
        </p:txBody>
      </p:sp>
      <p:sp>
        <p:nvSpPr>
          <p:cNvPr id="10" name="">
            <a:extLst xmlns:a="http://schemas.openxmlformats.org/drawingml/2006/main">
              <a:ext uri="{FF2B5EF4-FFF2-40B4-BE49-F238E27FC236}">
                <a16:creationId xmlns:a16="http://schemas.microsoft.com/office/drawing/2014/main" id="{334AC623-D987-4EA4-8B53-DD19B19A2E3F}"/>
              </a:ext>
            </a:extLst>
          </p:cNvPr>
          <p:cNvSpPr>
            <a:spLocks xmlns:a="http://schemas.openxmlformats.org/drawingml/2006/main" noGrp="1"/>
          </p:cNvSpPr>
          <p:nvPr/>
        </p:nvSpPr>
        <p:spPr>
          <a:xfrm xmlns:a="http://schemas.openxmlformats.org/drawingml/2006/main">
            <a:off x="6210300" y="30480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FF8A34"/>
                </a:solidFill>
                <a:latin typeface="DejaVu Sans"/>
                <a:ea typeface="DejaVu Sans"/>
                <a:cs typeface="DejaVu Sans"/>
              </a:defRPr>
            </a:pPr>
            <a:r>
              <a:rPr sz="2025" b="1">
                <a:solidFill>
                  <a:srgbClr val="FF8A34"/>
                </a:solidFill>
                <a:latin typeface="DejaVu Sans"/>
                <a:ea typeface="DejaVu Sans"/>
                <a:cs typeface="DejaVu Sans"/>
              </a:rPr>
              <a:t>Urgency signal</a:t>
            </a:r>
          </a:p>
        </p:txBody>
      </p:sp>
      <p:sp>
        <p:nvSpPr>
          <p:cNvPr id="11" name="">
            <a:extLst xmlns:a="http://schemas.openxmlformats.org/drawingml/2006/main">
              <a:ext uri="{FF2B5EF4-FFF2-40B4-BE49-F238E27FC236}">
                <a16:creationId xmlns:a16="http://schemas.microsoft.com/office/drawing/2014/main" id="{8999E004-0246-4919-ADA6-68B3D43775B6}"/>
              </a:ext>
            </a:extLst>
          </p:cNvPr>
          <p:cNvSpPr>
            <a:spLocks xmlns:a="http://schemas.openxmlformats.org/drawingml/2006/main" noGrp="1"/>
          </p:cNvSpPr>
          <p:nvPr/>
        </p:nvSpPr>
        <p:spPr>
          <a:xfrm xmlns:a="http://schemas.openxmlformats.org/drawingml/2006/main">
            <a:off x="714375" y="363855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Senior title</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Expectation of obedience</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Threat of escalation</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Request to bypass approval</a:t>
            </a:r>
          </a:p>
        </p:txBody>
      </p:sp>
      <p:sp>
        <p:nvSpPr>
          <p:cNvPr id="12" name="">
            <a:extLst xmlns:a="http://schemas.openxmlformats.org/drawingml/2006/main">
              <a:ext uri="{FF2B5EF4-FFF2-40B4-BE49-F238E27FC236}">
                <a16:creationId xmlns:a16="http://schemas.microsoft.com/office/drawing/2014/main" id="{79A77728-B970-4B4C-B023-C91D82422589}"/>
              </a:ext>
            </a:extLst>
          </p:cNvPr>
          <p:cNvSpPr>
            <a:spLocks xmlns:a="http://schemas.openxmlformats.org/drawingml/2006/main" noGrp="1"/>
          </p:cNvSpPr>
          <p:nvPr/>
        </p:nvSpPr>
        <p:spPr>
          <a:xfrm xmlns:a="http://schemas.openxmlformats.org/drawingml/2006/main">
            <a:off x="6191250" y="363855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Short deadline</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Immediate consequence</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No time to verify</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Pressure to keep the request secret</a:t>
            </a:r>
          </a:p>
        </p:txBody>
      </p:sp>
    </p:spTree>
    <p:extLst>
      <p:ext uri="{BB962C8B-B14F-4D97-AF65-F5344CB8AC3E}">
        <p14:creationId xmlns:p14="http://schemas.microsoft.com/office/powerpoint/2010/main" val="1008828239"/>
      </p:ext>
    </p:extLst>
  </p:cSld>
</p:sld>
</file>

<file path=ppt/slides/slide3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7193364-5B1D-49D9-A328-8FF1A421EC6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DC7B1D-615B-43BB-A874-208E17EC28CD}"/>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SOCIAL ENGINEERING</a:t>
            </a:r>
          </a:p>
        </p:txBody>
      </p:sp>
      <p:sp>
        <p:nvSpPr>
          <p:cNvPr id="3" name="">
            <a:extLst xmlns:a="http://schemas.openxmlformats.org/drawingml/2006/main">
              <a:ext uri="{FF2B5EF4-FFF2-40B4-BE49-F238E27FC236}">
                <a16:creationId xmlns:a16="http://schemas.microsoft.com/office/drawing/2014/main" id="{B5063649-FB4A-49FF-92D0-A33E87A957BC}"/>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34</a:t>
            </a:r>
          </a:p>
        </p:txBody>
      </p:sp>
      <p:sp>
        <p:nvSpPr>
          <p:cNvPr id="4" name="">
            <a:extLst xmlns:a="http://schemas.openxmlformats.org/drawingml/2006/main">
              <a:ext uri="{FF2B5EF4-FFF2-40B4-BE49-F238E27FC236}">
                <a16:creationId xmlns:a16="http://schemas.microsoft.com/office/drawing/2014/main" id="{9A7CB0AC-1824-4E2F-BE23-C469E694ECEA}"/>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394C4E6-B809-431F-A158-FFEAA2DE0194}"/>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Emotional manipulation</a:t>
            </a:r>
          </a:p>
        </p:txBody>
      </p:sp>
      <p:sp>
        <p:nvSpPr>
          <p:cNvPr id="6" name="">
            <a:extLst xmlns:a="http://schemas.openxmlformats.org/drawingml/2006/main">
              <a:ext uri="{FF2B5EF4-FFF2-40B4-BE49-F238E27FC236}">
                <a16:creationId xmlns:a16="http://schemas.microsoft.com/office/drawing/2014/main" id="{14993841-94E4-4AE3-9C20-9B2C85204288}"/>
              </a:ext>
            </a:extLst>
          </p:cNvPr>
          <p:cNvSpPr>
            <a:spLocks xmlns:a="http://schemas.openxmlformats.org/drawingml/2006/main" noGrp="1"/>
          </p:cNvSpPr>
          <p:nvPr/>
        </p:nvSpPr>
        <p:spPr>
          <a:xfrm xmlns:a="http://schemas.openxmlformats.org/drawingml/2006/main">
            <a:off x="514350" y="1762125"/>
            <a:ext cx="2000250" cy="400050"/>
          </a:xfrm>
          <a:prstGeom xmlns:a="http://schemas.openxmlformats.org/drawingml/2006/main" prst="rect">
            <a:avLst/>
          </a:prstGeom>
          <a:solidFill xmlns:a="http://schemas.openxmlformats.org/drawingml/2006/main">
            <a:srgbClr val="081A2E"/>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EMOTION</a:t>
            </a:r>
          </a:p>
        </p:txBody>
      </p:sp>
      <p:sp>
        <p:nvSpPr>
          <p:cNvPr id="7" name="">
            <a:extLst xmlns:a="http://schemas.openxmlformats.org/drawingml/2006/main">
              <a:ext uri="{FF2B5EF4-FFF2-40B4-BE49-F238E27FC236}">
                <a16:creationId xmlns:a16="http://schemas.microsoft.com/office/drawing/2014/main" id="{9F519588-6F2E-48EC-81BB-58CE72648CB3}"/>
              </a:ext>
            </a:extLst>
          </p:cNvPr>
          <p:cNvSpPr>
            <a:spLocks xmlns:a="http://schemas.openxmlformats.org/drawingml/2006/main" noGrp="1"/>
          </p:cNvSpPr>
          <p:nvPr/>
        </p:nvSpPr>
        <p:spPr>
          <a:xfrm xmlns:a="http://schemas.openxmlformats.org/drawingml/2006/main">
            <a:off x="2667000" y="1762125"/>
            <a:ext cx="3333750" cy="400050"/>
          </a:xfrm>
          <a:prstGeom xmlns:a="http://schemas.openxmlformats.org/drawingml/2006/main" prst="rect">
            <a:avLst/>
          </a:prstGeom>
          <a:solidFill xmlns:a="http://schemas.openxmlformats.org/drawingml/2006/main">
            <a:srgbClr val="081A2E"/>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ATTACKER MESSAGE</a:t>
            </a:r>
          </a:p>
        </p:txBody>
      </p:sp>
      <p:sp>
        <p:nvSpPr>
          <p:cNvPr id="8" name="">
            <a:extLst xmlns:a="http://schemas.openxmlformats.org/drawingml/2006/main">
              <a:ext uri="{FF2B5EF4-FFF2-40B4-BE49-F238E27FC236}">
                <a16:creationId xmlns:a16="http://schemas.microsoft.com/office/drawing/2014/main" id="{50F28557-10F7-4903-B4FC-B99976CA3E1A}"/>
              </a:ext>
            </a:extLst>
          </p:cNvPr>
          <p:cNvSpPr>
            <a:spLocks xmlns:a="http://schemas.openxmlformats.org/drawingml/2006/main" noGrp="1"/>
          </p:cNvSpPr>
          <p:nvPr/>
        </p:nvSpPr>
        <p:spPr>
          <a:xfrm xmlns:a="http://schemas.openxmlformats.org/drawingml/2006/main">
            <a:off x="6191250" y="1762125"/>
            <a:ext cx="5048250" cy="400050"/>
          </a:xfrm>
          <a:prstGeom xmlns:a="http://schemas.openxmlformats.org/drawingml/2006/main" prst="rect">
            <a:avLst/>
          </a:prstGeom>
          <a:solidFill xmlns:a="http://schemas.openxmlformats.org/drawingml/2006/main">
            <a:srgbClr val="081A2E"/>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SAFE RESPONSE</a:t>
            </a:r>
          </a:p>
        </p:txBody>
      </p:sp>
      <p:sp>
        <p:nvSpPr>
          <p:cNvPr id="9" name="">
            <a:extLst xmlns:a="http://schemas.openxmlformats.org/drawingml/2006/main">
              <a:ext uri="{FF2B5EF4-FFF2-40B4-BE49-F238E27FC236}">
                <a16:creationId xmlns:a16="http://schemas.microsoft.com/office/drawing/2014/main" id="{992F2DEF-97CA-4FA2-89CB-2476FDDEB184}"/>
              </a:ext>
            </a:extLst>
          </p:cNvPr>
          <p:cNvSpPr>
            <a:spLocks xmlns:a="http://schemas.openxmlformats.org/drawingml/2006/main" noGrp="1"/>
          </p:cNvSpPr>
          <p:nvPr/>
        </p:nvSpPr>
        <p:spPr>
          <a:xfrm xmlns:a="http://schemas.openxmlformats.org/drawingml/2006/main">
            <a:off x="514350" y="2200275"/>
            <a:ext cx="2000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Fear</a:t>
            </a:r>
          </a:p>
        </p:txBody>
      </p:sp>
      <p:sp>
        <p:nvSpPr>
          <p:cNvPr id="10" name="">
            <a:extLst xmlns:a="http://schemas.openxmlformats.org/drawingml/2006/main">
              <a:ext uri="{FF2B5EF4-FFF2-40B4-BE49-F238E27FC236}">
                <a16:creationId xmlns:a16="http://schemas.microsoft.com/office/drawing/2014/main" id="{3A3853F3-F6D7-49AC-B7AB-8022F7FF9A05}"/>
              </a:ext>
            </a:extLst>
          </p:cNvPr>
          <p:cNvSpPr>
            <a:spLocks xmlns:a="http://schemas.openxmlformats.org/drawingml/2006/main" noGrp="1"/>
          </p:cNvSpPr>
          <p:nvPr/>
        </p:nvSpPr>
        <p:spPr>
          <a:xfrm xmlns:a="http://schemas.openxmlformats.org/drawingml/2006/main">
            <a:off x="2667000" y="2200275"/>
            <a:ext cx="33337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Account compromised</a:t>
            </a:r>
          </a:p>
        </p:txBody>
      </p:sp>
      <p:sp>
        <p:nvSpPr>
          <p:cNvPr id="11" name="">
            <a:extLst xmlns:a="http://schemas.openxmlformats.org/drawingml/2006/main">
              <a:ext uri="{FF2B5EF4-FFF2-40B4-BE49-F238E27FC236}">
                <a16:creationId xmlns:a16="http://schemas.microsoft.com/office/drawing/2014/main" id="{1DD9737E-001F-4327-B284-6E7120434202}"/>
              </a:ext>
            </a:extLst>
          </p:cNvPr>
          <p:cNvSpPr>
            <a:spLocks xmlns:a="http://schemas.openxmlformats.org/drawingml/2006/main" noGrp="1"/>
          </p:cNvSpPr>
          <p:nvPr/>
        </p:nvSpPr>
        <p:spPr>
          <a:xfrm xmlns:a="http://schemas.openxmlformats.org/drawingml/2006/main">
            <a:off x="6191250" y="2200275"/>
            <a:ext cx="5048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Pause and verify through the official channel</a:t>
            </a:r>
          </a:p>
        </p:txBody>
      </p:sp>
      <p:sp>
        <p:nvSpPr>
          <p:cNvPr id="12" name="">
            <a:extLst xmlns:a="http://schemas.openxmlformats.org/drawingml/2006/main">
              <a:ext uri="{FF2B5EF4-FFF2-40B4-BE49-F238E27FC236}">
                <a16:creationId xmlns:a16="http://schemas.microsoft.com/office/drawing/2014/main" id="{5FC4EE8D-19CA-45BA-A00A-4B2A5633DBC0}"/>
              </a:ext>
            </a:extLst>
          </p:cNvPr>
          <p:cNvSpPr>
            <a:spLocks xmlns:a="http://schemas.openxmlformats.org/drawingml/2006/main" noGrp="1"/>
          </p:cNvSpPr>
          <p:nvPr/>
        </p:nvSpPr>
        <p:spPr>
          <a:xfrm xmlns:a="http://schemas.openxmlformats.org/drawingml/2006/main">
            <a:off x="514350" y="2752725"/>
            <a:ext cx="2000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Sympathy</a:t>
            </a:r>
          </a:p>
        </p:txBody>
      </p:sp>
      <p:sp>
        <p:nvSpPr>
          <p:cNvPr id="13" name="">
            <a:extLst xmlns:a="http://schemas.openxmlformats.org/drawingml/2006/main">
              <a:ext uri="{FF2B5EF4-FFF2-40B4-BE49-F238E27FC236}">
                <a16:creationId xmlns:a16="http://schemas.microsoft.com/office/drawing/2014/main" id="{C7F8527F-7847-42AC-AB21-076E310A2239}"/>
              </a:ext>
            </a:extLst>
          </p:cNvPr>
          <p:cNvSpPr>
            <a:spLocks xmlns:a="http://schemas.openxmlformats.org/drawingml/2006/main" noGrp="1"/>
          </p:cNvSpPr>
          <p:nvPr/>
        </p:nvSpPr>
        <p:spPr>
          <a:xfrm xmlns:a="http://schemas.openxmlformats.org/drawingml/2006/main">
            <a:off x="2667000" y="2752725"/>
            <a:ext cx="33337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Help me or I may lose my job</a:t>
            </a:r>
          </a:p>
        </p:txBody>
      </p:sp>
      <p:sp>
        <p:nvSpPr>
          <p:cNvPr id="14" name="">
            <a:extLst xmlns:a="http://schemas.openxmlformats.org/drawingml/2006/main">
              <a:ext uri="{FF2B5EF4-FFF2-40B4-BE49-F238E27FC236}">
                <a16:creationId xmlns:a16="http://schemas.microsoft.com/office/drawing/2014/main" id="{9EC1DFE8-2B3E-4E45-B785-5DA601DC939E}"/>
              </a:ext>
            </a:extLst>
          </p:cNvPr>
          <p:cNvSpPr>
            <a:spLocks xmlns:a="http://schemas.openxmlformats.org/drawingml/2006/main" noGrp="1"/>
          </p:cNvSpPr>
          <p:nvPr/>
        </p:nvSpPr>
        <p:spPr>
          <a:xfrm xmlns:a="http://schemas.openxmlformats.org/drawingml/2006/main">
            <a:off x="6191250" y="2752725"/>
            <a:ext cx="5048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Follow access and identity procedures</a:t>
            </a:r>
          </a:p>
        </p:txBody>
      </p:sp>
      <p:sp>
        <p:nvSpPr>
          <p:cNvPr id="15" name="">
            <a:extLst xmlns:a="http://schemas.openxmlformats.org/drawingml/2006/main">
              <a:ext uri="{FF2B5EF4-FFF2-40B4-BE49-F238E27FC236}">
                <a16:creationId xmlns:a16="http://schemas.microsoft.com/office/drawing/2014/main" id="{B624D593-78E1-47D5-937F-EF199A8093E5}"/>
              </a:ext>
            </a:extLst>
          </p:cNvPr>
          <p:cNvSpPr>
            <a:spLocks xmlns:a="http://schemas.openxmlformats.org/drawingml/2006/main" noGrp="1"/>
          </p:cNvSpPr>
          <p:nvPr/>
        </p:nvSpPr>
        <p:spPr>
          <a:xfrm xmlns:a="http://schemas.openxmlformats.org/drawingml/2006/main">
            <a:off x="514350" y="3305175"/>
            <a:ext cx="2000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Excitement</a:t>
            </a:r>
          </a:p>
        </p:txBody>
      </p:sp>
      <p:sp>
        <p:nvSpPr>
          <p:cNvPr id="16" name="">
            <a:extLst xmlns:a="http://schemas.openxmlformats.org/drawingml/2006/main">
              <a:ext uri="{FF2B5EF4-FFF2-40B4-BE49-F238E27FC236}">
                <a16:creationId xmlns:a16="http://schemas.microsoft.com/office/drawing/2014/main" id="{CA4FDA79-4F68-440F-9E86-03B428FB42C1}"/>
              </a:ext>
            </a:extLst>
          </p:cNvPr>
          <p:cNvSpPr>
            <a:spLocks xmlns:a="http://schemas.openxmlformats.org/drawingml/2006/main" noGrp="1"/>
          </p:cNvSpPr>
          <p:nvPr/>
        </p:nvSpPr>
        <p:spPr>
          <a:xfrm xmlns:a="http://schemas.openxmlformats.org/drawingml/2006/main">
            <a:off x="2667000" y="3305175"/>
            <a:ext cx="33337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You have won a reward</a:t>
            </a:r>
          </a:p>
        </p:txBody>
      </p:sp>
      <p:sp>
        <p:nvSpPr>
          <p:cNvPr id="17" name="">
            <a:extLst xmlns:a="http://schemas.openxmlformats.org/drawingml/2006/main">
              <a:ext uri="{FF2B5EF4-FFF2-40B4-BE49-F238E27FC236}">
                <a16:creationId xmlns:a16="http://schemas.microsoft.com/office/drawing/2014/main" id="{54110060-C1E2-4591-97DB-05AC2473724B}"/>
              </a:ext>
            </a:extLst>
          </p:cNvPr>
          <p:cNvSpPr>
            <a:spLocks xmlns:a="http://schemas.openxmlformats.org/drawingml/2006/main" noGrp="1"/>
          </p:cNvSpPr>
          <p:nvPr/>
        </p:nvSpPr>
        <p:spPr>
          <a:xfrm xmlns:a="http://schemas.openxmlformats.org/drawingml/2006/main">
            <a:off x="6191250" y="3305175"/>
            <a:ext cx="5048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Confirm independently before responding</a:t>
            </a:r>
          </a:p>
        </p:txBody>
      </p:sp>
      <p:sp>
        <p:nvSpPr>
          <p:cNvPr id="18" name="">
            <a:extLst xmlns:a="http://schemas.openxmlformats.org/drawingml/2006/main">
              <a:ext uri="{FF2B5EF4-FFF2-40B4-BE49-F238E27FC236}">
                <a16:creationId xmlns:a16="http://schemas.microsoft.com/office/drawing/2014/main" id="{C2CFA182-FE69-413B-B925-BDDDBFE0C187}"/>
              </a:ext>
            </a:extLst>
          </p:cNvPr>
          <p:cNvSpPr>
            <a:spLocks xmlns:a="http://schemas.openxmlformats.org/drawingml/2006/main" noGrp="1"/>
          </p:cNvSpPr>
          <p:nvPr/>
        </p:nvSpPr>
        <p:spPr>
          <a:xfrm xmlns:a="http://schemas.openxmlformats.org/drawingml/2006/main">
            <a:off x="514350" y="3857625"/>
            <a:ext cx="2000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Guilt</a:t>
            </a:r>
          </a:p>
        </p:txBody>
      </p:sp>
      <p:sp>
        <p:nvSpPr>
          <p:cNvPr id="19" name="">
            <a:extLst xmlns:a="http://schemas.openxmlformats.org/drawingml/2006/main">
              <a:ext uri="{FF2B5EF4-FFF2-40B4-BE49-F238E27FC236}">
                <a16:creationId xmlns:a16="http://schemas.microsoft.com/office/drawing/2014/main" id="{0991F476-7C6A-4B17-AA76-00E877836686}"/>
              </a:ext>
            </a:extLst>
          </p:cNvPr>
          <p:cNvSpPr>
            <a:spLocks xmlns:a="http://schemas.openxmlformats.org/drawingml/2006/main" noGrp="1"/>
          </p:cNvSpPr>
          <p:nvPr/>
        </p:nvSpPr>
        <p:spPr>
          <a:xfrm xmlns:a="http://schemas.openxmlformats.org/drawingml/2006/main">
            <a:off x="2667000" y="3857625"/>
            <a:ext cx="33337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85152"/>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You are delaying an important payment</a:t>
            </a:r>
          </a:p>
        </p:txBody>
      </p:sp>
      <p:sp>
        <p:nvSpPr>
          <p:cNvPr id="20" name="">
            <a:extLst xmlns:a="http://schemas.openxmlformats.org/drawingml/2006/main">
              <a:ext uri="{FF2B5EF4-FFF2-40B4-BE49-F238E27FC236}">
                <a16:creationId xmlns:a16="http://schemas.microsoft.com/office/drawing/2014/main" id="{D0839AA3-3B17-4A46-9733-28AF21AB7886}"/>
              </a:ext>
            </a:extLst>
          </p:cNvPr>
          <p:cNvSpPr>
            <a:spLocks xmlns:a="http://schemas.openxmlformats.org/drawingml/2006/main" noGrp="1"/>
          </p:cNvSpPr>
          <p:nvPr/>
        </p:nvSpPr>
        <p:spPr>
          <a:xfrm xmlns:a="http://schemas.openxmlformats.org/drawingml/2006/main">
            <a:off x="6191250" y="3857625"/>
            <a:ext cx="5048250" cy="495300"/>
          </a:xfrm>
          <a:prstGeom xmlns:a="http://schemas.openxmlformats.org/drawingml/2006/main" prst="rect">
            <a:avLst/>
          </a:prstGeom>
          <a:solidFill xmlns:a="http://schemas.openxmlformats.org/drawingml/2006/main">
            <a:srgbClr val="EAF2F5"/>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Do not bypass approval controls</a:t>
            </a:r>
          </a:p>
        </p:txBody>
      </p:sp>
      <p:sp>
        <p:nvSpPr>
          <p:cNvPr id="21" name="">
            <a:extLst xmlns:a="http://schemas.openxmlformats.org/drawingml/2006/main">
              <a:ext uri="{FF2B5EF4-FFF2-40B4-BE49-F238E27FC236}">
                <a16:creationId xmlns:a16="http://schemas.microsoft.com/office/drawing/2014/main" id="{F9C0FCA3-FF94-4473-A395-A6364DC8024D}"/>
              </a:ext>
            </a:extLst>
          </p:cNvPr>
          <p:cNvSpPr>
            <a:spLocks xmlns:a="http://schemas.openxmlformats.org/drawingml/2006/main" noGrp="1"/>
          </p:cNvSpPr>
          <p:nvPr/>
        </p:nvSpPr>
        <p:spPr>
          <a:xfrm xmlns:a="http://schemas.openxmlformats.org/drawingml/2006/main">
            <a:off x="514350" y="4410075"/>
            <a:ext cx="2000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1">
                <a:solidFill>
                  <a:srgbClr val="183247"/>
                </a:solidFill>
                <a:latin typeface="DejaVu Sans"/>
                <a:ea typeface="DejaVu Sans"/>
                <a:cs typeface="DejaVu Sans"/>
              </a:defRPr>
            </a:pPr>
            <a:r>
              <a:rPr sz="1500" b="1">
                <a:solidFill>
                  <a:srgbClr val="183247"/>
                </a:solidFill>
                <a:latin typeface="DejaVu Sans"/>
                <a:ea typeface="DejaVu Sans"/>
                <a:cs typeface="DejaVu Sans"/>
              </a:rPr>
              <a:t>Curiosity</a:t>
            </a:r>
          </a:p>
        </p:txBody>
      </p:sp>
      <p:sp>
        <p:nvSpPr>
          <p:cNvPr id="22" name="">
            <a:extLst xmlns:a="http://schemas.openxmlformats.org/drawingml/2006/main">
              <a:ext uri="{FF2B5EF4-FFF2-40B4-BE49-F238E27FC236}">
                <a16:creationId xmlns:a16="http://schemas.microsoft.com/office/drawing/2014/main" id="{5E399448-DA60-46AD-967B-4E998031CE7F}"/>
              </a:ext>
            </a:extLst>
          </p:cNvPr>
          <p:cNvSpPr>
            <a:spLocks xmlns:a="http://schemas.openxmlformats.org/drawingml/2006/main" noGrp="1"/>
          </p:cNvSpPr>
          <p:nvPr/>
        </p:nvSpPr>
        <p:spPr>
          <a:xfrm xmlns:a="http://schemas.openxmlformats.org/drawingml/2006/main">
            <a:off x="2667000" y="4410075"/>
            <a:ext cx="33337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Confidential document attached</a:t>
            </a:r>
          </a:p>
        </p:txBody>
      </p:sp>
      <p:sp>
        <p:nvSpPr>
          <p:cNvPr id="23" name="">
            <a:extLst xmlns:a="http://schemas.openxmlformats.org/drawingml/2006/main">
              <a:ext uri="{FF2B5EF4-FFF2-40B4-BE49-F238E27FC236}">
                <a16:creationId xmlns:a16="http://schemas.microsoft.com/office/drawing/2014/main" id="{41A0C2D6-9CB8-49EC-BCDE-01E9F7F185C6}"/>
              </a:ext>
            </a:extLst>
          </p:cNvPr>
          <p:cNvSpPr>
            <a:spLocks xmlns:a="http://schemas.openxmlformats.org/drawingml/2006/main" noGrp="1"/>
          </p:cNvSpPr>
          <p:nvPr/>
        </p:nvSpPr>
        <p:spPr>
          <a:xfrm xmlns:a="http://schemas.openxmlformats.org/drawingml/2006/main">
            <a:off x="6191250" y="4410075"/>
            <a:ext cx="5048250" cy="4953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Do not open unexpected content</a:t>
            </a:r>
          </a:p>
        </p:txBody>
      </p:sp>
    </p:spTree>
    <p:extLst>
      <p:ext uri="{BB962C8B-B14F-4D97-AF65-F5344CB8AC3E}">
        <p14:creationId xmlns:p14="http://schemas.microsoft.com/office/powerpoint/2010/main" val="1417399754"/>
      </p:ext>
    </p:extLst>
  </p:cSld>
</p:sld>
</file>

<file path=ppt/slides/slide3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08C7AC5-65C6-4029-90AD-6ADE70C5030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D99734-1012-48E3-9D6B-AB1008FE5BB7}"/>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SOCIAL ENGINEERING</a:t>
            </a:r>
          </a:p>
        </p:txBody>
      </p:sp>
      <p:sp>
        <p:nvSpPr>
          <p:cNvPr id="3" name="">
            <a:extLst xmlns:a="http://schemas.openxmlformats.org/drawingml/2006/main">
              <a:ext uri="{FF2B5EF4-FFF2-40B4-BE49-F238E27FC236}">
                <a16:creationId xmlns:a16="http://schemas.microsoft.com/office/drawing/2014/main" id="{1D6CA6FF-F4FD-4721-87B5-0881A85C3D99}"/>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35</a:t>
            </a:r>
          </a:p>
        </p:txBody>
      </p:sp>
      <p:sp>
        <p:nvSpPr>
          <p:cNvPr id="4" name="">
            <a:extLst xmlns:a="http://schemas.openxmlformats.org/drawingml/2006/main">
              <a:ext uri="{FF2B5EF4-FFF2-40B4-BE49-F238E27FC236}">
                <a16:creationId xmlns:a16="http://schemas.microsoft.com/office/drawing/2014/main" id="{C47B0B58-F478-4ED5-9295-D30F943F118C}"/>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6971309-B173-4433-863E-524D8E8820A5}"/>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A repeatable response to manipulation</a:t>
            </a:r>
          </a:p>
        </p:txBody>
      </p:sp>
      <p:sp>
        <p:nvSpPr>
          <p:cNvPr id="6" name="">
            <a:extLst xmlns:a="http://schemas.openxmlformats.org/drawingml/2006/main">
              <a:ext uri="{FF2B5EF4-FFF2-40B4-BE49-F238E27FC236}">
                <a16:creationId xmlns:a16="http://schemas.microsoft.com/office/drawing/2014/main" id="{58D5F5DB-7C94-4922-B52D-E24DB4319952}"/>
              </a:ext>
            </a:extLst>
          </p:cNvPr>
          <p:cNvSpPr>
            <a:spLocks xmlns:a="http://schemas.openxmlformats.org/drawingml/2006/main" noGrp="1"/>
          </p:cNvSpPr>
          <p:nvPr/>
        </p:nvSpPr>
        <p:spPr>
          <a:xfrm xmlns:a="http://schemas.openxmlformats.org/drawingml/2006/main">
            <a:off x="552450" y="2238375"/>
            <a:ext cx="2538413"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B38D2BB1-84C7-452E-B3EA-FA782C1EED12}"/>
              </a:ext>
            </a:extLst>
          </p:cNvPr>
          <p:cNvSpPr>
            <a:spLocks xmlns:a="http://schemas.openxmlformats.org/drawingml/2006/main" noGrp="1"/>
          </p:cNvSpPr>
          <p:nvPr/>
        </p:nvSpPr>
        <p:spPr>
          <a:xfrm xmlns:a="http://schemas.openxmlformats.org/drawingml/2006/main">
            <a:off x="723900" y="2390775"/>
            <a:ext cx="400050" cy="400050"/>
          </a:xfrm>
          <a:prstGeom xmlns:a="http://schemas.openxmlformats.org/drawingml/2006/main" prst="rect">
            <a:avLst/>
          </a:prstGeom>
          <a:solidFill xmlns:a="http://schemas.openxmlformats.org/drawingml/2006/main">
            <a:srgbClr val="2AA876"/>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70ADEB93-6CEC-45EA-8D98-F28C82E27B1D}"/>
              </a:ext>
            </a:extLst>
          </p:cNvPr>
          <p:cNvSpPr>
            <a:spLocks xmlns:a="http://schemas.openxmlformats.org/drawingml/2006/main" noGrp="1"/>
          </p:cNvSpPr>
          <p:nvPr/>
        </p:nvSpPr>
        <p:spPr>
          <a:xfrm xmlns:a="http://schemas.openxmlformats.org/drawingml/2006/main">
            <a:off x="723900" y="2905125"/>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Pause</a:t>
            </a:r>
          </a:p>
        </p:txBody>
      </p:sp>
      <p:sp>
        <p:nvSpPr>
          <p:cNvPr id="9" name="">
            <a:extLst xmlns:a="http://schemas.openxmlformats.org/drawingml/2006/main">
              <a:ext uri="{FF2B5EF4-FFF2-40B4-BE49-F238E27FC236}">
                <a16:creationId xmlns:a16="http://schemas.microsoft.com/office/drawing/2014/main" id="{1E0DCC75-7CD7-423F-9687-C5A948374F00}"/>
              </a:ext>
            </a:extLst>
          </p:cNvPr>
          <p:cNvSpPr>
            <a:spLocks xmlns:a="http://schemas.openxmlformats.org/drawingml/2006/main" noGrp="1"/>
          </p:cNvSpPr>
          <p:nvPr/>
        </p:nvSpPr>
        <p:spPr>
          <a:xfrm xmlns:a="http://schemas.openxmlformats.org/drawingml/2006/main">
            <a:off x="723900" y="3305175"/>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607385"/>
                </a:solidFill>
                <a:latin typeface="DejaVu Sans"/>
                <a:ea typeface="DejaVu Sans"/>
                <a:cs typeface="DejaVu Sans"/>
              </a:defRPr>
            </a:pPr>
            <a:r>
              <a:rPr sz="1275" b="0">
                <a:solidFill>
                  <a:srgbClr val="607385"/>
                </a:solidFill>
                <a:latin typeface="DejaVu Sans"/>
                <a:ea typeface="DejaVu Sans"/>
                <a:cs typeface="DejaVu Sans"/>
              </a:rPr>
              <a:t>Stop before taking the requested action</a:t>
            </a:r>
          </a:p>
        </p:txBody>
      </p:sp>
      <p:sp>
        <p:nvSpPr>
          <p:cNvPr id="10" name="">
            <a:extLst xmlns:a="http://schemas.openxmlformats.org/drawingml/2006/main">
              <a:ext uri="{FF2B5EF4-FFF2-40B4-BE49-F238E27FC236}">
                <a16:creationId xmlns:a16="http://schemas.microsoft.com/office/drawing/2014/main" id="{F7D215D8-0C1A-4E09-9170-359E59DF9E88}"/>
              </a:ext>
            </a:extLst>
          </p:cNvPr>
          <p:cNvSpPr>
            <a:spLocks xmlns:a="http://schemas.openxmlformats.org/drawingml/2006/main" noGrp="1"/>
          </p:cNvSpPr>
          <p:nvPr/>
        </p:nvSpPr>
        <p:spPr>
          <a:xfrm xmlns:a="http://schemas.openxmlformats.org/drawingml/2006/main">
            <a:off x="3262313" y="2238375"/>
            <a:ext cx="2538413"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11" name="">
            <a:extLst xmlns:a="http://schemas.openxmlformats.org/drawingml/2006/main">
              <a:ext uri="{FF2B5EF4-FFF2-40B4-BE49-F238E27FC236}">
                <a16:creationId xmlns:a16="http://schemas.microsoft.com/office/drawing/2014/main" id="{C1075EA2-D761-4E30-A591-9C70DD9F3AC0}"/>
              </a:ext>
            </a:extLst>
          </p:cNvPr>
          <p:cNvSpPr>
            <a:spLocks xmlns:a="http://schemas.openxmlformats.org/drawingml/2006/main" noGrp="1"/>
          </p:cNvSpPr>
          <p:nvPr/>
        </p:nvSpPr>
        <p:spPr>
          <a:xfrm xmlns:a="http://schemas.openxmlformats.org/drawingml/2006/main">
            <a:off x="3433763" y="2390775"/>
            <a:ext cx="400050" cy="400050"/>
          </a:xfrm>
          <a:prstGeom xmlns:a="http://schemas.openxmlformats.org/drawingml/2006/main" prst="rect">
            <a:avLst/>
          </a:prstGeom>
          <a:solidFill xmlns:a="http://schemas.openxmlformats.org/drawingml/2006/main">
            <a:srgbClr val="2AA876"/>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2</a:t>
            </a:r>
          </a:p>
        </p:txBody>
      </p:sp>
      <p:sp>
        <p:nvSpPr>
          <p:cNvPr id="12" name="">
            <a:extLst xmlns:a="http://schemas.openxmlformats.org/drawingml/2006/main">
              <a:ext uri="{FF2B5EF4-FFF2-40B4-BE49-F238E27FC236}">
                <a16:creationId xmlns:a16="http://schemas.microsoft.com/office/drawing/2014/main" id="{D64A42BF-8D76-4F27-B501-6F0DDB7D681B}"/>
              </a:ext>
            </a:extLst>
          </p:cNvPr>
          <p:cNvSpPr>
            <a:spLocks xmlns:a="http://schemas.openxmlformats.org/drawingml/2006/main" noGrp="1"/>
          </p:cNvSpPr>
          <p:nvPr/>
        </p:nvSpPr>
        <p:spPr>
          <a:xfrm xmlns:a="http://schemas.openxmlformats.org/drawingml/2006/main">
            <a:off x="3433763" y="2905125"/>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Question</a:t>
            </a:r>
          </a:p>
        </p:txBody>
      </p:sp>
      <p:sp>
        <p:nvSpPr>
          <p:cNvPr id="13" name="">
            <a:extLst xmlns:a="http://schemas.openxmlformats.org/drawingml/2006/main">
              <a:ext uri="{FF2B5EF4-FFF2-40B4-BE49-F238E27FC236}">
                <a16:creationId xmlns:a16="http://schemas.microsoft.com/office/drawing/2014/main" id="{508FA8D3-32DC-4D4C-B953-EA9988971D09}"/>
              </a:ext>
            </a:extLst>
          </p:cNvPr>
          <p:cNvSpPr>
            <a:spLocks xmlns:a="http://schemas.openxmlformats.org/drawingml/2006/main" noGrp="1"/>
          </p:cNvSpPr>
          <p:nvPr/>
        </p:nvSpPr>
        <p:spPr>
          <a:xfrm xmlns:a="http://schemas.openxmlformats.org/drawingml/2006/main">
            <a:off x="3433763" y="3305175"/>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9632"/>
          </a:bodyPr>
          <a:lstStyle xmlns:a="http://schemas.openxmlformats.org/drawingml/2006/main"/>
          <a:p xmlns:a="http://schemas.openxmlformats.org/drawingml/2006/main">
            <a:pPr algn="ctr">
              <a:defRPr sz="1275" b="0">
                <a:solidFill>
                  <a:srgbClr val="607385"/>
                </a:solidFill>
                <a:latin typeface="DejaVu Sans"/>
                <a:ea typeface="DejaVu Sans"/>
                <a:cs typeface="DejaVu Sans"/>
              </a:defRPr>
            </a:pPr>
            <a:r>
              <a:rPr sz="1275" b="0">
                <a:solidFill>
                  <a:srgbClr val="607385"/>
                </a:solidFill>
                <a:latin typeface="DejaVu Sans"/>
                <a:ea typeface="DejaVu Sans"/>
                <a:cs typeface="DejaVu Sans"/>
              </a:rPr>
              <a:t>Identify pressure, secrecy or unusual access</a:t>
            </a:r>
          </a:p>
        </p:txBody>
      </p:sp>
      <p:sp>
        <p:nvSpPr>
          <p:cNvPr id="14" name="">
            <a:extLst xmlns:a="http://schemas.openxmlformats.org/drawingml/2006/main">
              <a:ext uri="{FF2B5EF4-FFF2-40B4-BE49-F238E27FC236}">
                <a16:creationId xmlns:a16="http://schemas.microsoft.com/office/drawing/2014/main" id="{2A36CA02-8182-48DC-99D3-2B8278644780}"/>
              </a:ext>
            </a:extLst>
          </p:cNvPr>
          <p:cNvSpPr>
            <a:spLocks xmlns:a="http://schemas.openxmlformats.org/drawingml/2006/main" noGrp="1"/>
          </p:cNvSpPr>
          <p:nvPr/>
        </p:nvSpPr>
        <p:spPr>
          <a:xfrm xmlns:a="http://schemas.openxmlformats.org/drawingml/2006/main">
            <a:off x="5972175" y="2238375"/>
            <a:ext cx="2538413"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15" name="">
            <a:extLst xmlns:a="http://schemas.openxmlformats.org/drawingml/2006/main">
              <a:ext uri="{FF2B5EF4-FFF2-40B4-BE49-F238E27FC236}">
                <a16:creationId xmlns:a16="http://schemas.microsoft.com/office/drawing/2014/main" id="{DCC4A074-7C1A-4653-845B-6DEB5B476FA5}"/>
              </a:ext>
            </a:extLst>
          </p:cNvPr>
          <p:cNvSpPr>
            <a:spLocks xmlns:a="http://schemas.openxmlformats.org/drawingml/2006/main" noGrp="1"/>
          </p:cNvSpPr>
          <p:nvPr/>
        </p:nvSpPr>
        <p:spPr>
          <a:xfrm xmlns:a="http://schemas.openxmlformats.org/drawingml/2006/main">
            <a:off x="6143625" y="2390775"/>
            <a:ext cx="400050" cy="400050"/>
          </a:xfrm>
          <a:prstGeom xmlns:a="http://schemas.openxmlformats.org/drawingml/2006/main" prst="rect">
            <a:avLst/>
          </a:prstGeom>
          <a:solidFill xmlns:a="http://schemas.openxmlformats.org/drawingml/2006/main">
            <a:srgbClr val="2AA876"/>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3</a:t>
            </a:r>
          </a:p>
        </p:txBody>
      </p:sp>
      <p:sp>
        <p:nvSpPr>
          <p:cNvPr id="16" name="">
            <a:extLst xmlns:a="http://schemas.openxmlformats.org/drawingml/2006/main">
              <a:ext uri="{FF2B5EF4-FFF2-40B4-BE49-F238E27FC236}">
                <a16:creationId xmlns:a16="http://schemas.microsoft.com/office/drawing/2014/main" id="{A4ED97E4-F8A3-4671-BD74-9C8121C6C8DE}"/>
              </a:ext>
            </a:extLst>
          </p:cNvPr>
          <p:cNvSpPr>
            <a:spLocks xmlns:a="http://schemas.openxmlformats.org/drawingml/2006/main" noGrp="1"/>
          </p:cNvSpPr>
          <p:nvPr/>
        </p:nvSpPr>
        <p:spPr>
          <a:xfrm xmlns:a="http://schemas.openxmlformats.org/drawingml/2006/main">
            <a:off x="6143625" y="2905125"/>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Verify</a:t>
            </a:r>
          </a:p>
        </p:txBody>
      </p:sp>
      <p:sp>
        <p:nvSpPr>
          <p:cNvPr id="17" name="">
            <a:extLst xmlns:a="http://schemas.openxmlformats.org/drawingml/2006/main">
              <a:ext uri="{FF2B5EF4-FFF2-40B4-BE49-F238E27FC236}">
                <a16:creationId xmlns:a16="http://schemas.microsoft.com/office/drawing/2014/main" id="{1C9F9B23-B8F9-468D-8D47-DFDC69853E73}"/>
              </a:ext>
            </a:extLst>
          </p:cNvPr>
          <p:cNvSpPr>
            <a:spLocks xmlns:a="http://schemas.openxmlformats.org/drawingml/2006/main" noGrp="1"/>
          </p:cNvSpPr>
          <p:nvPr/>
        </p:nvSpPr>
        <p:spPr>
          <a:xfrm xmlns:a="http://schemas.openxmlformats.org/drawingml/2006/main">
            <a:off x="6143625" y="3305175"/>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607385"/>
                </a:solidFill>
                <a:latin typeface="DejaVu Sans"/>
                <a:ea typeface="DejaVu Sans"/>
                <a:cs typeface="DejaVu Sans"/>
              </a:defRPr>
            </a:pPr>
            <a:r>
              <a:rPr sz="1275" b="0">
                <a:solidFill>
                  <a:srgbClr val="607385"/>
                </a:solidFill>
                <a:latin typeface="DejaVu Sans"/>
                <a:ea typeface="DejaVu Sans"/>
                <a:cs typeface="DejaVu Sans"/>
              </a:rPr>
              <a:t>Use a known channel and trusted contact details</a:t>
            </a:r>
          </a:p>
        </p:txBody>
      </p:sp>
      <p:sp>
        <p:nvSpPr>
          <p:cNvPr id="18" name="">
            <a:extLst xmlns:a="http://schemas.openxmlformats.org/drawingml/2006/main">
              <a:ext uri="{FF2B5EF4-FFF2-40B4-BE49-F238E27FC236}">
                <a16:creationId xmlns:a16="http://schemas.microsoft.com/office/drawing/2014/main" id="{29C74526-5FE6-48EC-80F4-C7F57BE09B57}"/>
              </a:ext>
            </a:extLst>
          </p:cNvPr>
          <p:cNvSpPr>
            <a:spLocks xmlns:a="http://schemas.openxmlformats.org/drawingml/2006/main" noGrp="1"/>
          </p:cNvSpPr>
          <p:nvPr/>
        </p:nvSpPr>
        <p:spPr>
          <a:xfrm xmlns:a="http://schemas.openxmlformats.org/drawingml/2006/main">
            <a:off x="8682038" y="2238375"/>
            <a:ext cx="2538413" cy="1714500"/>
          </a:xfrm>
          <a:prstGeom xmlns:a="http://schemas.openxmlformats.org/drawingml/2006/main" prst="rect">
            <a:avLst/>
          </a:prstGeom>
          <a:solidFill xmlns:a="http://schemas.openxmlformats.org/drawingml/2006/main">
            <a:srgbClr val="2AA876"/>
          </a:solidFill>
          <a:ln xmlns:a="http://schemas.openxmlformats.org/drawingml/2006/main" w="9525">
            <a:solidFill>
              <a:srgbClr val="2AA876"/>
            </a:solidFill>
          </a:ln>
        </p:spPr>
      </p:sp>
      <p:sp>
        <p:nvSpPr>
          <p:cNvPr id="19" name="">
            <a:extLst xmlns:a="http://schemas.openxmlformats.org/drawingml/2006/main">
              <a:ext uri="{FF2B5EF4-FFF2-40B4-BE49-F238E27FC236}">
                <a16:creationId xmlns:a16="http://schemas.microsoft.com/office/drawing/2014/main" id="{0B26E3A7-E2DD-45EE-AAE2-41D402A1F126}"/>
              </a:ext>
            </a:extLst>
          </p:cNvPr>
          <p:cNvSpPr>
            <a:spLocks xmlns:a="http://schemas.openxmlformats.org/drawingml/2006/main" noGrp="1"/>
          </p:cNvSpPr>
          <p:nvPr/>
        </p:nvSpPr>
        <p:spPr>
          <a:xfrm xmlns:a="http://schemas.openxmlformats.org/drawingml/2006/main">
            <a:off x="8853488" y="2390775"/>
            <a:ext cx="400050" cy="400050"/>
          </a:xfrm>
          <a:prstGeom xmlns:a="http://schemas.openxmlformats.org/drawingml/2006/main" prst="rect">
            <a:avLst/>
          </a:prstGeom>
          <a:solidFill xmlns:a="http://schemas.openxmlformats.org/drawingml/2006/main">
            <a:srgbClr val="A8F1E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4</a:t>
            </a:r>
          </a:p>
        </p:txBody>
      </p:sp>
      <p:sp>
        <p:nvSpPr>
          <p:cNvPr id="20" name="">
            <a:extLst xmlns:a="http://schemas.openxmlformats.org/drawingml/2006/main">
              <a:ext uri="{FF2B5EF4-FFF2-40B4-BE49-F238E27FC236}">
                <a16:creationId xmlns:a16="http://schemas.microsoft.com/office/drawing/2014/main" id="{1731BBB0-7238-415C-87F5-163F26138873}"/>
              </a:ext>
            </a:extLst>
          </p:cNvPr>
          <p:cNvSpPr>
            <a:spLocks xmlns:a="http://schemas.openxmlformats.org/drawingml/2006/main" noGrp="1"/>
          </p:cNvSpPr>
          <p:nvPr/>
        </p:nvSpPr>
        <p:spPr>
          <a:xfrm xmlns:a="http://schemas.openxmlformats.org/drawingml/2006/main">
            <a:off x="8853488" y="2905125"/>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Report</a:t>
            </a:r>
          </a:p>
        </p:txBody>
      </p:sp>
      <p:sp>
        <p:nvSpPr>
          <p:cNvPr id="21" name="">
            <a:extLst xmlns:a="http://schemas.openxmlformats.org/drawingml/2006/main">
              <a:ext uri="{FF2B5EF4-FFF2-40B4-BE49-F238E27FC236}">
                <a16:creationId xmlns:a16="http://schemas.microsoft.com/office/drawing/2014/main" id="{26966F3D-8137-4054-8361-85D8FFBDF508}"/>
              </a:ext>
            </a:extLst>
          </p:cNvPr>
          <p:cNvSpPr>
            <a:spLocks xmlns:a="http://schemas.openxmlformats.org/drawingml/2006/main" noGrp="1"/>
          </p:cNvSpPr>
          <p:nvPr/>
        </p:nvSpPr>
        <p:spPr>
          <a:xfrm xmlns:a="http://schemas.openxmlformats.org/drawingml/2006/main">
            <a:off x="8853488" y="3305175"/>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6597"/>
          </a:bodyPr>
          <a:lstStyle xmlns:a="http://schemas.openxmlformats.org/drawingml/2006/main"/>
          <a:p xmlns:a="http://schemas.openxmlformats.org/drawingml/2006/main">
            <a:pPr algn="ctr">
              <a:defRPr sz="1275" b="0">
                <a:solidFill>
                  <a:srgbClr val="FFFFFF"/>
                </a:solidFill>
                <a:latin typeface="DejaVu Sans"/>
                <a:ea typeface="DejaVu Sans"/>
                <a:cs typeface="DejaVu Sans"/>
              </a:defRPr>
            </a:pPr>
            <a:r>
              <a:rPr sz="1275" b="0">
                <a:solidFill>
                  <a:srgbClr val="FFFFFF"/>
                </a:solidFill>
                <a:latin typeface="DejaVu Sans"/>
                <a:ea typeface="DejaVu Sans"/>
                <a:cs typeface="DejaVu Sans"/>
              </a:rPr>
              <a:t>Preserve the message and notify the correct team</a:t>
            </a:r>
          </a:p>
        </p:txBody>
      </p:sp>
      <p:sp>
        <p:nvSpPr>
          <p:cNvPr id="22" name="">
            <a:extLst xmlns:a="http://schemas.openxmlformats.org/drawingml/2006/main">
              <a:ext uri="{FF2B5EF4-FFF2-40B4-BE49-F238E27FC236}">
                <a16:creationId xmlns:a16="http://schemas.microsoft.com/office/drawing/2014/main" id="{33810F2A-6CA3-4DEE-A47E-C7F31219BEDF}"/>
              </a:ext>
            </a:extLst>
          </p:cNvPr>
          <p:cNvSpPr>
            <a:spLocks xmlns:a="http://schemas.openxmlformats.org/drawingml/2006/main" noGrp="1"/>
          </p:cNvSpPr>
          <p:nvPr/>
        </p:nvSpPr>
        <p:spPr>
          <a:xfrm xmlns:a="http://schemas.openxmlformats.org/drawingml/2006/main">
            <a:off x="1714500" y="4953000"/>
            <a:ext cx="8763000" cy="714375"/>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397E6D6-B546-4EE1-8D0B-46A95BF5FDB2}"/>
              </a:ext>
            </a:extLst>
          </p:cNvPr>
          <p:cNvSpPr>
            <a:spLocks xmlns:a="http://schemas.openxmlformats.org/drawingml/2006/main" noGrp="1"/>
          </p:cNvSpPr>
          <p:nvPr/>
        </p:nvSpPr>
        <p:spPr>
          <a:xfrm xmlns:a="http://schemas.openxmlformats.org/drawingml/2006/main">
            <a:off x="1885950" y="5048250"/>
            <a:ext cx="8420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5052"/>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Early reporting limits damage, even after a click or credential entry</a:t>
            </a:r>
          </a:p>
        </p:txBody>
      </p:sp>
    </p:spTree>
    <p:extLst>
      <p:ext uri="{BB962C8B-B14F-4D97-AF65-F5344CB8AC3E}">
        <p14:creationId xmlns:p14="http://schemas.microsoft.com/office/powerpoint/2010/main" val="411047649"/>
      </p:ext>
    </p:extLst>
  </p:cSld>
</p:sld>
</file>

<file path=ppt/slides/slide3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CF0EB9E-E2BA-439E-9196-39B34B45F91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F9C80B-7718-4665-8DFE-85E7624EE5B5}"/>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PRACTICAL EXERCISE</a:t>
            </a:r>
          </a:p>
        </p:txBody>
      </p:sp>
      <p:sp>
        <p:nvSpPr>
          <p:cNvPr id="3" name="">
            <a:extLst xmlns:a="http://schemas.openxmlformats.org/drawingml/2006/main">
              <a:ext uri="{FF2B5EF4-FFF2-40B4-BE49-F238E27FC236}">
                <a16:creationId xmlns:a16="http://schemas.microsoft.com/office/drawing/2014/main" id="{E208245D-3BEA-4FBF-BADE-57B10E815F62}"/>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36</a:t>
            </a:r>
          </a:p>
        </p:txBody>
      </p:sp>
      <p:sp>
        <p:nvSpPr>
          <p:cNvPr id="4" name="">
            <a:extLst xmlns:a="http://schemas.openxmlformats.org/drawingml/2006/main">
              <a:ext uri="{FF2B5EF4-FFF2-40B4-BE49-F238E27FC236}">
                <a16:creationId xmlns:a16="http://schemas.microsoft.com/office/drawing/2014/main" id="{C2050588-6B08-44FF-AEC5-EB9D90F1D773}"/>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BEAE1AA-BC22-4F70-B785-BBB72F811503}"/>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Phishing email analysis exercise</a:t>
            </a:r>
          </a:p>
        </p:txBody>
      </p:sp>
      <p:sp>
        <p:nvSpPr>
          <p:cNvPr id="6" name="">
            <a:extLst xmlns:a="http://schemas.openxmlformats.org/drawingml/2006/main">
              <a:ext uri="{FF2B5EF4-FFF2-40B4-BE49-F238E27FC236}">
                <a16:creationId xmlns:a16="http://schemas.microsoft.com/office/drawing/2014/main" id="{BE6B24BB-91BF-418B-A0EE-373619DBFA9A}"/>
              </a:ext>
            </a:extLst>
          </p:cNvPr>
          <p:cNvSpPr>
            <a:spLocks xmlns:a="http://schemas.openxmlformats.org/drawingml/2006/main" noGrp="1"/>
          </p:cNvSpPr>
          <p:nvPr/>
        </p:nvSpPr>
        <p:spPr>
          <a:xfrm xmlns:a="http://schemas.openxmlformats.org/drawingml/2006/main">
            <a:off x="49530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68B89EA8-65BC-4FC9-BC12-29AB7098AD44}"/>
              </a:ext>
            </a:extLst>
          </p:cNvPr>
          <p:cNvSpPr>
            <a:spLocks xmlns:a="http://schemas.openxmlformats.org/drawingml/2006/main" noGrp="1"/>
          </p:cNvSpPr>
          <p:nvPr/>
        </p:nvSpPr>
        <p:spPr>
          <a:xfrm xmlns:a="http://schemas.openxmlformats.org/drawingml/2006/main">
            <a:off x="5962650" y="1752600"/>
            <a:ext cx="5238750" cy="41148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8" name="">
            <a:extLst xmlns:a="http://schemas.openxmlformats.org/drawingml/2006/main">
              <a:ext uri="{FF2B5EF4-FFF2-40B4-BE49-F238E27FC236}">
                <a16:creationId xmlns:a16="http://schemas.microsoft.com/office/drawing/2014/main" id="{AB9626E0-09CB-46AC-BC04-26A7121350B5}"/>
              </a:ext>
            </a:extLst>
          </p:cNvPr>
          <p:cNvSpPr>
            <a:spLocks xmlns:a="http://schemas.openxmlformats.org/drawingml/2006/main" noGrp="1"/>
          </p:cNvSpPr>
          <p:nvPr/>
        </p:nvSpPr>
        <p:spPr>
          <a:xfrm xmlns:a="http://schemas.openxmlformats.org/drawingml/2006/main">
            <a:off x="74295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2F80ED"/>
                </a:solidFill>
                <a:latin typeface="DejaVu Sans"/>
                <a:ea typeface="DejaVu Sans"/>
                <a:cs typeface="DejaVu Sans"/>
              </a:defRPr>
            </a:pPr>
            <a:r>
              <a:rPr sz="2025" b="1">
                <a:solidFill>
                  <a:srgbClr val="2F80ED"/>
                </a:solidFill>
                <a:latin typeface="DejaVu Sans"/>
                <a:ea typeface="DejaVu Sans"/>
                <a:cs typeface="DejaVu Sans"/>
              </a:rPr>
              <a:t>Team task</a:t>
            </a:r>
          </a:p>
        </p:txBody>
      </p:sp>
      <p:sp>
        <p:nvSpPr>
          <p:cNvPr id="9" name="">
            <a:extLst xmlns:a="http://schemas.openxmlformats.org/drawingml/2006/main">
              <a:ext uri="{FF2B5EF4-FFF2-40B4-BE49-F238E27FC236}">
                <a16:creationId xmlns:a16="http://schemas.microsoft.com/office/drawing/2014/main" id="{5B8D52B8-599D-4BD5-A7BB-AD8F02ECC03B}"/>
              </a:ext>
            </a:extLst>
          </p:cNvPr>
          <p:cNvSpPr>
            <a:spLocks xmlns:a="http://schemas.openxmlformats.org/drawingml/2006/main" noGrp="1"/>
          </p:cNvSpPr>
          <p:nvPr/>
        </p:nvSpPr>
        <p:spPr>
          <a:xfrm xmlns:a="http://schemas.openxmlformats.org/drawingml/2006/main">
            <a:off x="6210300" y="19431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2025" b="1">
                <a:solidFill>
                  <a:srgbClr val="FF8A34"/>
                </a:solidFill>
                <a:latin typeface="DejaVu Sans"/>
                <a:ea typeface="DejaVu Sans"/>
                <a:cs typeface="DejaVu Sans"/>
              </a:defRPr>
            </a:pPr>
            <a:r>
              <a:rPr sz="2025" b="1">
                <a:solidFill>
                  <a:srgbClr val="FF8A34"/>
                </a:solidFill>
                <a:latin typeface="DejaVu Sans"/>
                <a:ea typeface="DejaVu Sans"/>
                <a:cs typeface="DejaVu Sans"/>
              </a:rPr>
              <a:t>Classification</a:t>
            </a:r>
          </a:p>
        </p:txBody>
      </p:sp>
      <p:sp>
        <p:nvSpPr>
          <p:cNvPr id="10" name="">
            <a:extLst xmlns:a="http://schemas.openxmlformats.org/drawingml/2006/main">
              <a:ext uri="{FF2B5EF4-FFF2-40B4-BE49-F238E27FC236}">
                <a16:creationId xmlns:a16="http://schemas.microsoft.com/office/drawing/2014/main" id="{10C9E7F5-C942-494B-83BA-17AF5169576E}"/>
              </a:ext>
            </a:extLst>
          </p:cNvPr>
          <p:cNvSpPr>
            <a:spLocks xmlns:a="http://schemas.openxmlformats.org/drawingml/2006/main" noGrp="1"/>
          </p:cNvSpPr>
          <p:nvPr/>
        </p:nvSpPr>
        <p:spPr>
          <a:xfrm xmlns:a="http://schemas.openxmlformats.org/drawingml/2006/main">
            <a:off x="714375"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Inspect two sample messages</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Classify each message</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Mark every warning sign</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Recommend a safe response</a:t>
            </a:r>
          </a:p>
        </p:txBody>
      </p:sp>
      <p:sp>
        <p:nvSpPr>
          <p:cNvPr id="11" name="">
            <a:extLst xmlns:a="http://schemas.openxmlformats.org/drawingml/2006/main">
              <a:ext uri="{FF2B5EF4-FFF2-40B4-BE49-F238E27FC236}">
                <a16:creationId xmlns:a16="http://schemas.microsoft.com/office/drawing/2014/main" id="{B89B5C8E-3629-4564-BD1A-1C1CF9426B94}"/>
              </a:ext>
            </a:extLst>
          </p:cNvPr>
          <p:cNvSpPr>
            <a:spLocks xmlns:a="http://schemas.openxmlformats.org/drawingml/2006/main" noGrp="1"/>
          </p:cNvSpPr>
          <p:nvPr/>
        </p:nvSpPr>
        <p:spPr>
          <a:xfrm xmlns:a="http://schemas.openxmlformats.org/drawingml/2006/main">
            <a:off x="6191250" y="2571750"/>
            <a:ext cx="47625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Genuine: context and identity are verified</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Suspicious: important questions remain</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Malicious: clear deception or unsafe request</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Report uncertain messages instead of guessing</a:t>
            </a:r>
          </a:p>
        </p:txBody>
      </p:sp>
      <p:sp>
        <p:nvSpPr>
          <p:cNvPr id="12" name="">
            <a:extLst xmlns:a="http://schemas.openxmlformats.org/drawingml/2006/main">
              <a:ext uri="{FF2B5EF4-FFF2-40B4-BE49-F238E27FC236}">
                <a16:creationId xmlns:a16="http://schemas.microsoft.com/office/drawing/2014/main" id="{FAAC0BCE-6515-4A69-A864-F90E45935055}"/>
              </a:ext>
            </a:extLst>
          </p:cNvPr>
          <p:cNvSpPr>
            <a:spLocks xmlns:a="http://schemas.openxmlformats.org/drawingml/2006/main" noGrp="1"/>
          </p:cNvSpPr>
          <p:nvPr/>
        </p:nvSpPr>
        <p:spPr>
          <a:xfrm xmlns:a="http://schemas.openxmlformats.org/drawingml/2006/main">
            <a:off x="2381250" y="5810250"/>
            <a:ext cx="7429500" cy="523875"/>
          </a:xfrm>
          <a:prstGeom xmlns:a="http://schemas.openxmlformats.org/drawingml/2006/main" prst="rect">
            <a:avLst/>
          </a:prstGeom>
          <a:solidFill xmlns:a="http://schemas.openxmlformats.org/drawingml/2006/main">
            <a:srgbClr val="FF8A3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337DBD9-79C5-454A-8711-DB764764267F}"/>
              </a:ext>
            </a:extLst>
          </p:cNvPr>
          <p:cNvSpPr>
            <a:spLocks xmlns:a="http://schemas.openxmlformats.org/drawingml/2006/main" noGrp="1"/>
          </p:cNvSpPr>
          <p:nvPr/>
        </p:nvSpPr>
        <p:spPr>
          <a:xfrm xmlns:a="http://schemas.openxmlformats.org/drawingml/2006/main">
            <a:off x="2552700" y="5905500"/>
            <a:ext cx="7086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1270"/>
          </a:bodyPr>
          <a:lstStyle xmlns:a="http://schemas.openxmlformats.org/drawingml/2006/main"/>
          <a:p xmlns:a="http://schemas.openxmlformats.org/drawingml/2006/main">
            <a:pPr algn="ctr">
              <a:defRPr sz="1575" b="1">
                <a:solidFill>
                  <a:srgbClr val="081A2E"/>
                </a:solidFill>
                <a:latin typeface="DejaVu Sans"/>
                <a:ea typeface="DejaVu Sans"/>
                <a:cs typeface="DejaVu Sans"/>
              </a:defRPr>
            </a:pPr>
            <a:r>
              <a:rPr sz="1575" b="1">
                <a:solidFill>
                  <a:srgbClr val="081A2E"/>
                </a:solidFill>
                <a:latin typeface="DejaVu Sans"/>
                <a:ea typeface="DejaVu Sans"/>
                <a:cs typeface="DejaVu Sans"/>
              </a:rPr>
              <a:t>Use dummy accounts and authorized training links only</a:t>
            </a:r>
          </a:p>
        </p:txBody>
      </p:sp>
    </p:spTree>
    <p:extLst>
      <p:ext uri="{BB962C8B-B14F-4D97-AF65-F5344CB8AC3E}">
        <p14:creationId xmlns:p14="http://schemas.microsoft.com/office/powerpoint/2010/main" val="111861652"/>
      </p:ext>
    </p:extLst>
  </p:cSld>
</p:sld>
</file>

<file path=ppt/slides/slide3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33DC129-0D5F-4918-8D3F-375ABC8B482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04C09F-69CE-47D8-BE7F-63FCD19568EC}"/>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PRACTICAL EXERCISE</a:t>
            </a:r>
          </a:p>
        </p:txBody>
      </p:sp>
      <p:sp>
        <p:nvSpPr>
          <p:cNvPr id="3" name="">
            <a:extLst xmlns:a="http://schemas.openxmlformats.org/drawingml/2006/main">
              <a:ext uri="{FF2B5EF4-FFF2-40B4-BE49-F238E27FC236}">
                <a16:creationId xmlns:a16="http://schemas.microsoft.com/office/drawing/2014/main" id="{798D9248-45FB-42C7-831F-9A3F939478AA}"/>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37</a:t>
            </a:r>
          </a:p>
        </p:txBody>
      </p:sp>
      <p:sp>
        <p:nvSpPr>
          <p:cNvPr id="4" name="">
            <a:extLst xmlns:a="http://schemas.openxmlformats.org/drawingml/2006/main">
              <a:ext uri="{FF2B5EF4-FFF2-40B4-BE49-F238E27FC236}">
                <a16:creationId xmlns:a16="http://schemas.microsoft.com/office/drawing/2014/main" id="{8F993FB1-F8E6-44B5-A243-01EEB533E06B}"/>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21D283-D111-4C6A-B5A3-8FB11A94EE93}"/>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Sample A: supplier invoice</a:t>
            </a:r>
          </a:p>
        </p:txBody>
      </p:sp>
      <p:sp>
        <p:nvSpPr>
          <p:cNvPr id="6" name="">
            <a:extLst xmlns:a="http://schemas.openxmlformats.org/drawingml/2006/main">
              <a:ext uri="{FF2B5EF4-FFF2-40B4-BE49-F238E27FC236}">
                <a16:creationId xmlns:a16="http://schemas.microsoft.com/office/drawing/2014/main" id="{FF35647F-0F39-4473-AA4C-1D124658ABA3}"/>
              </a:ext>
            </a:extLst>
          </p:cNvPr>
          <p:cNvSpPr>
            <a:spLocks xmlns:a="http://schemas.openxmlformats.org/drawingml/2006/main" noGrp="1"/>
          </p:cNvSpPr>
          <p:nvPr/>
        </p:nvSpPr>
        <p:spPr>
          <a:xfrm xmlns:a="http://schemas.openxmlformats.org/drawingml/2006/main">
            <a:off x="457200" y="1524000"/>
            <a:ext cx="7524750" cy="428625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C5A8F17B-1BBF-40C8-A8FF-8A5E6ADF467B}"/>
              </a:ext>
            </a:extLst>
          </p:cNvPr>
          <p:cNvSpPr>
            <a:spLocks xmlns:a="http://schemas.openxmlformats.org/drawingml/2006/main" noGrp="1"/>
          </p:cNvSpPr>
          <p:nvPr/>
        </p:nvSpPr>
        <p:spPr>
          <a:xfrm xmlns:a="http://schemas.openxmlformats.org/drawingml/2006/main">
            <a:off x="457200" y="1524000"/>
            <a:ext cx="7524750" cy="4572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9CD8A31-2358-4CE1-B383-DCE8EBF71066}"/>
              </a:ext>
            </a:extLst>
          </p:cNvPr>
          <p:cNvSpPr>
            <a:spLocks xmlns:a="http://schemas.openxmlformats.org/drawingml/2006/main" noGrp="1"/>
          </p:cNvSpPr>
          <p:nvPr/>
        </p:nvSpPr>
        <p:spPr>
          <a:xfrm xmlns:a="http://schemas.openxmlformats.org/drawingml/2006/main">
            <a:off x="628650" y="1600200"/>
            <a:ext cx="718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2593"/>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Message preview</a:t>
            </a:r>
          </a:p>
        </p:txBody>
      </p:sp>
      <p:sp>
        <p:nvSpPr>
          <p:cNvPr id="9" name="">
            <a:extLst xmlns:a="http://schemas.openxmlformats.org/drawingml/2006/main">
              <a:ext uri="{FF2B5EF4-FFF2-40B4-BE49-F238E27FC236}">
                <a16:creationId xmlns:a16="http://schemas.microsoft.com/office/drawing/2014/main" id="{0C457C9B-9E95-424B-9946-DF19BC2FFF99}"/>
              </a:ext>
            </a:extLst>
          </p:cNvPr>
          <p:cNvSpPr>
            <a:spLocks xmlns:a="http://schemas.openxmlformats.org/drawingml/2006/main" noGrp="1"/>
          </p:cNvSpPr>
          <p:nvPr/>
        </p:nvSpPr>
        <p:spPr>
          <a:xfrm xmlns:a="http://schemas.openxmlformats.org/drawingml/2006/main">
            <a:off x="628650" y="211455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275" b="1">
                <a:solidFill>
                  <a:srgbClr val="607385"/>
                </a:solidFill>
                <a:latin typeface="DejaVu Sans"/>
                <a:ea typeface="DejaVu Sans"/>
                <a:cs typeface="DejaVu Sans"/>
              </a:defRPr>
            </a:pPr>
            <a:r>
              <a:rPr sz="1275" b="1">
                <a:solidFill>
                  <a:srgbClr val="607385"/>
                </a:solidFill>
                <a:latin typeface="DejaVu Sans"/>
                <a:ea typeface="DejaVu Sans"/>
                <a:cs typeface="DejaVu Sans"/>
              </a:rPr>
              <a:t>From</a:t>
            </a:r>
          </a:p>
        </p:txBody>
      </p:sp>
      <p:sp>
        <p:nvSpPr>
          <p:cNvPr id="10" name="">
            <a:extLst xmlns:a="http://schemas.openxmlformats.org/drawingml/2006/main">
              <a:ext uri="{FF2B5EF4-FFF2-40B4-BE49-F238E27FC236}">
                <a16:creationId xmlns:a16="http://schemas.microsoft.com/office/drawing/2014/main" id="{64242E72-3A31-4E31-8F64-4D378D16895A}"/>
              </a:ext>
            </a:extLst>
          </p:cNvPr>
          <p:cNvSpPr>
            <a:spLocks xmlns:a="http://schemas.openxmlformats.org/drawingml/2006/main" noGrp="1"/>
          </p:cNvSpPr>
          <p:nvPr/>
        </p:nvSpPr>
        <p:spPr>
          <a:xfrm xmlns:a="http://schemas.openxmlformats.org/drawingml/2006/main">
            <a:off x="1581150" y="21145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0">
                <a:solidFill>
                  <a:srgbClr val="183247"/>
                </a:solidFill>
                <a:latin typeface="DejaVu Sans"/>
                <a:ea typeface="DejaVu Sans"/>
                <a:cs typeface="DejaVu Sans"/>
              </a:defRPr>
            </a:pPr>
            <a:r>
              <a:rPr sz="1350" b="0">
                <a:solidFill>
                  <a:srgbClr val="183247"/>
                </a:solidFill>
                <a:latin typeface="DejaVu Sans"/>
                <a:ea typeface="DejaVu Sans"/>
                <a:cs typeface="DejaVu Sans"/>
              </a:rPr>
              <a:t>Accounts Team &lt;billing@supplier-example.com&gt;</a:t>
            </a:r>
          </a:p>
        </p:txBody>
      </p:sp>
      <p:sp>
        <p:nvSpPr>
          <p:cNvPr id="11" name="">
            <a:extLst xmlns:a="http://schemas.openxmlformats.org/drawingml/2006/main">
              <a:ext uri="{FF2B5EF4-FFF2-40B4-BE49-F238E27FC236}">
                <a16:creationId xmlns:a16="http://schemas.microsoft.com/office/drawing/2014/main" id="{8651D210-6199-4733-8910-DD26C7585734}"/>
              </a:ext>
            </a:extLst>
          </p:cNvPr>
          <p:cNvSpPr>
            <a:spLocks xmlns:a="http://schemas.openxmlformats.org/drawingml/2006/main" noGrp="1"/>
          </p:cNvSpPr>
          <p:nvPr/>
        </p:nvSpPr>
        <p:spPr>
          <a:xfrm xmlns:a="http://schemas.openxmlformats.org/drawingml/2006/main">
            <a:off x="628650" y="257175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275" b="1">
                <a:solidFill>
                  <a:srgbClr val="607385"/>
                </a:solidFill>
                <a:latin typeface="DejaVu Sans"/>
                <a:ea typeface="DejaVu Sans"/>
                <a:cs typeface="DejaVu Sans"/>
              </a:defRPr>
            </a:pPr>
            <a:r>
              <a:rPr sz="1275" b="1">
                <a:solidFill>
                  <a:srgbClr val="607385"/>
                </a:solidFill>
                <a:latin typeface="DejaVu Sans"/>
                <a:ea typeface="DejaVu Sans"/>
                <a:cs typeface="DejaVu Sans"/>
              </a:rPr>
              <a:t>Reply-To</a:t>
            </a:r>
          </a:p>
        </p:txBody>
      </p:sp>
      <p:sp>
        <p:nvSpPr>
          <p:cNvPr id="12" name="">
            <a:extLst xmlns:a="http://schemas.openxmlformats.org/drawingml/2006/main">
              <a:ext uri="{FF2B5EF4-FFF2-40B4-BE49-F238E27FC236}">
                <a16:creationId xmlns:a16="http://schemas.microsoft.com/office/drawing/2014/main" id="{A1BB655D-302E-4550-9E09-4FD624F64BFF}"/>
              </a:ext>
            </a:extLst>
          </p:cNvPr>
          <p:cNvSpPr>
            <a:spLocks xmlns:a="http://schemas.openxmlformats.org/drawingml/2006/main" noGrp="1"/>
          </p:cNvSpPr>
          <p:nvPr/>
        </p:nvSpPr>
        <p:spPr>
          <a:xfrm xmlns:a="http://schemas.openxmlformats.org/drawingml/2006/main">
            <a:off x="1581150" y="25717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0">
                <a:solidFill>
                  <a:srgbClr val="E54B4B"/>
                </a:solidFill>
                <a:latin typeface="DejaVu Sans"/>
                <a:ea typeface="DejaVu Sans"/>
                <a:cs typeface="DejaVu Sans"/>
              </a:defRPr>
            </a:pPr>
            <a:r>
              <a:rPr sz="1350" b="0">
                <a:solidFill>
                  <a:srgbClr val="E54B4B"/>
                </a:solidFill>
                <a:latin typeface="DejaVu Sans"/>
                <a:ea typeface="DejaVu Sans"/>
                <a:cs typeface="DejaVu Sans"/>
              </a:rPr>
              <a:t>quickpayment@protonmail.com</a:t>
            </a:r>
          </a:p>
        </p:txBody>
      </p:sp>
      <p:sp>
        <p:nvSpPr>
          <p:cNvPr id="13" name="">
            <a:extLst xmlns:a="http://schemas.openxmlformats.org/drawingml/2006/main">
              <a:ext uri="{FF2B5EF4-FFF2-40B4-BE49-F238E27FC236}">
                <a16:creationId xmlns:a16="http://schemas.microsoft.com/office/drawing/2014/main" id="{E7124D7D-6F15-4382-958E-2D77E5753237}"/>
              </a:ext>
            </a:extLst>
          </p:cNvPr>
          <p:cNvSpPr>
            <a:spLocks xmlns:a="http://schemas.openxmlformats.org/drawingml/2006/main" noGrp="1"/>
          </p:cNvSpPr>
          <p:nvPr/>
        </p:nvSpPr>
        <p:spPr>
          <a:xfrm xmlns:a="http://schemas.openxmlformats.org/drawingml/2006/main">
            <a:off x="628650" y="302895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275" b="1">
                <a:solidFill>
                  <a:srgbClr val="607385"/>
                </a:solidFill>
                <a:latin typeface="DejaVu Sans"/>
                <a:ea typeface="DejaVu Sans"/>
                <a:cs typeface="DejaVu Sans"/>
              </a:defRPr>
            </a:pPr>
            <a:r>
              <a:rPr sz="1275" b="1">
                <a:solidFill>
                  <a:srgbClr val="607385"/>
                </a:solidFill>
                <a:latin typeface="DejaVu Sans"/>
                <a:ea typeface="DejaVu Sans"/>
                <a:cs typeface="DejaVu Sans"/>
              </a:rPr>
              <a:t>Subject</a:t>
            </a:r>
          </a:p>
        </p:txBody>
      </p:sp>
      <p:sp>
        <p:nvSpPr>
          <p:cNvPr id="14" name="">
            <a:extLst xmlns:a="http://schemas.openxmlformats.org/drawingml/2006/main">
              <a:ext uri="{FF2B5EF4-FFF2-40B4-BE49-F238E27FC236}">
                <a16:creationId xmlns:a16="http://schemas.microsoft.com/office/drawing/2014/main" id="{90861060-B04E-4470-ACA9-A96080556395}"/>
              </a:ext>
            </a:extLst>
          </p:cNvPr>
          <p:cNvSpPr>
            <a:spLocks xmlns:a="http://schemas.openxmlformats.org/drawingml/2006/main" noGrp="1"/>
          </p:cNvSpPr>
          <p:nvPr/>
        </p:nvSpPr>
        <p:spPr>
          <a:xfrm xmlns:a="http://schemas.openxmlformats.org/drawingml/2006/main">
            <a:off x="1581150" y="30289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0">
                <a:solidFill>
                  <a:srgbClr val="183247"/>
                </a:solidFill>
                <a:latin typeface="DejaVu Sans"/>
                <a:ea typeface="DejaVu Sans"/>
                <a:cs typeface="DejaVu Sans"/>
              </a:defRPr>
            </a:pPr>
            <a:r>
              <a:rPr sz="1350" b="0">
                <a:solidFill>
                  <a:srgbClr val="183247"/>
                </a:solidFill>
                <a:latin typeface="DejaVu Sans"/>
                <a:ea typeface="DejaVu Sans"/>
                <a:cs typeface="DejaVu Sans"/>
              </a:rPr>
              <a:t>Revised bank details for today's invoice</a:t>
            </a:r>
          </a:p>
        </p:txBody>
      </p:sp>
      <p:sp>
        <p:nvSpPr>
          <p:cNvPr id="15" name="">
            <a:extLst xmlns:a="http://schemas.openxmlformats.org/drawingml/2006/main">
              <a:ext uri="{FF2B5EF4-FFF2-40B4-BE49-F238E27FC236}">
                <a16:creationId xmlns:a16="http://schemas.microsoft.com/office/drawing/2014/main" id="{4A62251B-07DF-4300-9094-CFB2AE128AEE}"/>
              </a:ext>
            </a:extLst>
          </p:cNvPr>
          <p:cNvSpPr>
            <a:spLocks xmlns:a="http://schemas.openxmlformats.org/drawingml/2006/main" noGrp="1"/>
          </p:cNvSpPr>
          <p:nvPr/>
        </p:nvSpPr>
        <p:spPr>
          <a:xfrm xmlns:a="http://schemas.openxmlformats.org/drawingml/2006/main">
            <a:off x="628650" y="3524250"/>
            <a:ext cx="71818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6F22ACF-EDE0-4EE5-B510-D34F0F84CD41}"/>
              </a:ext>
            </a:extLst>
          </p:cNvPr>
          <p:cNvSpPr>
            <a:spLocks xmlns:a="http://schemas.openxmlformats.org/drawingml/2006/main" noGrp="1"/>
          </p:cNvSpPr>
          <p:nvPr/>
        </p:nvSpPr>
        <p:spPr>
          <a:xfrm xmlns:a="http://schemas.openxmlformats.org/drawingml/2006/main">
            <a:off x="685800" y="3676650"/>
            <a:ext cx="70675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Please use the attached revised account details. Payment must be completed within one hour to avoid cancellation of your order.</a:t>
            </a:r>
          </a:p>
        </p:txBody>
      </p:sp>
      <p:sp>
        <p:nvSpPr>
          <p:cNvPr id="17" name="">
            <a:extLst xmlns:a="http://schemas.openxmlformats.org/drawingml/2006/main">
              <a:ext uri="{FF2B5EF4-FFF2-40B4-BE49-F238E27FC236}">
                <a16:creationId xmlns:a16="http://schemas.microsoft.com/office/drawing/2014/main" id="{71827E2B-9132-4F8F-85B7-3E3B46E3D00A}"/>
              </a:ext>
            </a:extLst>
          </p:cNvPr>
          <p:cNvSpPr>
            <a:spLocks xmlns:a="http://schemas.openxmlformats.org/drawingml/2006/main" noGrp="1"/>
          </p:cNvSpPr>
          <p:nvPr/>
        </p:nvSpPr>
        <p:spPr>
          <a:xfrm xmlns:a="http://schemas.openxmlformats.org/drawingml/2006/main">
            <a:off x="685800" y="5314950"/>
            <a:ext cx="7067550" cy="323850"/>
          </a:xfrm>
          <a:prstGeom xmlns:a="http://schemas.openxmlformats.org/drawingml/2006/main" prst="rect">
            <a:avLst/>
          </a:prstGeom>
          <a:solidFill xmlns:a="http://schemas.openxmlformats.org/drawingml/2006/main">
            <a:srgbClr val="FFF1F1"/>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1">
                <a:solidFill>
                  <a:srgbClr val="E54B4B"/>
                </a:solidFill>
                <a:latin typeface="DejaVu Sans"/>
                <a:ea typeface="DejaVu Sans"/>
                <a:cs typeface="DejaVu Sans"/>
              </a:defRPr>
            </a:pPr>
            <a:r>
              <a:rPr sz="1350" b="1">
                <a:solidFill>
                  <a:srgbClr val="E54B4B"/>
                </a:solidFill>
                <a:latin typeface="DejaVu Sans"/>
                <a:ea typeface="DejaVu Sans"/>
                <a:cs typeface="DejaVu Sans"/>
              </a:rPr>
              <a:t>Attachment: Bank_Details.pdf.exe</a:t>
            </a:r>
          </a:p>
        </p:txBody>
      </p:sp>
      <p:sp>
        <p:nvSpPr>
          <p:cNvPr id="18" name="">
            <a:extLst xmlns:a="http://schemas.openxmlformats.org/drawingml/2006/main">
              <a:ext uri="{FF2B5EF4-FFF2-40B4-BE49-F238E27FC236}">
                <a16:creationId xmlns:a16="http://schemas.microsoft.com/office/drawing/2014/main" id="{DF36589F-F540-4435-8D2B-D25617054A99}"/>
              </a:ext>
            </a:extLst>
          </p:cNvPr>
          <p:cNvSpPr>
            <a:spLocks xmlns:a="http://schemas.openxmlformats.org/drawingml/2006/main" noGrp="1"/>
          </p:cNvSpPr>
          <p:nvPr/>
        </p:nvSpPr>
        <p:spPr>
          <a:xfrm xmlns:a="http://schemas.openxmlformats.org/drawingml/2006/main">
            <a:off x="8239125" y="16192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98765"/>
          </a:bodyPr>
          <a:lstStyle xmlns:a="http://schemas.openxmlformats.org/drawingml/2006/main"/>
          <a:p xmlns:a="http://schemas.openxmlformats.org/drawingml/2006/main">
            <a:pPr algn="l">
              <a:defRPr sz="2025" b="1">
                <a:solidFill>
                  <a:srgbClr val="081A2E"/>
                </a:solidFill>
                <a:latin typeface="DejaVu Sans"/>
                <a:ea typeface="DejaVu Sans"/>
                <a:cs typeface="DejaVu Sans"/>
              </a:defRPr>
            </a:pPr>
            <a:r>
              <a:rPr sz="2025" b="1">
                <a:solidFill>
                  <a:srgbClr val="081A2E"/>
                </a:solidFill>
                <a:latin typeface="DejaVu Sans"/>
                <a:ea typeface="DejaVu Sans"/>
                <a:cs typeface="DejaVu Sans"/>
              </a:rPr>
              <a:t>Questions</a:t>
            </a:r>
          </a:p>
        </p:txBody>
      </p:sp>
      <p:sp>
        <p:nvSpPr>
          <p:cNvPr id="19" name="">
            <a:extLst xmlns:a="http://schemas.openxmlformats.org/drawingml/2006/main">
              <a:ext uri="{FF2B5EF4-FFF2-40B4-BE49-F238E27FC236}">
                <a16:creationId xmlns:a16="http://schemas.microsoft.com/office/drawing/2014/main" id="{9A82D6E6-1DDD-43DD-8716-68BE3C0846B2}"/>
              </a:ext>
            </a:extLst>
          </p:cNvPr>
          <p:cNvSpPr>
            <a:spLocks xmlns:a="http://schemas.openxmlformats.org/drawingml/2006/main" noGrp="1"/>
          </p:cNvSpPr>
          <p:nvPr/>
        </p:nvSpPr>
        <p:spPr>
          <a:xfrm xmlns:a="http://schemas.openxmlformats.org/drawingml/2006/main">
            <a:off x="8096250" y="2190750"/>
            <a:ext cx="3429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What is unusual?</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What is the likely objective?</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How should the supplier be contacted?</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What evidence should be preserved?</a:t>
            </a:r>
          </a:p>
        </p:txBody>
      </p:sp>
    </p:spTree>
    <p:extLst>
      <p:ext uri="{BB962C8B-B14F-4D97-AF65-F5344CB8AC3E}">
        <p14:creationId xmlns:p14="http://schemas.microsoft.com/office/powerpoint/2010/main" val="802150243"/>
      </p:ext>
    </p:extLst>
  </p:cSld>
</p:sld>
</file>

<file path=ppt/slides/slide3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7B04369-0CDA-4F1A-A7B6-808D2F4AC28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864911-EA04-457B-B0E6-B89518C0E66F}"/>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PRACTICAL EXERCISE</a:t>
            </a:r>
          </a:p>
        </p:txBody>
      </p:sp>
      <p:sp>
        <p:nvSpPr>
          <p:cNvPr id="3" name="">
            <a:extLst xmlns:a="http://schemas.openxmlformats.org/drawingml/2006/main">
              <a:ext uri="{FF2B5EF4-FFF2-40B4-BE49-F238E27FC236}">
                <a16:creationId xmlns:a16="http://schemas.microsoft.com/office/drawing/2014/main" id="{F511EEBC-668B-4768-9F0B-E8EFC0BDAE23}"/>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38</a:t>
            </a:r>
          </a:p>
        </p:txBody>
      </p:sp>
      <p:sp>
        <p:nvSpPr>
          <p:cNvPr id="4" name="">
            <a:extLst xmlns:a="http://schemas.openxmlformats.org/drawingml/2006/main">
              <a:ext uri="{FF2B5EF4-FFF2-40B4-BE49-F238E27FC236}">
                <a16:creationId xmlns:a16="http://schemas.microsoft.com/office/drawing/2014/main" id="{8EC2258F-0185-4440-9DFB-DD2437D4B155}"/>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9917DBA-7768-4281-A0E8-B5D1CF47620E}"/>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Sample B: internal meeting notice</a:t>
            </a:r>
          </a:p>
        </p:txBody>
      </p:sp>
      <p:sp>
        <p:nvSpPr>
          <p:cNvPr id="6" name="">
            <a:extLst xmlns:a="http://schemas.openxmlformats.org/drawingml/2006/main">
              <a:ext uri="{FF2B5EF4-FFF2-40B4-BE49-F238E27FC236}">
                <a16:creationId xmlns:a16="http://schemas.microsoft.com/office/drawing/2014/main" id="{E6A38F6A-808C-428C-B7E5-C02A758A937F}"/>
              </a:ext>
            </a:extLst>
          </p:cNvPr>
          <p:cNvSpPr>
            <a:spLocks xmlns:a="http://schemas.openxmlformats.org/drawingml/2006/main" noGrp="1"/>
          </p:cNvSpPr>
          <p:nvPr/>
        </p:nvSpPr>
        <p:spPr>
          <a:xfrm xmlns:a="http://schemas.openxmlformats.org/drawingml/2006/main">
            <a:off x="457200" y="1524000"/>
            <a:ext cx="7524750" cy="428625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8349B61B-DDC9-48C5-BF7D-BBD71F0B7244}"/>
              </a:ext>
            </a:extLst>
          </p:cNvPr>
          <p:cNvSpPr>
            <a:spLocks xmlns:a="http://schemas.openxmlformats.org/drawingml/2006/main" noGrp="1"/>
          </p:cNvSpPr>
          <p:nvPr/>
        </p:nvSpPr>
        <p:spPr>
          <a:xfrm xmlns:a="http://schemas.openxmlformats.org/drawingml/2006/main">
            <a:off x="457200" y="1524000"/>
            <a:ext cx="7524750" cy="4572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5C9A4F-938E-4E7B-B5DE-386561C0B07E}"/>
              </a:ext>
            </a:extLst>
          </p:cNvPr>
          <p:cNvSpPr>
            <a:spLocks xmlns:a="http://schemas.openxmlformats.org/drawingml/2006/main" noGrp="1"/>
          </p:cNvSpPr>
          <p:nvPr/>
        </p:nvSpPr>
        <p:spPr>
          <a:xfrm xmlns:a="http://schemas.openxmlformats.org/drawingml/2006/main">
            <a:off x="628650" y="1600200"/>
            <a:ext cx="718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92593"/>
          </a:bodyPr>
          <a:lstStyle xmlns:a="http://schemas.openxmlformats.org/drawingml/2006/main"/>
          <a:p xmlns:a="http://schemas.openxmlformats.org/drawingml/2006/main">
            <a:pPr algn="l">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Message preview</a:t>
            </a:r>
          </a:p>
        </p:txBody>
      </p:sp>
      <p:sp>
        <p:nvSpPr>
          <p:cNvPr id="9" name="">
            <a:extLst xmlns:a="http://schemas.openxmlformats.org/drawingml/2006/main">
              <a:ext uri="{FF2B5EF4-FFF2-40B4-BE49-F238E27FC236}">
                <a16:creationId xmlns:a16="http://schemas.microsoft.com/office/drawing/2014/main" id="{9478EC88-C86C-424F-8BCA-B9D86930F89C}"/>
              </a:ext>
            </a:extLst>
          </p:cNvPr>
          <p:cNvSpPr>
            <a:spLocks xmlns:a="http://schemas.openxmlformats.org/drawingml/2006/main" noGrp="1"/>
          </p:cNvSpPr>
          <p:nvPr/>
        </p:nvSpPr>
        <p:spPr>
          <a:xfrm xmlns:a="http://schemas.openxmlformats.org/drawingml/2006/main">
            <a:off x="628650" y="211455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275" b="1">
                <a:solidFill>
                  <a:srgbClr val="607385"/>
                </a:solidFill>
                <a:latin typeface="DejaVu Sans"/>
                <a:ea typeface="DejaVu Sans"/>
                <a:cs typeface="DejaVu Sans"/>
              </a:defRPr>
            </a:pPr>
            <a:r>
              <a:rPr sz="1275" b="1">
                <a:solidFill>
                  <a:srgbClr val="607385"/>
                </a:solidFill>
                <a:latin typeface="DejaVu Sans"/>
                <a:ea typeface="DejaVu Sans"/>
                <a:cs typeface="DejaVu Sans"/>
              </a:rPr>
              <a:t>From</a:t>
            </a:r>
          </a:p>
        </p:txBody>
      </p:sp>
      <p:sp>
        <p:nvSpPr>
          <p:cNvPr id="10" name="">
            <a:extLst xmlns:a="http://schemas.openxmlformats.org/drawingml/2006/main">
              <a:ext uri="{FF2B5EF4-FFF2-40B4-BE49-F238E27FC236}">
                <a16:creationId xmlns:a16="http://schemas.microsoft.com/office/drawing/2014/main" id="{DC744C60-6BF6-4AA4-BA5B-1E141F90DE5B}"/>
              </a:ext>
            </a:extLst>
          </p:cNvPr>
          <p:cNvSpPr>
            <a:spLocks xmlns:a="http://schemas.openxmlformats.org/drawingml/2006/main" noGrp="1"/>
          </p:cNvSpPr>
          <p:nvPr/>
        </p:nvSpPr>
        <p:spPr>
          <a:xfrm xmlns:a="http://schemas.openxmlformats.org/drawingml/2006/main">
            <a:off x="1581150" y="21145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0">
                <a:solidFill>
                  <a:srgbClr val="183247"/>
                </a:solidFill>
                <a:latin typeface="DejaVu Sans"/>
                <a:ea typeface="DejaVu Sans"/>
                <a:cs typeface="DejaVu Sans"/>
              </a:defRPr>
            </a:pPr>
            <a:r>
              <a:rPr sz="1350" b="0">
                <a:solidFill>
                  <a:srgbClr val="183247"/>
                </a:solidFill>
                <a:latin typeface="DejaVu Sans"/>
                <a:ea typeface="DejaVu Sans"/>
                <a:cs typeface="DejaVu Sans"/>
              </a:rPr>
              <a:t>HR Department &lt;hr@vaidhyarathnam.com&gt;</a:t>
            </a:r>
          </a:p>
        </p:txBody>
      </p:sp>
      <p:sp>
        <p:nvSpPr>
          <p:cNvPr id="11" name="">
            <a:extLst xmlns:a="http://schemas.openxmlformats.org/drawingml/2006/main">
              <a:ext uri="{FF2B5EF4-FFF2-40B4-BE49-F238E27FC236}">
                <a16:creationId xmlns:a16="http://schemas.microsoft.com/office/drawing/2014/main" id="{B324A66D-17E1-4395-A095-300E045812AA}"/>
              </a:ext>
            </a:extLst>
          </p:cNvPr>
          <p:cNvSpPr>
            <a:spLocks xmlns:a="http://schemas.openxmlformats.org/drawingml/2006/main" noGrp="1"/>
          </p:cNvSpPr>
          <p:nvPr/>
        </p:nvSpPr>
        <p:spPr>
          <a:xfrm xmlns:a="http://schemas.openxmlformats.org/drawingml/2006/main">
            <a:off x="628650" y="257175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275" b="1">
                <a:solidFill>
                  <a:srgbClr val="607385"/>
                </a:solidFill>
                <a:latin typeface="DejaVu Sans"/>
                <a:ea typeface="DejaVu Sans"/>
                <a:cs typeface="DejaVu Sans"/>
              </a:defRPr>
            </a:pPr>
            <a:r>
              <a:rPr sz="1275" b="1">
                <a:solidFill>
                  <a:srgbClr val="607385"/>
                </a:solidFill>
                <a:latin typeface="DejaVu Sans"/>
                <a:ea typeface="DejaVu Sans"/>
                <a:cs typeface="DejaVu Sans"/>
              </a:rPr>
              <a:t>Reply-To</a:t>
            </a:r>
          </a:p>
        </p:txBody>
      </p:sp>
      <p:sp>
        <p:nvSpPr>
          <p:cNvPr id="12" name="">
            <a:extLst xmlns:a="http://schemas.openxmlformats.org/drawingml/2006/main">
              <a:ext uri="{FF2B5EF4-FFF2-40B4-BE49-F238E27FC236}">
                <a16:creationId xmlns:a16="http://schemas.microsoft.com/office/drawing/2014/main" id="{1B4001DB-A23B-498F-92D8-E5756F8CA1FB}"/>
              </a:ext>
            </a:extLst>
          </p:cNvPr>
          <p:cNvSpPr>
            <a:spLocks xmlns:a="http://schemas.openxmlformats.org/drawingml/2006/main" noGrp="1"/>
          </p:cNvSpPr>
          <p:nvPr/>
        </p:nvSpPr>
        <p:spPr>
          <a:xfrm xmlns:a="http://schemas.openxmlformats.org/drawingml/2006/main">
            <a:off x="1581150" y="25717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0">
                <a:solidFill>
                  <a:srgbClr val="E54B4B"/>
                </a:solidFill>
                <a:latin typeface="DejaVu Sans"/>
                <a:ea typeface="DejaVu Sans"/>
                <a:cs typeface="DejaVu Sans"/>
              </a:defRPr>
            </a:pPr>
            <a:r>
              <a:rPr sz="1350" b="0">
                <a:solidFill>
                  <a:srgbClr val="E54B4B"/>
                </a:solidFill>
                <a:latin typeface="DejaVu Sans"/>
                <a:ea typeface="DejaVu Sans"/>
                <a:cs typeface="DejaVu Sans"/>
              </a:rPr>
              <a:t>hr@vaidhyarathnam.com</a:t>
            </a:r>
          </a:p>
        </p:txBody>
      </p:sp>
      <p:sp>
        <p:nvSpPr>
          <p:cNvPr id="13" name="">
            <a:extLst xmlns:a="http://schemas.openxmlformats.org/drawingml/2006/main">
              <a:ext uri="{FF2B5EF4-FFF2-40B4-BE49-F238E27FC236}">
                <a16:creationId xmlns:a16="http://schemas.microsoft.com/office/drawing/2014/main" id="{D0921300-63B7-4278-9256-CBF371015A67}"/>
              </a:ext>
            </a:extLst>
          </p:cNvPr>
          <p:cNvSpPr>
            <a:spLocks xmlns:a="http://schemas.openxmlformats.org/drawingml/2006/main" noGrp="1"/>
          </p:cNvSpPr>
          <p:nvPr/>
        </p:nvSpPr>
        <p:spPr>
          <a:xfrm xmlns:a="http://schemas.openxmlformats.org/drawingml/2006/main">
            <a:off x="628650" y="302895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275" b="1">
                <a:solidFill>
                  <a:srgbClr val="607385"/>
                </a:solidFill>
                <a:latin typeface="DejaVu Sans"/>
                <a:ea typeface="DejaVu Sans"/>
                <a:cs typeface="DejaVu Sans"/>
              </a:defRPr>
            </a:pPr>
            <a:r>
              <a:rPr sz="1275" b="1">
                <a:solidFill>
                  <a:srgbClr val="607385"/>
                </a:solidFill>
                <a:latin typeface="DejaVu Sans"/>
                <a:ea typeface="DejaVu Sans"/>
                <a:cs typeface="DejaVu Sans"/>
              </a:rPr>
              <a:t>Subject</a:t>
            </a:r>
          </a:p>
        </p:txBody>
      </p:sp>
      <p:sp>
        <p:nvSpPr>
          <p:cNvPr id="14" name="">
            <a:extLst xmlns:a="http://schemas.openxmlformats.org/drawingml/2006/main">
              <a:ext uri="{FF2B5EF4-FFF2-40B4-BE49-F238E27FC236}">
                <a16:creationId xmlns:a16="http://schemas.microsoft.com/office/drawing/2014/main" id="{605BF949-2D73-4EC1-BE3E-A70FAA4FA5F8}"/>
              </a:ext>
            </a:extLst>
          </p:cNvPr>
          <p:cNvSpPr>
            <a:spLocks xmlns:a="http://schemas.openxmlformats.org/drawingml/2006/main" noGrp="1"/>
          </p:cNvSpPr>
          <p:nvPr/>
        </p:nvSpPr>
        <p:spPr>
          <a:xfrm xmlns:a="http://schemas.openxmlformats.org/drawingml/2006/main">
            <a:off x="1581150" y="30289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1350" b="0">
                <a:solidFill>
                  <a:srgbClr val="183247"/>
                </a:solidFill>
                <a:latin typeface="DejaVu Sans"/>
                <a:ea typeface="DejaVu Sans"/>
                <a:cs typeface="DejaVu Sans"/>
              </a:defRPr>
            </a:pPr>
            <a:r>
              <a:rPr sz="1350" b="0">
                <a:solidFill>
                  <a:srgbClr val="183247"/>
                </a:solidFill>
                <a:latin typeface="DejaVu Sans"/>
                <a:ea typeface="DejaVu Sans"/>
                <a:cs typeface="DejaVu Sans"/>
              </a:rPr>
              <a:t>Updated meeting location</a:t>
            </a:r>
          </a:p>
        </p:txBody>
      </p:sp>
      <p:sp>
        <p:nvSpPr>
          <p:cNvPr id="15" name="">
            <a:extLst xmlns:a="http://schemas.openxmlformats.org/drawingml/2006/main">
              <a:ext uri="{FF2B5EF4-FFF2-40B4-BE49-F238E27FC236}">
                <a16:creationId xmlns:a16="http://schemas.microsoft.com/office/drawing/2014/main" id="{ECECAC21-D727-4EA3-9241-F67E1D9F9331}"/>
              </a:ext>
            </a:extLst>
          </p:cNvPr>
          <p:cNvSpPr>
            <a:spLocks xmlns:a="http://schemas.openxmlformats.org/drawingml/2006/main" noGrp="1"/>
          </p:cNvSpPr>
          <p:nvPr/>
        </p:nvSpPr>
        <p:spPr>
          <a:xfrm xmlns:a="http://schemas.openxmlformats.org/drawingml/2006/main">
            <a:off x="628650" y="3524250"/>
            <a:ext cx="71818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C885D6B-368D-48C1-B79C-D10745C5867B}"/>
              </a:ext>
            </a:extLst>
          </p:cNvPr>
          <p:cNvSpPr>
            <a:spLocks xmlns:a="http://schemas.openxmlformats.org/drawingml/2006/main" noGrp="1"/>
          </p:cNvSpPr>
          <p:nvPr/>
        </p:nvSpPr>
        <p:spPr>
          <a:xfrm xmlns:a="http://schemas.openxmlformats.org/drawingml/2006/main">
            <a:off x="685800" y="3676650"/>
            <a:ext cx="70675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100000"/>
          </a:bodyPr>
          <a:lstStyle xmlns:a="http://schemas.openxmlformats.org/drawingml/2006/main"/>
          <a:p xmlns:a="http://schemas.openxmlformats.org/drawingml/2006/main">
            <a:pPr algn="l">
              <a:defRPr sz="1500" b="0">
                <a:solidFill>
                  <a:srgbClr val="183247"/>
                </a:solidFill>
                <a:latin typeface="DejaVu Sans"/>
                <a:ea typeface="DejaVu Sans"/>
                <a:cs typeface="DejaVu Sans"/>
              </a:defRPr>
            </a:pPr>
            <a:r>
              <a:rPr sz="1500" b="0">
                <a:solidFill>
                  <a:srgbClr val="183247"/>
                </a:solidFill>
                <a:latin typeface="DejaVu Sans"/>
                <a:ea typeface="DejaVu Sans"/>
                <a:cs typeface="DejaVu Sans"/>
              </a:rPr>
              <a:t>The staff meeting will be held in Conference Room 2 at 3:00 PM. No response is required. The calendar invitation has been updated.</a:t>
            </a:r>
          </a:p>
        </p:txBody>
      </p:sp>
      <p:sp>
        <p:nvSpPr>
          <p:cNvPr id="17" name="">
            <a:extLst xmlns:a="http://schemas.openxmlformats.org/drawingml/2006/main">
              <a:ext uri="{FF2B5EF4-FFF2-40B4-BE49-F238E27FC236}">
                <a16:creationId xmlns:a16="http://schemas.microsoft.com/office/drawing/2014/main" id="{0001D0E7-B721-4458-AFD1-1DAB6CC7BDE9}"/>
              </a:ext>
            </a:extLst>
          </p:cNvPr>
          <p:cNvSpPr>
            <a:spLocks xmlns:a="http://schemas.openxmlformats.org/drawingml/2006/main" noGrp="1"/>
          </p:cNvSpPr>
          <p:nvPr/>
        </p:nvSpPr>
        <p:spPr>
          <a:xfrm xmlns:a="http://schemas.openxmlformats.org/drawingml/2006/main">
            <a:off x="8239125" y="16192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t">
            <a:normAutofit fontScale="98765"/>
          </a:bodyPr>
          <a:lstStyle xmlns:a="http://schemas.openxmlformats.org/drawingml/2006/main"/>
          <a:p xmlns:a="http://schemas.openxmlformats.org/drawingml/2006/main">
            <a:pPr algn="l">
              <a:defRPr sz="2025" b="1">
                <a:solidFill>
                  <a:srgbClr val="081A2E"/>
                </a:solidFill>
                <a:latin typeface="DejaVu Sans"/>
                <a:ea typeface="DejaVu Sans"/>
                <a:cs typeface="DejaVu Sans"/>
              </a:defRPr>
            </a:pPr>
            <a:r>
              <a:rPr sz="2025" b="1">
                <a:solidFill>
                  <a:srgbClr val="081A2E"/>
                </a:solidFill>
                <a:latin typeface="DejaVu Sans"/>
                <a:ea typeface="DejaVu Sans"/>
                <a:cs typeface="DejaVu Sans"/>
              </a:rPr>
              <a:t>Questions</a:t>
            </a:r>
          </a:p>
        </p:txBody>
      </p:sp>
      <p:sp>
        <p:nvSpPr>
          <p:cNvPr id="18" name="">
            <a:extLst xmlns:a="http://schemas.openxmlformats.org/drawingml/2006/main">
              <a:ext uri="{FF2B5EF4-FFF2-40B4-BE49-F238E27FC236}">
                <a16:creationId xmlns:a16="http://schemas.microsoft.com/office/drawing/2014/main" id="{39B4725C-A9C9-4D7D-B730-E7C6792A77D2}"/>
              </a:ext>
            </a:extLst>
          </p:cNvPr>
          <p:cNvSpPr>
            <a:spLocks xmlns:a="http://schemas.openxmlformats.org/drawingml/2006/main" noGrp="1"/>
          </p:cNvSpPr>
          <p:nvPr/>
        </p:nvSpPr>
        <p:spPr>
          <a:xfrm xmlns:a="http://schemas.openxmlformats.org/drawingml/2006/main">
            <a:off x="8096250" y="2190750"/>
            <a:ext cx="3429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Is the context expected?</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Do the sender details align?</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Does the message request risky action?</a:t>
            </a:r>
          </a:p>
          <a:p xmlns:a="http://schemas.openxmlformats.org/drawingml/2006/main">
            <a:pPr marL="241300" indent="-114300" algn="l">
              <a:spcAft>
                <a:spcPts val="1100"/>
              </a:spcAft>
              <a:buChar char="•"/>
              <a:defRPr sz="1650" b="0">
                <a:solidFill>
                  <a:srgbClr val="183247"/>
                </a:solidFill>
                <a:latin typeface="DejaVu Sans"/>
                <a:ea typeface="DejaVu Sans"/>
                <a:cs typeface="DejaVu Sans"/>
              </a:defRPr>
            </a:pPr>
            <a:r>
              <a:rPr sz="1650" b="0">
                <a:solidFill>
                  <a:srgbClr val="183247"/>
                </a:solidFill>
                <a:latin typeface="DejaVu Sans"/>
                <a:ea typeface="DejaVu Sans"/>
                <a:cs typeface="DejaVu Sans"/>
              </a:rPr>
              <a:t>Would you still verify anything?</a:t>
            </a:r>
          </a:p>
        </p:txBody>
      </p:sp>
    </p:spTree>
    <p:extLst>
      <p:ext uri="{BB962C8B-B14F-4D97-AF65-F5344CB8AC3E}">
        <p14:creationId xmlns:p14="http://schemas.microsoft.com/office/powerpoint/2010/main" val="1496639199"/>
      </p:ext>
    </p:extLst>
  </p:cSld>
</p:sld>
</file>

<file path=ppt/slides/slide3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841FB7B-FC7B-41E9-A7F3-183C2F5B21F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1A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01BAAC-290A-4FA6-A917-5C230D00E4A5}"/>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2F80ED"/>
                </a:solidFill>
                <a:latin typeface="DejaVu Sans"/>
                <a:ea typeface="DejaVu Sans"/>
                <a:cs typeface="DejaVu Sans"/>
              </a:defRPr>
            </a:pPr>
            <a:r>
              <a:rPr sz="1125" b="1">
                <a:solidFill>
                  <a:srgbClr val="2F80ED"/>
                </a:solidFill>
                <a:latin typeface="DejaVu Sans"/>
                <a:ea typeface="DejaVu Sans"/>
                <a:cs typeface="DejaVu Sans"/>
              </a:rPr>
              <a:t>PRACTICAL EXERCISE</a:t>
            </a:r>
          </a:p>
        </p:txBody>
      </p:sp>
      <p:sp>
        <p:nvSpPr>
          <p:cNvPr id="3" name="">
            <a:extLst xmlns:a="http://schemas.openxmlformats.org/drawingml/2006/main">
              <a:ext uri="{FF2B5EF4-FFF2-40B4-BE49-F238E27FC236}">
                <a16:creationId xmlns:a16="http://schemas.microsoft.com/office/drawing/2014/main" id="{F287FA90-E189-4E6F-B87D-01158BEA157D}"/>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607385"/>
                </a:solidFill>
                <a:latin typeface="DejaVu Sans"/>
                <a:ea typeface="DejaVu Sans"/>
                <a:cs typeface="DejaVu Sans"/>
              </a:defRPr>
            </a:pPr>
            <a:r>
              <a:rPr sz="1050" b="1">
                <a:solidFill>
                  <a:srgbClr val="607385"/>
                </a:solidFill>
                <a:latin typeface="DejaVu Sans"/>
                <a:ea typeface="DejaVu Sans"/>
                <a:cs typeface="DejaVu Sans"/>
              </a:rPr>
              <a:t>39</a:t>
            </a:r>
          </a:p>
        </p:txBody>
      </p:sp>
      <p:sp>
        <p:nvSpPr>
          <p:cNvPr id="4" name="">
            <a:extLst xmlns:a="http://schemas.openxmlformats.org/drawingml/2006/main">
              <a:ext uri="{FF2B5EF4-FFF2-40B4-BE49-F238E27FC236}">
                <a16:creationId xmlns:a16="http://schemas.microsoft.com/office/drawing/2014/main" id="{01D3E778-D41A-47E0-8A55-6325D603100C}"/>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DCE8E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4C56B4E-4FDA-48D9-B6FD-D3B3E9FC3F9F}"/>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081A2E"/>
                </a:solidFill>
                <a:latin typeface="DejaVu Sans"/>
                <a:ea typeface="DejaVu Sans"/>
                <a:cs typeface="DejaVu Sans"/>
              </a:defRPr>
            </a:pPr>
            <a:r>
              <a:rPr sz="3000" b="1">
                <a:solidFill>
                  <a:srgbClr val="081A2E"/>
                </a:solidFill>
                <a:latin typeface="DejaVu Sans"/>
                <a:ea typeface="DejaVu Sans"/>
                <a:cs typeface="DejaVu Sans"/>
              </a:rPr>
              <a:t>If someone entered credentials</a:t>
            </a:r>
          </a:p>
        </p:txBody>
      </p:sp>
      <p:sp>
        <p:nvSpPr>
          <p:cNvPr id="6" name="">
            <a:extLst xmlns:a="http://schemas.openxmlformats.org/drawingml/2006/main">
              <a:ext uri="{FF2B5EF4-FFF2-40B4-BE49-F238E27FC236}">
                <a16:creationId xmlns:a16="http://schemas.microsoft.com/office/drawing/2014/main" id="{8AC3FEF5-F33C-40E6-A6CD-A2817A76C7D8}"/>
              </a:ext>
            </a:extLst>
          </p:cNvPr>
          <p:cNvSpPr>
            <a:spLocks xmlns:a="http://schemas.openxmlformats.org/drawingml/2006/main" noGrp="1"/>
          </p:cNvSpPr>
          <p:nvPr/>
        </p:nvSpPr>
        <p:spPr>
          <a:xfrm xmlns:a="http://schemas.openxmlformats.org/drawingml/2006/main">
            <a:off x="552450" y="2047875"/>
            <a:ext cx="2538413"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7" name="">
            <a:extLst xmlns:a="http://schemas.openxmlformats.org/drawingml/2006/main">
              <a:ext uri="{FF2B5EF4-FFF2-40B4-BE49-F238E27FC236}">
                <a16:creationId xmlns:a16="http://schemas.microsoft.com/office/drawing/2014/main" id="{FFD20840-2A03-4D90-AB07-093D78CA7B47}"/>
              </a:ext>
            </a:extLst>
          </p:cNvPr>
          <p:cNvSpPr>
            <a:spLocks xmlns:a="http://schemas.openxmlformats.org/drawingml/2006/main" noGrp="1"/>
          </p:cNvSpPr>
          <p:nvPr/>
        </p:nvSpPr>
        <p:spPr>
          <a:xfrm xmlns:a="http://schemas.openxmlformats.org/drawingml/2006/main">
            <a:off x="723900" y="2200275"/>
            <a:ext cx="400050" cy="400050"/>
          </a:xfrm>
          <a:prstGeom xmlns:a="http://schemas.openxmlformats.org/drawingml/2006/main" prst="rect">
            <a:avLst/>
          </a:prstGeom>
          <a:solidFill xmlns:a="http://schemas.openxmlformats.org/drawingml/2006/main">
            <a:srgbClr val="E54B4B"/>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1</a:t>
            </a:r>
          </a:p>
        </p:txBody>
      </p:sp>
      <p:sp>
        <p:nvSpPr>
          <p:cNvPr id="8" name="">
            <a:extLst xmlns:a="http://schemas.openxmlformats.org/drawingml/2006/main">
              <a:ext uri="{FF2B5EF4-FFF2-40B4-BE49-F238E27FC236}">
                <a16:creationId xmlns:a16="http://schemas.microsoft.com/office/drawing/2014/main" id="{FB927DF5-51E1-40A4-9AAB-C214F7A1910C}"/>
              </a:ext>
            </a:extLst>
          </p:cNvPr>
          <p:cNvSpPr>
            <a:spLocks xmlns:a="http://schemas.openxmlformats.org/drawingml/2006/main" noGrp="1"/>
          </p:cNvSpPr>
          <p:nvPr/>
        </p:nvSpPr>
        <p:spPr>
          <a:xfrm xmlns:a="http://schemas.openxmlformats.org/drawingml/2006/main">
            <a:off x="723900" y="2714625"/>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Report</a:t>
            </a:r>
          </a:p>
        </p:txBody>
      </p:sp>
      <p:sp>
        <p:nvSpPr>
          <p:cNvPr id="9" name="">
            <a:extLst xmlns:a="http://schemas.openxmlformats.org/drawingml/2006/main">
              <a:ext uri="{FF2B5EF4-FFF2-40B4-BE49-F238E27FC236}">
                <a16:creationId xmlns:a16="http://schemas.microsoft.com/office/drawing/2014/main" id="{74D400CF-AE4C-481F-A00A-4E0083FE7853}"/>
              </a:ext>
            </a:extLst>
          </p:cNvPr>
          <p:cNvSpPr>
            <a:spLocks xmlns:a="http://schemas.openxmlformats.org/drawingml/2006/main" noGrp="1"/>
          </p:cNvSpPr>
          <p:nvPr/>
        </p:nvSpPr>
        <p:spPr>
          <a:xfrm xmlns:a="http://schemas.openxmlformats.org/drawingml/2006/main">
            <a:off x="723900" y="3114675"/>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607385"/>
                </a:solidFill>
                <a:latin typeface="DejaVu Sans"/>
                <a:ea typeface="DejaVu Sans"/>
                <a:cs typeface="DejaVu Sans"/>
              </a:defRPr>
            </a:pPr>
            <a:r>
              <a:rPr sz="1275" b="0">
                <a:solidFill>
                  <a:srgbClr val="607385"/>
                </a:solidFill>
                <a:latin typeface="DejaVu Sans"/>
                <a:ea typeface="DejaVu Sans"/>
                <a:cs typeface="DejaVu Sans"/>
              </a:rPr>
              <a:t>Notify IT or security immediately</a:t>
            </a:r>
          </a:p>
        </p:txBody>
      </p:sp>
      <p:sp>
        <p:nvSpPr>
          <p:cNvPr id="10" name="">
            <a:extLst xmlns:a="http://schemas.openxmlformats.org/drawingml/2006/main">
              <a:ext uri="{FF2B5EF4-FFF2-40B4-BE49-F238E27FC236}">
                <a16:creationId xmlns:a16="http://schemas.microsoft.com/office/drawing/2014/main" id="{BB11AB51-09ED-4EF3-8AA4-BC2427581E11}"/>
              </a:ext>
            </a:extLst>
          </p:cNvPr>
          <p:cNvSpPr>
            <a:spLocks xmlns:a="http://schemas.openxmlformats.org/drawingml/2006/main" noGrp="1"/>
          </p:cNvSpPr>
          <p:nvPr/>
        </p:nvSpPr>
        <p:spPr>
          <a:xfrm xmlns:a="http://schemas.openxmlformats.org/drawingml/2006/main">
            <a:off x="3262313" y="2047875"/>
            <a:ext cx="2538413"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11" name="">
            <a:extLst xmlns:a="http://schemas.openxmlformats.org/drawingml/2006/main">
              <a:ext uri="{FF2B5EF4-FFF2-40B4-BE49-F238E27FC236}">
                <a16:creationId xmlns:a16="http://schemas.microsoft.com/office/drawing/2014/main" id="{476125FA-E02C-4F18-A269-7432A78566C2}"/>
              </a:ext>
            </a:extLst>
          </p:cNvPr>
          <p:cNvSpPr>
            <a:spLocks xmlns:a="http://schemas.openxmlformats.org/drawingml/2006/main" noGrp="1"/>
          </p:cNvSpPr>
          <p:nvPr/>
        </p:nvSpPr>
        <p:spPr>
          <a:xfrm xmlns:a="http://schemas.openxmlformats.org/drawingml/2006/main">
            <a:off x="3433763" y="2200275"/>
            <a:ext cx="400050" cy="400050"/>
          </a:xfrm>
          <a:prstGeom xmlns:a="http://schemas.openxmlformats.org/drawingml/2006/main" prst="rect">
            <a:avLst/>
          </a:prstGeom>
          <a:solidFill xmlns:a="http://schemas.openxmlformats.org/drawingml/2006/main">
            <a:srgbClr val="E54B4B"/>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2</a:t>
            </a:r>
          </a:p>
        </p:txBody>
      </p:sp>
      <p:sp>
        <p:nvSpPr>
          <p:cNvPr id="12" name="">
            <a:extLst xmlns:a="http://schemas.openxmlformats.org/drawingml/2006/main">
              <a:ext uri="{FF2B5EF4-FFF2-40B4-BE49-F238E27FC236}">
                <a16:creationId xmlns:a16="http://schemas.microsoft.com/office/drawing/2014/main" id="{F01A922E-990C-4325-AABA-90F8DCD2CD5D}"/>
              </a:ext>
            </a:extLst>
          </p:cNvPr>
          <p:cNvSpPr>
            <a:spLocks xmlns:a="http://schemas.openxmlformats.org/drawingml/2006/main" noGrp="1"/>
          </p:cNvSpPr>
          <p:nvPr/>
        </p:nvSpPr>
        <p:spPr>
          <a:xfrm xmlns:a="http://schemas.openxmlformats.org/drawingml/2006/main">
            <a:off x="3433763" y="2714625"/>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Protect</a:t>
            </a:r>
          </a:p>
        </p:txBody>
      </p:sp>
      <p:sp>
        <p:nvSpPr>
          <p:cNvPr id="13" name="">
            <a:extLst xmlns:a="http://schemas.openxmlformats.org/drawingml/2006/main">
              <a:ext uri="{FF2B5EF4-FFF2-40B4-BE49-F238E27FC236}">
                <a16:creationId xmlns:a16="http://schemas.microsoft.com/office/drawing/2014/main" id="{FF6380D2-3FAB-44D5-94FC-9D19CC0195A6}"/>
              </a:ext>
            </a:extLst>
          </p:cNvPr>
          <p:cNvSpPr>
            <a:spLocks xmlns:a="http://schemas.openxmlformats.org/drawingml/2006/main" noGrp="1"/>
          </p:cNvSpPr>
          <p:nvPr/>
        </p:nvSpPr>
        <p:spPr>
          <a:xfrm xmlns:a="http://schemas.openxmlformats.org/drawingml/2006/main">
            <a:off x="3433763" y="3114675"/>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607385"/>
                </a:solidFill>
                <a:latin typeface="DejaVu Sans"/>
                <a:ea typeface="DejaVu Sans"/>
                <a:cs typeface="DejaVu Sans"/>
              </a:defRPr>
            </a:pPr>
            <a:r>
              <a:rPr sz="1275" b="0">
                <a:solidFill>
                  <a:srgbClr val="607385"/>
                </a:solidFill>
                <a:latin typeface="DejaVu Sans"/>
                <a:ea typeface="DejaVu Sans"/>
                <a:cs typeface="DejaVu Sans"/>
              </a:rPr>
              <a:t>Change password from a trusted device</a:t>
            </a:r>
          </a:p>
        </p:txBody>
      </p:sp>
      <p:sp>
        <p:nvSpPr>
          <p:cNvPr id="14" name="">
            <a:extLst xmlns:a="http://schemas.openxmlformats.org/drawingml/2006/main">
              <a:ext uri="{FF2B5EF4-FFF2-40B4-BE49-F238E27FC236}">
                <a16:creationId xmlns:a16="http://schemas.microsoft.com/office/drawing/2014/main" id="{8D92AF75-9B2D-4BB6-AB83-22B07BF9207A}"/>
              </a:ext>
            </a:extLst>
          </p:cNvPr>
          <p:cNvSpPr>
            <a:spLocks xmlns:a="http://schemas.openxmlformats.org/drawingml/2006/main" noGrp="1"/>
          </p:cNvSpPr>
          <p:nvPr/>
        </p:nvSpPr>
        <p:spPr>
          <a:xfrm xmlns:a="http://schemas.openxmlformats.org/drawingml/2006/main">
            <a:off x="5972175" y="2047875"/>
            <a:ext cx="2538413"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sp>
      <p:sp>
        <p:nvSpPr>
          <p:cNvPr id="15" name="">
            <a:extLst xmlns:a="http://schemas.openxmlformats.org/drawingml/2006/main">
              <a:ext uri="{FF2B5EF4-FFF2-40B4-BE49-F238E27FC236}">
                <a16:creationId xmlns:a16="http://schemas.microsoft.com/office/drawing/2014/main" id="{AC28BAF6-C253-4690-91A1-1438AC9A40A9}"/>
              </a:ext>
            </a:extLst>
          </p:cNvPr>
          <p:cNvSpPr>
            <a:spLocks xmlns:a="http://schemas.openxmlformats.org/drawingml/2006/main" noGrp="1"/>
          </p:cNvSpPr>
          <p:nvPr/>
        </p:nvSpPr>
        <p:spPr>
          <a:xfrm xmlns:a="http://schemas.openxmlformats.org/drawingml/2006/main">
            <a:off x="6143625" y="2200275"/>
            <a:ext cx="400050" cy="400050"/>
          </a:xfrm>
          <a:prstGeom xmlns:a="http://schemas.openxmlformats.org/drawingml/2006/main" prst="rect">
            <a:avLst/>
          </a:prstGeom>
          <a:solidFill xmlns:a="http://schemas.openxmlformats.org/drawingml/2006/main">
            <a:srgbClr val="E54B4B"/>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3</a:t>
            </a:r>
          </a:p>
        </p:txBody>
      </p:sp>
      <p:sp>
        <p:nvSpPr>
          <p:cNvPr id="16" name="">
            <a:extLst xmlns:a="http://schemas.openxmlformats.org/drawingml/2006/main">
              <a:ext uri="{FF2B5EF4-FFF2-40B4-BE49-F238E27FC236}">
                <a16:creationId xmlns:a16="http://schemas.microsoft.com/office/drawing/2014/main" id="{0CEC4DA0-250B-4890-89B5-A6039B5C0EF6}"/>
              </a:ext>
            </a:extLst>
          </p:cNvPr>
          <p:cNvSpPr>
            <a:spLocks xmlns:a="http://schemas.openxmlformats.org/drawingml/2006/main" noGrp="1"/>
          </p:cNvSpPr>
          <p:nvPr/>
        </p:nvSpPr>
        <p:spPr>
          <a:xfrm xmlns:a="http://schemas.openxmlformats.org/drawingml/2006/main">
            <a:off x="6143625" y="2714625"/>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Contain</a:t>
            </a:r>
          </a:p>
        </p:txBody>
      </p:sp>
      <p:sp>
        <p:nvSpPr>
          <p:cNvPr id="17" name="">
            <a:extLst xmlns:a="http://schemas.openxmlformats.org/drawingml/2006/main">
              <a:ext uri="{FF2B5EF4-FFF2-40B4-BE49-F238E27FC236}">
                <a16:creationId xmlns:a16="http://schemas.microsoft.com/office/drawing/2014/main" id="{30F964F5-9D46-45B8-AFA8-D425FD58ED32}"/>
              </a:ext>
            </a:extLst>
          </p:cNvPr>
          <p:cNvSpPr>
            <a:spLocks xmlns:a="http://schemas.openxmlformats.org/drawingml/2006/main" noGrp="1"/>
          </p:cNvSpPr>
          <p:nvPr/>
        </p:nvSpPr>
        <p:spPr>
          <a:xfrm xmlns:a="http://schemas.openxmlformats.org/drawingml/2006/main">
            <a:off x="6143625" y="3114675"/>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607385"/>
                </a:solidFill>
                <a:latin typeface="DejaVu Sans"/>
                <a:ea typeface="DejaVu Sans"/>
                <a:cs typeface="DejaVu Sans"/>
              </a:defRPr>
            </a:pPr>
            <a:r>
              <a:rPr sz="1275" b="0">
                <a:solidFill>
                  <a:srgbClr val="607385"/>
                </a:solidFill>
                <a:latin typeface="DejaVu Sans"/>
                <a:ea typeface="DejaVu Sans"/>
                <a:cs typeface="DejaVu Sans"/>
              </a:rPr>
              <a:t>Revoke sessions and review MFA</a:t>
            </a:r>
          </a:p>
        </p:txBody>
      </p:sp>
      <p:sp>
        <p:nvSpPr>
          <p:cNvPr id="18" name="">
            <a:extLst xmlns:a="http://schemas.openxmlformats.org/drawingml/2006/main">
              <a:ext uri="{FF2B5EF4-FFF2-40B4-BE49-F238E27FC236}">
                <a16:creationId xmlns:a16="http://schemas.microsoft.com/office/drawing/2014/main" id="{16A8CF42-067C-46F3-89A2-0E4B8AAE1B66}"/>
              </a:ext>
            </a:extLst>
          </p:cNvPr>
          <p:cNvSpPr>
            <a:spLocks xmlns:a="http://schemas.openxmlformats.org/drawingml/2006/main" noGrp="1"/>
          </p:cNvSpPr>
          <p:nvPr/>
        </p:nvSpPr>
        <p:spPr>
          <a:xfrm xmlns:a="http://schemas.openxmlformats.org/drawingml/2006/main">
            <a:off x="8682038" y="2047875"/>
            <a:ext cx="2538413" cy="1714500"/>
          </a:xfrm>
          <a:prstGeom xmlns:a="http://schemas.openxmlformats.org/drawingml/2006/main" prst="rect">
            <a:avLst/>
          </a:prstGeom>
          <a:solidFill xmlns:a="http://schemas.openxmlformats.org/drawingml/2006/main">
            <a:srgbClr val="E54B4B"/>
          </a:solidFill>
          <a:ln xmlns:a="http://schemas.openxmlformats.org/drawingml/2006/main" w="9525">
            <a:solidFill>
              <a:srgbClr val="E54B4B"/>
            </a:solidFill>
          </a:ln>
        </p:spPr>
      </p:sp>
      <p:sp>
        <p:nvSpPr>
          <p:cNvPr id="19" name="">
            <a:extLst xmlns:a="http://schemas.openxmlformats.org/drawingml/2006/main">
              <a:ext uri="{FF2B5EF4-FFF2-40B4-BE49-F238E27FC236}">
                <a16:creationId xmlns:a16="http://schemas.microsoft.com/office/drawing/2014/main" id="{78BDB5C2-1FC5-4F76-A7C4-654E172B78C4}"/>
              </a:ext>
            </a:extLst>
          </p:cNvPr>
          <p:cNvSpPr>
            <a:spLocks xmlns:a="http://schemas.openxmlformats.org/drawingml/2006/main" noGrp="1"/>
          </p:cNvSpPr>
          <p:nvPr/>
        </p:nvSpPr>
        <p:spPr>
          <a:xfrm xmlns:a="http://schemas.openxmlformats.org/drawingml/2006/main">
            <a:off x="8853488" y="2200275"/>
            <a:ext cx="400050" cy="400050"/>
          </a:xfrm>
          <a:prstGeom xmlns:a="http://schemas.openxmlformats.org/drawingml/2006/main" prst="rect">
            <a:avLst/>
          </a:prstGeom>
          <a:solidFill xmlns:a="http://schemas.openxmlformats.org/drawingml/2006/main">
            <a:srgbClr val="A8F1EF"/>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081A2E"/>
                </a:solidFill>
                <a:latin typeface="DejaVu Sans"/>
                <a:ea typeface="DejaVu Sans"/>
                <a:cs typeface="DejaVu Sans"/>
              </a:defRPr>
            </a:pPr>
            <a:r>
              <a:rPr sz="1650" b="1">
                <a:solidFill>
                  <a:srgbClr val="081A2E"/>
                </a:solidFill>
                <a:latin typeface="DejaVu Sans"/>
                <a:ea typeface="DejaVu Sans"/>
                <a:cs typeface="DejaVu Sans"/>
              </a:rPr>
              <a:t>4</a:t>
            </a:r>
          </a:p>
        </p:txBody>
      </p:sp>
      <p:sp>
        <p:nvSpPr>
          <p:cNvPr id="20" name="">
            <a:extLst xmlns:a="http://schemas.openxmlformats.org/drawingml/2006/main">
              <a:ext uri="{FF2B5EF4-FFF2-40B4-BE49-F238E27FC236}">
                <a16:creationId xmlns:a16="http://schemas.microsoft.com/office/drawing/2014/main" id="{1F39BEC0-50DB-48D4-BE4A-FFFAB7CBCBCF}"/>
              </a:ext>
            </a:extLst>
          </p:cNvPr>
          <p:cNvSpPr>
            <a:spLocks xmlns:a="http://schemas.openxmlformats.org/drawingml/2006/main" noGrp="1"/>
          </p:cNvSpPr>
          <p:nvPr/>
        </p:nvSpPr>
        <p:spPr>
          <a:xfrm xmlns:a="http://schemas.openxmlformats.org/drawingml/2006/main">
            <a:off x="8853488" y="2714625"/>
            <a:ext cx="2195513"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Investigate</a:t>
            </a:r>
          </a:p>
        </p:txBody>
      </p:sp>
      <p:sp>
        <p:nvSpPr>
          <p:cNvPr id="21" name="">
            <a:extLst xmlns:a="http://schemas.openxmlformats.org/drawingml/2006/main">
              <a:ext uri="{FF2B5EF4-FFF2-40B4-BE49-F238E27FC236}">
                <a16:creationId xmlns:a16="http://schemas.microsoft.com/office/drawing/2014/main" id="{1309571E-F874-487B-AA9A-73F6E65D40B1}"/>
              </a:ext>
            </a:extLst>
          </p:cNvPr>
          <p:cNvSpPr>
            <a:spLocks xmlns:a="http://schemas.openxmlformats.org/drawingml/2006/main" noGrp="1"/>
          </p:cNvSpPr>
          <p:nvPr/>
        </p:nvSpPr>
        <p:spPr>
          <a:xfrm xmlns:a="http://schemas.openxmlformats.org/drawingml/2006/main">
            <a:off x="8853488" y="3114675"/>
            <a:ext cx="2195513"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1275" b="0">
                <a:solidFill>
                  <a:srgbClr val="FFFFFF"/>
                </a:solidFill>
                <a:latin typeface="DejaVu Sans"/>
                <a:ea typeface="DejaVu Sans"/>
                <a:cs typeface="DejaVu Sans"/>
              </a:defRPr>
            </a:pPr>
            <a:r>
              <a:rPr sz="1275" b="0">
                <a:solidFill>
                  <a:srgbClr val="FFFFFF"/>
                </a:solidFill>
                <a:latin typeface="DejaVu Sans"/>
                <a:ea typeface="DejaVu Sans"/>
                <a:cs typeface="DejaVu Sans"/>
              </a:rPr>
              <a:t>Check logins, rules and affected recipients</a:t>
            </a:r>
          </a:p>
        </p:txBody>
      </p:sp>
      <p:sp>
        <p:nvSpPr>
          <p:cNvPr id="22" name="">
            <a:extLst xmlns:a="http://schemas.openxmlformats.org/drawingml/2006/main">
              <a:ext uri="{FF2B5EF4-FFF2-40B4-BE49-F238E27FC236}">
                <a16:creationId xmlns:a16="http://schemas.microsoft.com/office/drawing/2014/main" id="{BD81D9AB-8B01-42B0-AB12-3D8AB3FC6511}"/>
              </a:ext>
            </a:extLst>
          </p:cNvPr>
          <p:cNvSpPr>
            <a:spLocks xmlns:a="http://schemas.openxmlformats.org/drawingml/2006/main" noGrp="1"/>
          </p:cNvSpPr>
          <p:nvPr/>
        </p:nvSpPr>
        <p:spPr>
          <a:xfrm xmlns:a="http://schemas.openxmlformats.org/drawingml/2006/main">
            <a:off x="1524000" y="4333875"/>
            <a:ext cx="914400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CE8ED"/>
            </a:solidFill>
          </a:ln>
        </p:spPr>
        <p:txBody>
          <a:bodyPr xmlns:a="http://schemas.openxmlformats.org/drawingml/2006/main" wrap="square" lIns="95250" tIns="76200" rIns="95250" bIns="76200" anchor="t">
            <a:normAutofit fontScale="100000"/>
          </a:bodyPr>
          <a:lstStyle xmlns:a="http://schemas.openxmlformats.org/drawingml/2006/main"/>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Preserve the original email, URL, screenshots and time of entry</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Check mailbox forwarding rules and registered recovery methods</a:t>
            </a:r>
          </a:p>
          <a:p xmlns:a="http://schemas.openxmlformats.org/drawingml/2006/main">
            <a:pPr marL="241300" indent="-114300" algn="l">
              <a:spcAft>
                <a:spcPts val="1100"/>
              </a:spcAft>
              <a:buChar char="•"/>
              <a:defRPr sz="1725" b="0">
                <a:solidFill>
                  <a:srgbClr val="183247"/>
                </a:solidFill>
                <a:latin typeface="DejaVu Sans"/>
                <a:ea typeface="DejaVu Sans"/>
                <a:cs typeface="DejaVu Sans"/>
              </a:defRPr>
            </a:pPr>
            <a:r>
              <a:rPr sz="1725" b="0">
                <a:solidFill>
                  <a:srgbClr val="183247"/>
                </a:solidFill>
                <a:latin typeface="DejaVu Sans"/>
                <a:ea typeface="DejaVu Sans"/>
                <a:cs typeface="DejaVu Sans"/>
              </a:rPr>
              <a:t>Never hide the incident because of embarrassment</a:t>
            </a:r>
          </a:p>
        </p:txBody>
      </p:sp>
    </p:spTree>
    <p:extLst>
      <p:ext uri="{BB962C8B-B14F-4D97-AF65-F5344CB8AC3E}">
        <p14:creationId xmlns:p14="http://schemas.microsoft.com/office/powerpoint/2010/main" val="784590768"/>
      </p:ext>
    </p:extLst>
  </p:cSld>
</p:sld>
</file>

<file path=ppt/slides/slide40.xml><?xml version="1.0" encoding="utf-8"?>
<p:sld xmlns:p="http://schemas.openxmlformats.org/presentationml/2006/main">
  <p:cSld>
    <p:bg>
      <p:bgPr>
        <a:solidFill xmlns:a="http://schemas.openxmlformats.org/drawingml/2006/main">
          <a:srgbClr val="081A2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82D15F2-040E-4082-A761-FE759948DBC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CC8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FF0B07-5A51-4ED7-9A12-2537A1EDEE42}"/>
              </a:ext>
            </a:extLst>
          </p:cNvPr>
          <p:cNvSpPr>
            <a:spLocks xmlns:a="http://schemas.openxmlformats.org/drawingml/2006/main" noGrp="1"/>
          </p:cNvSpPr>
          <p:nvPr/>
        </p:nvSpPr>
        <p:spPr>
          <a:xfrm xmlns:a="http://schemas.openxmlformats.org/drawingml/2006/main">
            <a:off x="495300" y="2286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88889"/>
          </a:bodyPr>
          <a:lstStyle xmlns:a="http://schemas.openxmlformats.org/drawingml/2006/main"/>
          <a:p xmlns:a="http://schemas.openxmlformats.org/drawingml/2006/main">
            <a:pPr algn="l">
              <a:defRPr sz="1125" b="1">
                <a:solidFill>
                  <a:srgbClr val="A8F1EF"/>
                </a:solidFill>
                <a:latin typeface="DejaVu Sans"/>
                <a:ea typeface="DejaVu Sans"/>
                <a:cs typeface="DejaVu Sans"/>
              </a:defRPr>
            </a:pPr>
            <a:r>
              <a:rPr sz="1125" b="1">
                <a:solidFill>
                  <a:srgbClr val="A8F1EF"/>
                </a:solidFill>
                <a:latin typeface="DejaVu Sans"/>
                <a:ea typeface="DejaVu Sans"/>
                <a:cs typeface="DejaVu Sans"/>
              </a:rPr>
              <a:t>ASSESSMENT AND CLOSE</a:t>
            </a:r>
          </a:p>
        </p:txBody>
      </p:sp>
      <p:sp>
        <p:nvSpPr>
          <p:cNvPr id="3" name="">
            <a:extLst xmlns:a="http://schemas.openxmlformats.org/drawingml/2006/main">
              <a:ext uri="{FF2B5EF4-FFF2-40B4-BE49-F238E27FC236}">
                <a16:creationId xmlns:a16="http://schemas.microsoft.com/office/drawing/2014/main" id="{417EF816-57F8-49D2-AE30-8F452313C8F6}"/>
              </a:ext>
            </a:extLst>
          </p:cNvPr>
          <p:cNvSpPr>
            <a:spLocks xmlns:a="http://schemas.openxmlformats.org/drawingml/2006/main" noGrp="1"/>
          </p:cNvSpPr>
          <p:nvPr/>
        </p:nvSpPr>
        <p:spPr>
          <a:xfrm xmlns:a="http://schemas.openxmlformats.org/drawingml/2006/main">
            <a:off x="113347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71429"/>
          </a:bodyPr>
          <a:lstStyle xmlns:a="http://schemas.openxmlformats.org/drawingml/2006/main"/>
          <a:p xmlns:a="http://schemas.openxmlformats.org/drawingml/2006/main">
            <a:pPr algn="r">
              <a:defRPr sz="1050" b="1">
                <a:solidFill>
                  <a:srgbClr val="A8F1EF"/>
                </a:solidFill>
                <a:latin typeface="DejaVu Sans"/>
                <a:ea typeface="DejaVu Sans"/>
                <a:cs typeface="DejaVu Sans"/>
              </a:defRPr>
            </a:pPr>
            <a:r>
              <a:rPr sz="1050" b="1">
                <a:solidFill>
                  <a:srgbClr val="A8F1EF"/>
                </a:solidFill>
                <a:latin typeface="DejaVu Sans"/>
                <a:ea typeface="DejaVu Sans"/>
                <a:cs typeface="DejaVu Sans"/>
              </a:rPr>
              <a:t>40</a:t>
            </a:r>
          </a:p>
        </p:txBody>
      </p:sp>
      <p:sp>
        <p:nvSpPr>
          <p:cNvPr id="4" name="">
            <a:extLst xmlns:a="http://schemas.openxmlformats.org/drawingml/2006/main">
              <a:ext uri="{FF2B5EF4-FFF2-40B4-BE49-F238E27FC236}">
                <a16:creationId xmlns:a16="http://schemas.microsoft.com/office/drawing/2014/main" id="{9E3622E8-F8CE-45D7-80CE-DDDA8F40CBE8}"/>
              </a:ext>
            </a:extLst>
          </p:cNvPr>
          <p:cNvSpPr>
            <a:spLocks xmlns:a="http://schemas.openxmlformats.org/drawingml/2006/main" noGrp="1"/>
          </p:cNvSpPr>
          <p:nvPr/>
        </p:nvSpPr>
        <p:spPr>
          <a:xfrm xmlns:a="http://schemas.openxmlformats.org/drawingml/2006/main">
            <a:off x="495300" y="6572250"/>
            <a:ext cx="10382250" cy="1905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BBFC420-5830-4DF1-BEDB-DC5B8F07C950}"/>
              </a:ext>
            </a:extLst>
          </p:cNvPr>
          <p:cNvSpPr>
            <a:spLocks xmlns:a="http://schemas.openxmlformats.org/drawingml/2006/main" noGrp="1"/>
          </p:cNvSpPr>
          <p:nvPr/>
        </p:nvSpPr>
        <p:spPr>
          <a:xfrm xmlns:a="http://schemas.openxmlformats.org/drawingml/2006/main">
            <a:off x="495300" y="59055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3000" b="1">
                <a:solidFill>
                  <a:srgbClr val="FFFFFF"/>
                </a:solidFill>
                <a:latin typeface="DejaVu Sans"/>
                <a:ea typeface="DejaVu Sans"/>
                <a:cs typeface="DejaVu Sans"/>
              </a:defRPr>
            </a:pPr>
            <a:r>
              <a:rPr sz="3000" b="1">
                <a:solidFill>
                  <a:srgbClr val="FFFFFF"/>
                </a:solidFill>
                <a:latin typeface="DejaVu Sans"/>
                <a:ea typeface="DejaVu Sans"/>
                <a:cs typeface="DejaVu Sans"/>
              </a:rPr>
              <a:t>Final check</a:t>
            </a:r>
          </a:p>
        </p:txBody>
      </p:sp>
      <p:sp>
        <p:nvSpPr>
          <p:cNvPr id="6" name="">
            <a:extLst xmlns:a="http://schemas.openxmlformats.org/drawingml/2006/main">
              <a:ext uri="{FF2B5EF4-FFF2-40B4-BE49-F238E27FC236}">
                <a16:creationId xmlns:a16="http://schemas.microsoft.com/office/drawing/2014/main" id="{6B9F2176-AC34-43C5-9DA3-CA22D25D5686}"/>
              </a:ext>
            </a:extLst>
          </p:cNvPr>
          <p:cNvSpPr>
            <a:spLocks xmlns:a="http://schemas.openxmlformats.org/drawingml/2006/main" noGrp="1"/>
          </p:cNvSpPr>
          <p:nvPr/>
        </p:nvSpPr>
        <p:spPr>
          <a:xfrm xmlns:a="http://schemas.openxmlformats.org/drawingml/2006/main">
            <a:off x="762000" y="1714500"/>
            <a:ext cx="619125" cy="619125"/>
          </a:xfrm>
          <a:prstGeom xmlns:a="http://schemas.openxmlformats.org/drawingml/2006/main" prst="rect">
            <a:avLst/>
          </a:prstGeom>
          <a:solidFill xmlns:a="http://schemas.openxmlformats.org/drawingml/2006/main">
            <a:srgbClr val="1CC8C8"/>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2100" b="1">
                <a:solidFill>
                  <a:srgbClr val="081A2E"/>
                </a:solidFill>
                <a:latin typeface="DejaVu Sans"/>
                <a:ea typeface="DejaVu Sans"/>
                <a:cs typeface="DejaVu Sans"/>
              </a:defRPr>
            </a:pPr>
            <a:r>
              <a:rPr sz="2100" b="1">
                <a:solidFill>
                  <a:srgbClr val="081A2E"/>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73CB4689-8C47-49EE-906F-B3C869857DED}"/>
              </a:ext>
            </a:extLst>
          </p:cNvPr>
          <p:cNvSpPr>
            <a:spLocks xmlns:a="http://schemas.openxmlformats.org/drawingml/2006/main" noGrp="1"/>
          </p:cNvSpPr>
          <p:nvPr/>
        </p:nvSpPr>
        <p:spPr>
          <a:xfrm xmlns:a="http://schemas.openxmlformats.org/drawingml/2006/main">
            <a:off x="1619250" y="1714500"/>
            <a:ext cx="933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Which detail should you expand before trusting the sender?</a:t>
            </a:r>
          </a:p>
        </p:txBody>
      </p:sp>
      <p:sp>
        <p:nvSpPr>
          <p:cNvPr id="8" name="">
            <a:extLst xmlns:a="http://schemas.openxmlformats.org/drawingml/2006/main">
              <a:ext uri="{FF2B5EF4-FFF2-40B4-BE49-F238E27FC236}">
                <a16:creationId xmlns:a16="http://schemas.microsoft.com/office/drawing/2014/main" id="{19EA62C7-8C26-48E4-912E-E8529EA8497E}"/>
              </a:ext>
            </a:extLst>
          </p:cNvPr>
          <p:cNvSpPr>
            <a:spLocks xmlns:a="http://schemas.openxmlformats.org/drawingml/2006/main" noGrp="1"/>
          </p:cNvSpPr>
          <p:nvPr/>
        </p:nvSpPr>
        <p:spPr>
          <a:xfrm xmlns:a="http://schemas.openxmlformats.org/drawingml/2006/main">
            <a:off x="762000" y="2714625"/>
            <a:ext cx="619125" cy="619125"/>
          </a:xfrm>
          <a:prstGeom xmlns:a="http://schemas.openxmlformats.org/drawingml/2006/main" prst="rect">
            <a:avLst/>
          </a:prstGeom>
          <a:solidFill xmlns:a="http://schemas.openxmlformats.org/drawingml/2006/main">
            <a:srgbClr val="1CC8C8"/>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2100" b="1">
                <a:solidFill>
                  <a:srgbClr val="081A2E"/>
                </a:solidFill>
                <a:latin typeface="DejaVu Sans"/>
                <a:ea typeface="DejaVu Sans"/>
                <a:cs typeface="DejaVu Sans"/>
              </a:defRPr>
            </a:pPr>
            <a:r>
              <a:rPr sz="2100" b="1">
                <a:solidFill>
                  <a:srgbClr val="081A2E"/>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A8883F8B-A63C-48D3-9257-D05CA0E82C48}"/>
              </a:ext>
            </a:extLst>
          </p:cNvPr>
          <p:cNvSpPr>
            <a:spLocks xmlns:a="http://schemas.openxmlformats.org/drawingml/2006/main" noGrp="1"/>
          </p:cNvSpPr>
          <p:nvPr/>
        </p:nvSpPr>
        <p:spPr>
          <a:xfrm xmlns:a="http://schemas.openxmlformats.org/drawingml/2006/main">
            <a:off x="1619250" y="2714625"/>
            <a:ext cx="933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Why can an authenticated email still be malicious or unwanted?</a:t>
            </a:r>
          </a:p>
        </p:txBody>
      </p:sp>
      <p:sp>
        <p:nvSpPr>
          <p:cNvPr id="10" name="">
            <a:extLst xmlns:a="http://schemas.openxmlformats.org/drawingml/2006/main">
              <a:ext uri="{FF2B5EF4-FFF2-40B4-BE49-F238E27FC236}">
                <a16:creationId xmlns:a16="http://schemas.microsoft.com/office/drawing/2014/main" id="{E2BF22AA-2AE1-4834-910A-F2C6EC781CB2}"/>
              </a:ext>
            </a:extLst>
          </p:cNvPr>
          <p:cNvSpPr>
            <a:spLocks xmlns:a="http://schemas.openxmlformats.org/drawingml/2006/main" noGrp="1"/>
          </p:cNvSpPr>
          <p:nvPr/>
        </p:nvSpPr>
        <p:spPr>
          <a:xfrm xmlns:a="http://schemas.openxmlformats.org/drawingml/2006/main">
            <a:off x="762000" y="3714750"/>
            <a:ext cx="619125" cy="619125"/>
          </a:xfrm>
          <a:prstGeom xmlns:a="http://schemas.openxmlformats.org/drawingml/2006/main" prst="rect">
            <a:avLst/>
          </a:prstGeom>
          <a:solidFill xmlns:a="http://schemas.openxmlformats.org/drawingml/2006/main">
            <a:srgbClr val="1CC8C8"/>
          </a:solidFill>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2100" b="1">
                <a:solidFill>
                  <a:srgbClr val="081A2E"/>
                </a:solidFill>
                <a:latin typeface="DejaVu Sans"/>
                <a:ea typeface="DejaVu Sans"/>
                <a:cs typeface="DejaVu Sans"/>
              </a:defRPr>
            </a:pPr>
            <a:r>
              <a:rPr sz="2100" b="1">
                <a:solidFill>
                  <a:srgbClr val="081A2E"/>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C87A2B7B-2BA6-4D33-9507-EF165D458096}"/>
              </a:ext>
            </a:extLst>
          </p:cNvPr>
          <p:cNvSpPr>
            <a:spLocks xmlns:a="http://schemas.openxmlformats.org/drawingml/2006/main" noGrp="1"/>
          </p:cNvSpPr>
          <p:nvPr/>
        </p:nvSpPr>
        <p:spPr>
          <a:xfrm xmlns:a="http://schemas.openxmlformats.org/drawingml/2006/main">
            <a:off x="1619250" y="3714750"/>
            <a:ext cx="933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l">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What should happen after an unexpected MFA request?</a:t>
            </a:r>
          </a:p>
        </p:txBody>
      </p:sp>
      <p:sp>
        <p:nvSpPr>
          <p:cNvPr id="12" name="">
            <a:extLst xmlns:a="http://schemas.openxmlformats.org/drawingml/2006/main">
              <a:ext uri="{FF2B5EF4-FFF2-40B4-BE49-F238E27FC236}">
                <a16:creationId xmlns:a16="http://schemas.microsoft.com/office/drawing/2014/main" id="{7B33919F-5383-48A2-AB9C-13FD764BB0CE}"/>
              </a:ext>
            </a:extLst>
          </p:cNvPr>
          <p:cNvSpPr>
            <a:spLocks xmlns:a="http://schemas.openxmlformats.org/drawingml/2006/main" noGrp="1"/>
          </p:cNvSpPr>
          <p:nvPr/>
        </p:nvSpPr>
        <p:spPr>
          <a:xfrm xmlns:a="http://schemas.openxmlformats.org/drawingml/2006/main">
            <a:off x="1238250" y="5143500"/>
            <a:ext cx="9715500" cy="809625"/>
          </a:xfrm>
          <a:prstGeom xmlns:a="http://schemas.openxmlformats.org/drawingml/2006/main" prst="rect">
            <a:avLst/>
          </a:prstGeom>
          <a:solidFill xmlns:a="http://schemas.openxmlformats.org/drawingml/2006/main">
            <a:srgbClr val="FF8A3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3C7482A-590A-4901-99F3-D0D06A05FB41}"/>
              </a:ext>
            </a:extLst>
          </p:cNvPr>
          <p:cNvSpPr>
            <a:spLocks xmlns:a="http://schemas.openxmlformats.org/drawingml/2006/main" noGrp="1"/>
          </p:cNvSpPr>
          <p:nvPr/>
        </p:nvSpPr>
        <p:spPr>
          <a:xfrm xmlns:a="http://schemas.openxmlformats.org/drawingml/2006/main">
            <a:off x="1409700" y="5238750"/>
            <a:ext cx="9372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57150" rIns="57150" bIns="57150" anchor="ctr">
            <a:normAutofit fontScale="100000"/>
          </a:bodyPr>
          <a:lstStyle xmlns:a="http://schemas.openxmlformats.org/drawingml/2006/main"/>
          <a:p xmlns:a="http://schemas.openxmlformats.org/drawingml/2006/main">
            <a:pPr algn="ctr">
              <a:defRPr sz="2100" b="1">
                <a:solidFill>
                  <a:srgbClr val="081A2E"/>
                </a:solidFill>
                <a:latin typeface="DejaVu Sans"/>
                <a:ea typeface="DejaVu Sans"/>
                <a:cs typeface="DejaVu Sans"/>
              </a:defRPr>
            </a:pPr>
            <a:r>
              <a:rPr sz="2100" b="1">
                <a:solidFill>
                  <a:srgbClr val="081A2E"/>
                </a:solidFill>
                <a:latin typeface="DejaVu Sans"/>
                <a:ea typeface="DejaVu Sans"/>
                <a:cs typeface="DejaVu Sans"/>
              </a:rPr>
              <a:t>PAUSE     VERIFY INDEPENDENTLY     REPORT EARLY</a:t>
            </a:r>
          </a:p>
        </p:txBody>
      </p:sp>
    </p:spTree>
    <p:extLst>
      <p:ext uri="{BB962C8B-B14F-4D97-AF65-F5344CB8AC3E}">
        <p14:creationId xmlns:p14="http://schemas.microsoft.com/office/powerpoint/2010/main" val="9445195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2026-09-21T12:04:41.5670000Z</dcterms:created>
  <dcterms:modified xsi:type="dcterms:W3CDTF">2026-09-21T12:04:41.5670000Z</dcterms:modified>
</coreProperties>
</file>